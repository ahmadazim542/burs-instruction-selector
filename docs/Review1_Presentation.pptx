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969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1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1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123444"/>
            <a:ext cx="12191695" cy="6355080"/>
          </a:xfrm>
          <a:prstGeom prst="rect">
            <a:avLst/>
          </a:prstGeom>
          <a:solidFill>
            <a:srgbClr val="F7FA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43800" y="1920240"/>
            <a:ext cx="1874520" cy="0"/>
          </a:xfrm>
          <a:prstGeom prst="line">
            <a:avLst/>
          </a:prstGeom>
          <a:noFill/>
          <a:ln w="15240">
            <a:solidFill>
              <a:srgbClr val="18A7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43800" y="1920240"/>
            <a:ext cx="1874520" cy="68580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0" y="2971800"/>
            <a:ext cx="6858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0" y="2971800"/>
            <a:ext cx="685800" cy="105156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2606040"/>
            <a:ext cx="1188720" cy="749808"/>
          </a:xfrm>
          <a:prstGeom prst="roundRect">
            <a:avLst>
              <a:gd name="adj" fmla="val 73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36792" y="2752344"/>
            <a:ext cx="10424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442"/>
                </a:solidFill>
              </a:rPr>
              <a:t>IR Tree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86600" y="1572768"/>
            <a:ext cx="1325880" cy="786384"/>
          </a:xfrm>
          <a:prstGeom prst="roundRect">
            <a:avLst>
              <a:gd name="adj" fmla="val 6977"/>
            </a:avLst>
          </a:prstGeom>
          <a:solidFill>
            <a:srgbClr val="E9FBFA"/>
          </a:solidFill>
          <a:ln w="12700">
            <a:solidFill>
              <a:srgbClr val="18A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59752" y="1719072"/>
            <a:ext cx="11795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E2442"/>
                </a:solidFill>
              </a:rPr>
              <a:t>BURS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E2442"/>
                </a:solidFill>
              </a:rPr>
              <a:t>Matcher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372600" y="896112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2FAFF"/>
          </a:solidFill>
          <a:ln w="12700">
            <a:solidFill>
              <a:srgbClr val="18A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45752" y="1042416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Target A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Rules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10469880" y="896112"/>
            <a:ext cx="10972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18A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43032" y="1042416"/>
            <a:ext cx="950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ISA-A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Code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9372600" y="2267712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3D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45752" y="2414016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Target B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Rules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10469880" y="2267712"/>
            <a:ext cx="10972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43032" y="2414016"/>
            <a:ext cx="950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ISA-B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Code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7086600" y="3675888"/>
            <a:ext cx="132588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59752" y="3822192"/>
            <a:ext cx="1179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Cost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Cover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40080" y="10241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E2442"/>
                </a:solidFill>
              </a:rPr>
              <a:t>Tree-Pattern-Matching Based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E2442"/>
                </a:solidFill>
              </a:rPr>
              <a:t>Instruction Selection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8368" y="22402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Bottom-Up Rewrite System (BURS) with Two-ISA Retargeting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93192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393192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0392" y="4041648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90" b="1" dirty="0">
                <a:solidFill>
                  <a:srgbClr val="64748B"/>
                </a:solidFill>
              </a:rPr>
              <a:t>PROJECT</a:t>
            </a:r>
            <a:endParaRPr lang="en-US" sz="590" dirty="0"/>
          </a:p>
        </p:txBody>
      </p:sp>
      <p:sp>
        <p:nvSpPr>
          <p:cNvPr id="31" name="Text 29"/>
          <p:cNvSpPr/>
          <p:nvPr/>
        </p:nvSpPr>
        <p:spPr>
          <a:xfrm>
            <a:off x="850392" y="4224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E2442"/>
                </a:solidFill>
              </a:rPr>
              <a:t>Compiler Design / Instruction Selection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3154680" y="393192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54680" y="3931920"/>
            <a:ext cx="64008" cy="658368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19272" y="4041648"/>
            <a:ext cx="960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90" b="1" dirty="0">
                <a:solidFill>
                  <a:srgbClr val="64748B"/>
                </a:solidFill>
              </a:rPr>
              <a:t>PROJECT ID</a:t>
            </a:r>
            <a:endParaRPr lang="en-US" sz="590" dirty="0"/>
          </a:p>
        </p:txBody>
      </p:sp>
      <p:sp>
        <p:nvSpPr>
          <p:cNvPr id="35" name="Text 33"/>
          <p:cNvSpPr/>
          <p:nvPr/>
        </p:nvSpPr>
        <p:spPr>
          <a:xfrm>
            <a:off x="3319272" y="422452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E2442"/>
                </a:solidFill>
              </a:rPr>
              <a:t>A24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572000" y="3931920"/>
            <a:ext cx="1051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393192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36592" y="4041648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90" b="1" dirty="0">
                <a:solidFill>
                  <a:srgbClr val="64748B"/>
                </a:solidFill>
              </a:rPr>
              <a:t>TEAM NO.</a:t>
            </a:r>
            <a:endParaRPr lang="en-US" sz="590" dirty="0"/>
          </a:p>
        </p:txBody>
      </p:sp>
      <p:sp>
        <p:nvSpPr>
          <p:cNvPr id="39" name="Text 37"/>
          <p:cNvSpPr/>
          <p:nvPr/>
        </p:nvSpPr>
        <p:spPr>
          <a:xfrm>
            <a:off x="4736592" y="4224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E2442"/>
                </a:solidFill>
              </a:rPr>
              <a:t>8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5806440" y="393192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06440" y="3931920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71032" y="4041648"/>
            <a:ext cx="9601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90" b="1" dirty="0">
                <a:solidFill>
                  <a:srgbClr val="64748B"/>
                </a:solidFill>
              </a:rPr>
              <a:t>REVIEW</a:t>
            </a:r>
            <a:endParaRPr lang="en-US" sz="590" dirty="0"/>
          </a:p>
        </p:txBody>
      </p:sp>
      <p:sp>
        <p:nvSpPr>
          <p:cNvPr id="43" name="Text 41"/>
          <p:cNvSpPr/>
          <p:nvPr/>
        </p:nvSpPr>
        <p:spPr>
          <a:xfrm>
            <a:off x="5971032" y="422452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E2442"/>
                </a:solidFill>
              </a:rPr>
              <a:t>Review 1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94944" y="49834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0E2442"/>
                </a:solidFill>
              </a:rPr>
              <a:t>Vineet Kumar Mishra  •  Mayank Verma  •  Utsav Keshrwani  </a:t>
            </a:r>
            <a:r>
              <a:rPr lang="en-US" sz="1030">
                <a:solidFill>
                  <a:srgbClr val="0E2442"/>
                </a:solidFill>
              </a:rPr>
              <a:t>•  Ahmad </a:t>
            </a:r>
            <a:r>
              <a:rPr lang="en-US" sz="1030" dirty="0">
                <a:solidFill>
                  <a:srgbClr val="0E2442"/>
                </a:solidFill>
              </a:rPr>
              <a:t>Azim</a:t>
            </a:r>
            <a:endParaRPr lang="en-US" sz="10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2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CONTEXT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Problem Background, Motivation &amp; Practical Relevance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3504" y="1216152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442"/>
                </a:solidFill>
              </a:rPr>
              <a:t>Instruction selection maps compiler IR to target-machine instructions. BURS makes that mapping systematic, cost-aware and retargetable.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07568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14426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1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078992" y="20574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442"/>
                </a:solidFill>
              </a:rPr>
              <a:t>IR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0756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11827"/>
                </a:solidFill>
              </a:rPr>
              <a:t>Intermediate representation exposes expression-tree structure.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85800" y="2734056"/>
            <a:ext cx="310896" cy="310896"/>
          </a:xfrm>
          <a:prstGeom prst="ellipse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8026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2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078992" y="2715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442"/>
                </a:solidFill>
              </a:rPr>
              <a:t>Target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57400" y="273405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11827"/>
                </a:solidFill>
              </a:rPr>
              <a:t>Processors differ in instruction patterns, addressing modes and costs.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85800" y="339242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4610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3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078992" y="33741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442"/>
                </a:solidFill>
              </a:rPr>
              <a:t>Problem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57400" y="33924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11827"/>
                </a:solidFill>
              </a:rPr>
              <a:t>Hand-written selection logic is hard to maintain across ISAs.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85800" y="4050792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411937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4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078992" y="40325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442"/>
                </a:solidFill>
              </a:rPr>
              <a:t>BURS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57400" y="40507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11827"/>
                </a:solidFill>
              </a:rPr>
              <a:t>Bottom-up tree matching chooses efficient rewrites by cost.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040880" y="1152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442"/>
                </a:solidFill>
              </a:rPr>
              <a:t>Expression tree → instruction cover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32520" y="2011680"/>
            <a:ext cx="0" cy="822960"/>
          </a:xfrm>
          <a:prstGeom prst="line">
            <a:avLst/>
          </a:prstGeom>
          <a:noFill/>
          <a:ln w="1143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32520" y="2011680"/>
            <a:ext cx="777240" cy="822960"/>
          </a:xfrm>
          <a:prstGeom prst="line">
            <a:avLst/>
          </a:prstGeom>
          <a:noFill/>
          <a:ln w="1143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0" y="3200400"/>
            <a:ext cx="0" cy="777240"/>
          </a:xfrm>
          <a:prstGeom prst="line">
            <a:avLst/>
          </a:prstGeom>
          <a:noFill/>
          <a:ln w="1143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09760" y="3200400"/>
            <a:ext cx="502920" cy="777240"/>
          </a:xfrm>
          <a:prstGeom prst="line">
            <a:avLst/>
          </a:prstGeom>
          <a:noFill/>
          <a:ln w="1143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66760" y="1600200"/>
            <a:ext cx="731520" cy="50292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66760" y="175564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ADD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635240" y="2834640"/>
            <a:ext cx="7315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35240" y="299008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2442"/>
                </a:solidFill>
              </a:rPr>
              <a:t>a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9189720" y="2834640"/>
            <a:ext cx="731520" cy="502920"/>
          </a:xfrm>
          <a:prstGeom prst="ellipse">
            <a:avLst/>
          </a:prstGeom>
          <a:solidFill>
            <a:srgbClr val="18A7A7"/>
          </a:solidFill>
          <a:ln w="15240">
            <a:solidFill>
              <a:srgbClr val="18A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89720" y="299008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MUL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686800" y="3977640"/>
            <a:ext cx="7315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686800" y="413308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2442"/>
                </a:solidFill>
              </a:rPr>
              <a:t>b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692640" y="3977640"/>
            <a:ext cx="7315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692640" y="413308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2442"/>
                </a:solidFill>
              </a:rPr>
              <a:t>c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903720" y="4754880"/>
            <a:ext cx="4297680" cy="713232"/>
          </a:xfrm>
          <a:prstGeom prst="roundRect">
            <a:avLst>
              <a:gd name="adj" fmla="val 8974"/>
            </a:avLst>
          </a:prstGeom>
          <a:solidFill>
            <a:srgbClr val="F0F9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068312" y="49011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E2442"/>
                </a:solidFill>
              </a:rPr>
              <a:t>Practical relevance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14032" y="519379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11827"/>
                </a:solidFill>
              </a:rPr>
              <a:t>Same compiler front-end / IR can target multiple ISAs by changing the rule set.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3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PROJECT DEFINITION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Problem Statement, Scope, Limitations &amp; Objectives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" y="1234440"/>
            <a:ext cx="5212080" cy="1024128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138074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6276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E2442"/>
                </a:solidFill>
              </a:rPr>
              <a:t>Design and implement a BURS-style tree-pattern instruction selector that accepts an expression tree and emits target instructions for two simplified ISAs.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172200" y="1234440"/>
            <a:ext cx="530352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36792" y="1380744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A7A7"/>
                </a:solidFill>
              </a:rPr>
              <a:t>Scope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82512" y="164592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Expression-tree IR • bottom-up matching • rule costs • DP-style labeling • two target ISAs • emission • test cases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27632" y="3154680"/>
            <a:ext cx="59436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7280" y="286207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29306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1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13232" y="3337560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6384" y="348386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Build tree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representation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3310128" y="3154680"/>
            <a:ext cx="59436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79776" y="2862072"/>
            <a:ext cx="310896" cy="310896"/>
          </a:xfrm>
          <a:prstGeom prst="ellipse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79776" y="29306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2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395728" y="3337560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18A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68880" y="348386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Define patterns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&amp; costs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992624" y="3154680"/>
            <a:ext cx="59436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62272" y="286207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62272" y="29306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3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078224" y="3337560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51376" y="348386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Compute low-cost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covers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6675120" y="3154680"/>
            <a:ext cx="59436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44768" y="2862072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44768" y="29306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4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760720" y="3337560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33872" y="348386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Emit target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code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7827264" y="2862072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827264" y="29306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5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443216" y="3337560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16368" y="348386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Retarget with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E2442"/>
                </a:solidFill>
              </a:rPr>
              <a:t>rule sets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9281160" y="2816352"/>
            <a:ext cx="2176272" cy="1408176"/>
          </a:xfrm>
          <a:prstGeom prst="roundRect">
            <a:avLst>
              <a:gd name="adj" fmla="val 4545"/>
            </a:avLst>
          </a:prstGeom>
          <a:solidFill>
            <a:srgbClr val="FFF7ED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445752" y="296265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482328" y="3246120"/>
            <a:ext cx="176479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Expression trees only</a:t>
            </a:r>
            <a:endParaRPr lang="en-US" sz="770" dirty="0"/>
          </a:p>
          <a:p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educational ISAs</a:t>
            </a:r>
            <a:endParaRPr lang="en-US" sz="770" dirty="0"/>
          </a:p>
          <a:p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full register allocation</a:t>
            </a:r>
            <a:endParaRPr lang="en-US" sz="770" dirty="0"/>
          </a:p>
          <a:p>
            <a:r>
              <a:rPr lang="en-US" sz="7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test-case correctness</a:t>
            </a:r>
            <a:endParaRPr lang="en-US" sz="7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4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FOUNDATIONS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Relevant Compiler Concepts &amp; Background Study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" y="1225296"/>
            <a:ext cx="2487168" cy="1143000"/>
          </a:xfrm>
          <a:prstGeom prst="roundRect">
            <a:avLst>
              <a:gd name="adj" fmla="val 5600"/>
            </a:avLst>
          </a:prstGeom>
          <a:solidFill>
            <a:srgbClr val="F0F9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137160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IR / Expression Tree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1609344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</a:rPr>
              <a:t>Operators form internal nodes; operands and constants become leaves.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438144" y="1225296"/>
            <a:ext cx="2487168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02736" y="137160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A7A7"/>
                </a:solidFill>
              </a:rPr>
              <a:t>Tree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21024" y="1609344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</a:rPr>
              <a:t>Instruction-compatible subtree shape with child states.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254496" y="1225296"/>
            <a:ext cx="2487168" cy="1143000"/>
          </a:xfrm>
          <a:prstGeom prst="roundRect">
            <a:avLst>
              <a:gd name="adj" fmla="val 5600"/>
            </a:avLst>
          </a:prstGeom>
          <a:solidFill>
            <a:srgbClr val="F0F9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137160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BURS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37376" y="1609344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</a:rPr>
              <a:t>Labels nodes bottom-up and selects a minimum-cost cover.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070848" y="1225296"/>
            <a:ext cx="2487168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35440" y="137160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Retargeting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53728" y="1609344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</a:rPr>
              <a:t>Matcher stays common; target rule definitions and emitters change.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1828800" y="3749040"/>
            <a:ext cx="59436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70432" y="347472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70432" y="35433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1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508760" y="34564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2442"/>
                </a:solidFill>
              </a:rPr>
              <a:t>Postorder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08760" y="37581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Children first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77640" y="3749040"/>
            <a:ext cx="59436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19272" y="3474720"/>
            <a:ext cx="310896" cy="310896"/>
          </a:xfrm>
          <a:prstGeom prst="ellipse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9272" y="35433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2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657600" y="34564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2442"/>
                </a:solidFill>
              </a:rPr>
              <a:t>Label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0" y="37581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Store state costs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3749040"/>
            <a:ext cx="59436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68112" y="347472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68112" y="35433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3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5806440" y="34564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2442"/>
                </a:solidFill>
              </a:rPr>
              <a:t>Derive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06440" y="37581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Apply rule costs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75320" y="3749040"/>
            <a:ext cx="59436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616952" y="347472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16952" y="35433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4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7955280" y="34564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2442"/>
                </a:solidFill>
              </a:rPr>
              <a:t>Backtrack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55280" y="37581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Recover best cover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765792" y="3474720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765792" y="35433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5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10104120" y="34564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2442"/>
                </a:solidFill>
              </a:rPr>
              <a:t>Emit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104120" y="37581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Generate instructions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5800" y="4892040"/>
            <a:ext cx="10789920" cy="621792"/>
          </a:xfrm>
          <a:prstGeom prst="roundRect">
            <a:avLst>
              <a:gd name="adj" fmla="val 10294"/>
            </a:avLst>
          </a:prstGeom>
          <a:solidFill>
            <a:srgbClr val="EDFDFD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50392" y="50383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A7A7"/>
                </a:solidFill>
              </a:rPr>
              <a:t>Key idea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874520" y="512064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E2442"/>
                </a:solidFill>
              </a:rPr>
              <a:t>Each node receives best costs for relevant nonterminal states; selected rules are walked again to emit instructions.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5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COMPARISON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Existing Approaches, Comparison &amp; Identified Gap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2240280" cy="694944"/>
          </a:xfrm>
          <a:prstGeom prst="rect">
            <a:avLst/>
          </a:prstGeom>
          <a:solidFill>
            <a:srgbClr val="0E2442"/>
          </a:solidFill>
          <a:ln w="6350">
            <a:solidFill>
              <a:srgbClr val="D6DFE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2376" y="1316736"/>
            <a:ext cx="21122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</a:rPr>
              <a:t>Approach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2898648" y="1234440"/>
            <a:ext cx="2788920" cy="694944"/>
          </a:xfrm>
          <a:prstGeom prst="rect">
            <a:avLst/>
          </a:prstGeom>
          <a:solidFill>
            <a:srgbClr val="0E2442"/>
          </a:solidFill>
          <a:ln w="6350">
            <a:solidFill>
              <a:srgbClr val="D6DFE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62656" y="1316736"/>
            <a:ext cx="2660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</a:rPr>
              <a:t>Strength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5687568" y="1234440"/>
            <a:ext cx="2834640" cy="694944"/>
          </a:xfrm>
          <a:prstGeom prst="rect">
            <a:avLst/>
          </a:prstGeom>
          <a:solidFill>
            <a:srgbClr val="0E2442"/>
          </a:solidFill>
          <a:ln w="6350">
            <a:solidFill>
              <a:srgbClr val="D6DFE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51576" y="1316736"/>
            <a:ext cx="2706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</a:rPr>
              <a:t>Limitation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522208" y="1234440"/>
            <a:ext cx="3017520" cy="694944"/>
          </a:xfrm>
          <a:prstGeom prst="rect">
            <a:avLst/>
          </a:prstGeom>
          <a:solidFill>
            <a:srgbClr val="0E2442"/>
          </a:solidFill>
          <a:ln w="6350">
            <a:solidFill>
              <a:srgbClr val="D6DFE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86216" y="1316736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</a:rPr>
              <a:t>Why BURS?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58368" y="1929384"/>
            <a:ext cx="22402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76" y="2011680"/>
            <a:ext cx="21122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Tree-pattern matching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2898648" y="1929384"/>
            <a:ext cx="2788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62656" y="2011680"/>
            <a:ext cx="2660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Direct IR-shape mapping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5687568" y="1929384"/>
            <a:ext cx="28346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51576" y="2011680"/>
            <a:ext cx="2706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Requires cost handling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8522208" y="1929384"/>
            <a:ext cx="3017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86216" y="2011680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Structured matching + selection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658368" y="2624328"/>
            <a:ext cx="2240280" cy="694944"/>
          </a:xfrm>
          <a:prstGeom prst="rect">
            <a:avLst/>
          </a:prstGeom>
          <a:solidFill>
            <a:srgbClr val="F0F6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2376" y="2706624"/>
            <a:ext cx="21122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Greedy selection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2898648" y="2624328"/>
            <a:ext cx="2788920" cy="694944"/>
          </a:xfrm>
          <a:prstGeom prst="rect">
            <a:avLst/>
          </a:prstGeom>
          <a:solidFill>
            <a:srgbClr val="F0F6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62656" y="2706624"/>
            <a:ext cx="2660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Simple and fast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5687568" y="2624328"/>
            <a:ext cx="2834640" cy="694944"/>
          </a:xfrm>
          <a:prstGeom prst="rect">
            <a:avLst/>
          </a:prstGeom>
          <a:solidFill>
            <a:srgbClr val="F0F6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51576" y="2706624"/>
            <a:ext cx="2706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Can miss global optimum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8522208" y="2624328"/>
            <a:ext cx="3017520" cy="694944"/>
          </a:xfrm>
          <a:prstGeom prst="rect">
            <a:avLst/>
          </a:prstGeom>
          <a:solidFill>
            <a:srgbClr val="F0F6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86216" y="2706624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Evaluates alternatives by cost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658368" y="3319272"/>
            <a:ext cx="22402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2376" y="3401568"/>
            <a:ext cx="21122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Table-driven selection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2898648" y="3319272"/>
            <a:ext cx="2788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62656" y="3401568"/>
            <a:ext cx="2660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Fast after generation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5687568" y="3319272"/>
            <a:ext cx="28346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751576" y="3401568"/>
            <a:ext cx="2706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Construction complexity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8522208" y="3319272"/>
            <a:ext cx="30175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86216" y="3401568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Rules represented systematically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658368" y="4014216"/>
            <a:ext cx="2240280" cy="694944"/>
          </a:xfrm>
          <a:prstGeom prst="rect">
            <a:avLst/>
          </a:prstGeom>
          <a:solidFill>
            <a:srgbClr val="F0F6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2376" y="4096512"/>
            <a:ext cx="21122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Ad-hoc target code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2898648" y="4014216"/>
            <a:ext cx="2788920" cy="694944"/>
          </a:xfrm>
          <a:prstGeom prst="rect">
            <a:avLst/>
          </a:prstGeom>
          <a:solidFill>
            <a:srgbClr val="F0F6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962656" y="4096512"/>
            <a:ext cx="2660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Easy for one target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5687568" y="4014216"/>
            <a:ext cx="2834640" cy="694944"/>
          </a:xfrm>
          <a:prstGeom prst="rect">
            <a:avLst/>
          </a:prstGeom>
          <a:solidFill>
            <a:srgbClr val="F0F6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51576" y="4096512"/>
            <a:ext cx="2706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Poor retargetability</a:t>
            </a:r>
            <a:endParaRPr lang="en-US" sz="710" dirty="0"/>
          </a:p>
        </p:txBody>
      </p:sp>
      <p:sp>
        <p:nvSpPr>
          <p:cNvPr id="47" name="Shape 45"/>
          <p:cNvSpPr/>
          <p:nvPr/>
        </p:nvSpPr>
        <p:spPr>
          <a:xfrm>
            <a:off x="8522208" y="4014216"/>
            <a:ext cx="3017520" cy="694944"/>
          </a:xfrm>
          <a:prstGeom prst="rect">
            <a:avLst/>
          </a:prstGeom>
          <a:solidFill>
            <a:srgbClr val="F0F6FF"/>
          </a:solidFill>
          <a:ln w="6350">
            <a:solidFill>
              <a:srgbClr val="D6DF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86216" y="4096512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11827"/>
                </a:solidFill>
              </a:rPr>
              <a:t>Machine dependence isolated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658368" y="5074920"/>
            <a:ext cx="10881360" cy="713232"/>
          </a:xfrm>
          <a:prstGeom prst="roundRect">
            <a:avLst>
              <a:gd name="adj" fmla="val 8974"/>
            </a:avLst>
          </a:prstGeom>
          <a:solidFill>
            <a:srgbClr val="FFF7ED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22960" y="5221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Identified Gap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240280" y="53492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E2442"/>
                </a:solidFill>
              </a:rPr>
              <a:t>A compact demonstrable implementation that uses one BURS framework to retarget the same IR to two instruction sets.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REQUIREMENTS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Software, Hardware, Grammar &amp; Test-Input Requirements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3429000" cy="1920240"/>
          </a:xfrm>
          <a:prstGeom prst="roundRect">
            <a:avLst>
              <a:gd name="adj" fmla="val 3333"/>
            </a:avLst>
          </a:prstGeom>
          <a:solidFill>
            <a:srgbClr val="F0F9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38074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Software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1682496"/>
            <a:ext cx="288036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/ C++ implementation</a:t>
            </a:r>
            <a:endParaRPr lang="en-US" sz="830" dirty="0"/>
          </a:p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version control</a:t>
            </a:r>
            <a:endParaRPr lang="en-US" sz="830" dirty="0"/>
          </a:p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 / IntelliJ / Eclipse</a:t>
            </a:r>
            <a:endParaRPr lang="en-US" sz="830" dirty="0"/>
          </a:p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/ draw.io diagrams</a:t>
            </a:r>
            <a:endParaRPr lang="en-US" sz="830" dirty="0"/>
          </a:p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Console-based test harness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4407408" y="1234440"/>
            <a:ext cx="3429000" cy="192024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38074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A7A7"/>
                </a:solidFill>
              </a:rPr>
              <a:t>Hardware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6008" y="1682496"/>
            <a:ext cx="288036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laptop/desktop</a:t>
            </a:r>
            <a:endParaRPr lang="en-US" sz="830" dirty="0"/>
          </a:p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4+ GB RAM recommended</a:t>
            </a:r>
            <a:endParaRPr lang="en-US" sz="830" dirty="0"/>
          </a:p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specialized accelerator required</a:t>
            </a:r>
            <a:endParaRPr lang="en-US" sz="830" dirty="0"/>
          </a:p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modern CPU suitable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156448" y="1234440"/>
            <a:ext cx="3429000" cy="1920240"/>
          </a:xfrm>
          <a:prstGeom prst="roundRect">
            <a:avLst>
              <a:gd name="adj" fmla="val 3333"/>
            </a:avLst>
          </a:prstGeom>
          <a:solidFill>
            <a:srgbClr val="FFF7ED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21040" y="138074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Rule / Grammar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85048" y="1682496"/>
            <a:ext cx="288036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types: CONST, VAR, ADD, SUB, MUL, LOAD</a:t>
            </a:r>
            <a:endParaRPr lang="en-US" sz="830" dirty="0"/>
          </a:p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map patterns → templates + costs</a:t>
            </a:r>
            <a:endParaRPr lang="en-US" sz="830" dirty="0"/>
          </a:p>
          <a:p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descriptions remain separate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58368" y="370332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3849624"/>
            <a:ext cx="10552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Example Test Inputs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096512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+ b * c     |     (a + b) * c     |     a + b + c     |     a * (b + c)     |     constants and variables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4983480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1297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Evidence to prepare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40280" y="5230368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Repository • build/run screenshot • sample rule file • sample input • expected output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7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WORKFLOW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Proposed Methodology &amp; Complete Workflow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508760" y="2514600"/>
            <a:ext cx="484632" cy="0"/>
          </a:xfrm>
          <a:prstGeom prst="line">
            <a:avLst/>
          </a:prstGeom>
          <a:noFill/>
          <a:ln w="1524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2514600"/>
            <a:ext cx="484632" cy="0"/>
          </a:xfrm>
          <a:prstGeom prst="line">
            <a:avLst/>
          </a:prstGeom>
          <a:noFill/>
          <a:ln w="1524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57800" y="2514600"/>
            <a:ext cx="484632" cy="0"/>
          </a:xfrm>
          <a:prstGeom prst="line">
            <a:avLst/>
          </a:prstGeom>
          <a:noFill/>
          <a:ln w="1524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32320" y="2514600"/>
            <a:ext cx="484632" cy="0"/>
          </a:xfrm>
          <a:prstGeom prst="line">
            <a:avLst/>
          </a:prstGeom>
          <a:noFill/>
          <a:ln w="1524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006840" y="2514600"/>
            <a:ext cx="484632" cy="0"/>
          </a:xfrm>
          <a:prstGeom prst="line">
            <a:avLst/>
          </a:prstGeom>
          <a:noFill/>
          <a:ln w="1524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42416" y="16276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42416" y="16962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1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30352" y="2057400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" y="2203704"/>
            <a:ext cx="1152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Parse / Build IR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916936" y="1627632"/>
            <a:ext cx="310896" cy="310896"/>
          </a:xfrm>
          <a:prstGeom prst="ellipse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16936" y="16962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2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404872" y="2057400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18A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78024" y="2203704"/>
            <a:ext cx="1152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Construct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Expression Tree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791456" y="162763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91456" y="16962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3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279392" y="2057400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52544" y="2203704"/>
            <a:ext cx="1152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Bottom-Up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Labeling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665976" y="1627632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65976" y="16962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4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153912" y="2057400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27064" y="2203704"/>
            <a:ext cx="1152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Apply BURS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Cost Rules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540496" y="1627632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40496" y="16962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5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8028432" y="2057400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01584" y="2203704"/>
            <a:ext cx="1152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Choose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Best Cover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0415016" y="16276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415016" y="16962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6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9902952" y="2057400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976104" y="2203704"/>
            <a:ext cx="1152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Emit Target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0E2442"/>
                </a:solidFill>
              </a:rPr>
              <a:t>Instructions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1234440" y="3858768"/>
            <a:ext cx="4389120" cy="1024128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99032" y="400507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A7A7"/>
                </a:solidFill>
              </a:rPr>
              <a:t>Target 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08760" y="43159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</a:rPr>
              <a:t>Use Target-A rule patterns, costs and emitter to generate ISA-A instructions.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537960" y="3858768"/>
            <a:ext cx="4389120" cy="1024128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02552" y="400507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Target 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12280" y="4315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</a:rPr>
              <a:t>Reuse the same IR and BURS engine with Target-B rules and emitter.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5669280" y="2862072"/>
            <a:ext cx="0" cy="996696"/>
          </a:xfrm>
          <a:prstGeom prst="line">
            <a:avLst/>
          </a:prstGeom>
          <a:noFill/>
          <a:ln w="12700">
            <a:solidFill>
              <a:srgbClr val="18A7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669280" y="2862072"/>
            <a:ext cx="3063240" cy="996696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8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ARCHITECTURE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System Architecture / Data-Flow Diagram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691640" y="2103120"/>
            <a:ext cx="64008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2103120"/>
            <a:ext cx="64008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2103120"/>
            <a:ext cx="777240" cy="0"/>
          </a:xfrm>
          <a:prstGeom prst="line">
            <a:avLst/>
          </a:prstGeom>
          <a:noFill/>
          <a:ln w="13970">
            <a:solidFill>
              <a:srgbClr val="18A7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83480" y="2103120"/>
            <a:ext cx="777240" cy="47548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79792" y="1417320"/>
            <a:ext cx="749808" cy="0"/>
          </a:xfrm>
          <a:prstGeom prst="line">
            <a:avLst/>
          </a:prstGeom>
          <a:noFill/>
          <a:ln w="13970">
            <a:solidFill>
              <a:srgbClr val="18A7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79792" y="2651760"/>
            <a:ext cx="749808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1783080"/>
            <a:ext cx="1143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1929384"/>
            <a:ext cx="996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2442"/>
                </a:solidFill>
              </a:rPr>
              <a:t>Input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E2442"/>
                </a:solidFill>
              </a:rPr>
              <a:t>Expression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40280" y="178308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13432" y="1929384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2442"/>
                </a:solidFill>
              </a:rPr>
              <a:t>IR / Tree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E2442"/>
                </a:solidFill>
              </a:rPr>
              <a:t>Builder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04488" y="178308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77640" y="1929384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2442"/>
                </a:solidFill>
              </a:rPr>
              <a:t>BURS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E2442"/>
                </a:solidFill>
              </a:rPr>
              <a:t>Engine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23560" y="1097280"/>
            <a:ext cx="1965960" cy="676656"/>
          </a:xfrm>
          <a:prstGeom prst="roundRect">
            <a:avLst>
              <a:gd name="adj" fmla="val 8108"/>
            </a:avLst>
          </a:prstGeom>
          <a:solidFill>
            <a:srgbClr val="E9FBFA"/>
          </a:solidFill>
          <a:ln w="12700">
            <a:solidFill>
              <a:srgbClr val="18A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1243584"/>
            <a:ext cx="1819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E2442"/>
                </a:solidFill>
              </a:rPr>
              <a:t>Target-A Rules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0E2442"/>
                </a:solidFill>
              </a:rPr>
              <a:t>+ Emitter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623560" y="2331720"/>
            <a:ext cx="1965960" cy="676656"/>
          </a:xfrm>
          <a:prstGeom prst="roundRect">
            <a:avLst>
              <a:gd name="adj" fmla="val 8108"/>
            </a:avLst>
          </a:prstGeom>
          <a:solidFill>
            <a:srgbClr val="FFF3D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96712" y="2478024"/>
            <a:ext cx="1819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E2442"/>
                </a:solidFill>
              </a:rPr>
              <a:t>Target-B Rules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0E2442"/>
                </a:solidFill>
              </a:rPr>
              <a:t>+ Emitter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229600" y="1097280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18A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02752" y="1243584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E2442"/>
                </a:solidFill>
              </a:rPr>
              <a:t>ISA-A Code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229600" y="2331720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02752" y="2478024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E2442"/>
                </a:solidFill>
              </a:rPr>
              <a:t>ISA-B Code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749808" y="4005072"/>
            <a:ext cx="324612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15137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Machine-Independent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4165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Expression tree + BURS matching logic. No concrete target instructions.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43984" y="4005072"/>
            <a:ext cx="324612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08576" y="415137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Target Description Layer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45152" y="44165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Patterns, nonterminals, costs and instruction templates are target-specific.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38160" y="4005072"/>
            <a:ext cx="324612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02752" y="415137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A7A7"/>
                </a:solidFill>
              </a:rPr>
              <a:t>Output Layer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39328" y="4416552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Generated instruction sequences are compared for correctness and cost.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9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IMPLEMENTATION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Modules, Algorithms, Interfaces &amp; Sample Transformation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1170432"/>
            <a:ext cx="2487168" cy="1051560"/>
          </a:xfrm>
          <a:prstGeom prst="roundRect">
            <a:avLst>
              <a:gd name="adj" fmla="val 6087"/>
            </a:avLst>
          </a:prstGeom>
          <a:solidFill>
            <a:srgbClr val="F0F9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131673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Module 1: IR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59105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Node(type, children, value)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Build expression tree from input.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447288" y="1170432"/>
            <a:ext cx="24871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11880" y="131673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A7A7"/>
                </a:solidFill>
              </a:rPr>
              <a:t>Module 2: Rule Table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0168" y="159105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Pattern, state, child states,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instruction template, cost.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300216" y="1170432"/>
            <a:ext cx="2487168" cy="1051560"/>
          </a:xfrm>
          <a:prstGeom prst="roundRect">
            <a:avLst>
              <a:gd name="adj" fmla="val 6087"/>
            </a:avLst>
          </a:prstGeom>
          <a:solidFill>
            <a:srgbClr val="F0F9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64808" y="131673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Module 3: Matcher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83096" y="159105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Bottom-up DP computes best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cost/state for every node.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9153144" y="1170432"/>
            <a:ext cx="24871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17736" y="131673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Module 4: Emitter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36024" y="159105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Backtrack selected rules and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output target instructions.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58368" y="288036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8FAFC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026664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Core Algorithm / Pseudocode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33756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each node in postorder: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initialize state costs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for each matching rule: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candidate = rule.cost + child.costs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keep minimum candidate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backtrack from root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emit instructions in selected order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FF7ED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82512" y="3026664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Sample Transformation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33756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</a:rPr>
              <a:t>IR: a + b * c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</a:rPr>
              <a:t>Tree root: ADD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</a:rPr>
              <a:t>Best cover selects MUL subtree first, then ADD.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</a:rPr>
              <a:t>Target A → LOAD / MUL / ADD style sequence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</a:rPr>
              <a:t>Target B → PUSH / PUSH / MUL / ADD style sequence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</a:rPr>
              <a:t>Same tree; different rule sets and emitted instructions.</a:t>
            </a:r>
            <a:endParaRPr lang="en-US" sz="9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TEAM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Member-Wise Task Allocation &amp; Integration Responsibilities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1170432"/>
            <a:ext cx="105156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2416" y="1316736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42416" y="1453896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VK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1664208" y="129844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E2442"/>
                </a:solidFill>
              </a:rPr>
              <a:t>Vineet Kumar Mishra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664208" y="1581912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4748B"/>
                </a:solidFill>
              </a:rPr>
              <a:t>Project Lead / Problem Analyst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4389120" y="130759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2563EB"/>
                </a:solidFill>
              </a:rPr>
              <a:t>Contribution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5440680" y="13167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11827"/>
                </a:solidFill>
              </a:rPr>
              <a:t>Problem definition, scope, objectives, requirements coordination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822960" y="2194560"/>
            <a:ext cx="105156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42416" y="2340864"/>
            <a:ext cx="438912" cy="438912"/>
          </a:xfrm>
          <a:prstGeom prst="ellipse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2416" y="2478024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MV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664208" y="232257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E2442"/>
                </a:solidFill>
              </a:rPr>
              <a:t>Mayank Verma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1664208" y="2606040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4748B"/>
                </a:solidFill>
              </a:rPr>
              <a:t>Background / Requirements Analyst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4389120" y="233172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8A7A7"/>
                </a:solidFill>
              </a:rPr>
              <a:t>Contribution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5440680" y="234086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11827"/>
                </a:solidFill>
              </a:rPr>
              <a:t>Compiler research, BURS survey, target ISA/rule requirements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822960" y="3218688"/>
            <a:ext cx="105156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42416" y="336499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2416" y="3502152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UK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1664208" y="334670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E2442"/>
                </a:solidFill>
              </a:rPr>
              <a:t>Utsav Keshrwani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1664208" y="3630168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4748B"/>
                </a:solidFill>
              </a:rPr>
              <a:t>System Designer / Core Algorithm Owner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4389120" y="335584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F59E0B"/>
                </a:solidFill>
              </a:rPr>
              <a:t>Contribution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5440680" y="336499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11827"/>
                </a:solidFill>
              </a:rPr>
              <a:t>BURS algorithm, architecture, tree matching, cost model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822960" y="4242816"/>
            <a:ext cx="105156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42416" y="438912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42416" y="4526280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AA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1664208" y="43708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E2442"/>
                </a:solidFill>
              </a:rPr>
              <a:t>Ahmed Azim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664208" y="4654296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4748B"/>
                </a:solidFill>
              </a:rPr>
              <a:t>Implementation, Testing &amp; Planning Coordinator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4389120" y="43799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7C3AED"/>
                </a:solidFill>
              </a:rPr>
              <a:t>Contribution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5440680" y="43891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11827"/>
                </a:solidFill>
              </a:rPr>
              <a:t>Repository, implementation integration, test plan, timeline, prototype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822960" y="5440680"/>
            <a:ext cx="10515600" cy="566928"/>
          </a:xfrm>
          <a:prstGeom prst="roundRect">
            <a:avLst>
              <a:gd name="adj" fmla="val 11290"/>
            </a:avLst>
          </a:prstGeom>
          <a:solidFill>
            <a:srgbClr val="EDFDFD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7552" y="558698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A7A7"/>
                </a:solidFill>
              </a:rPr>
              <a:t>Integration Rule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77440" y="5669280"/>
            <a:ext cx="8183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E2442"/>
                </a:solidFill>
              </a:rPr>
              <a:t>Common IR + common BURS engine → target-specific rules/emitters → two instruction outputs.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11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ROADMAP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Timeline, Milestones &amp; Review 2 / Review 3 Outcomes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83080" y="2788920"/>
            <a:ext cx="502920" cy="0"/>
          </a:xfrm>
          <a:prstGeom prst="line">
            <a:avLst/>
          </a:prstGeom>
          <a:noFill/>
          <a:ln w="1397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2788920"/>
            <a:ext cx="502920" cy="0"/>
          </a:xfrm>
          <a:prstGeom prst="line">
            <a:avLst/>
          </a:prstGeom>
          <a:noFill/>
          <a:ln w="1397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32120" y="2788920"/>
            <a:ext cx="502920" cy="0"/>
          </a:xfrm>
          <a:prstGeom prst="line">
            <a:avLst/>
          </a:prstGeom>
          <a:noFill/>
          <a:ln w="1397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0" y="2788920"/>
            <a:ext cx="502920" cy="0"/>
          </a:xfrm>
          <a:prstGeom prst="line">
            <a:avLst/>
          </a:prstGeom>
          <a:noFill/>
          <a:ln w="1397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81160" y="2788920"/>
            <a:ext cx="502920" cy="0"/>
          </a:xfrm>
          <a:prstGeom prst="line">
            <a:avLst/>
          </a:prstGeom>
          <a:noFill/>
          <a:ln w="13970">
            <a:solidFill>
              <a:srgbClr val="D6DF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" y="1481328"/>
            <a:ext cx="1444752" cy="242316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" y="1481328"/>
            <a:ext cx="1444752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5528" y="17830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42"/>
                </a:solidFill>
              </a:rPr>
              <a:t>Week 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22402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Problem +</a:t>
            </a:r>
            <a:endParaRPr lang="en-US" sz="730" dirty="0"/>
          </a:p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literature survey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804672" y="29900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64748B"/>
                </a:solidFill>
              </a:rPr>
              <a:t>Milestone: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795528" y="32461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2563EB"/>
                </a:solidFill>
              </a:rPr>
              <a:t>Review 1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2532888" y="1481328"/>
            <a:ext cx="1444752" cy="242316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32888" y="1481328"/>
            <a:ext cx="1444752" cy="109728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70048" y="17830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42"/>
                </a:solidFill>
              </a:rPr>
              <a:t>Week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70048" y="22402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IR/tree representation</a:t>
            </a:r>
            <a:endParaRPr lang="en-US" sz="730" dirty="0"/>
          </a:p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+ rule format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2679192" y="29900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64748B"/>
                </a:solidFill>
              </a:rPr>
              <a:t>Milestone: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2670048" y="32461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8A7A7"/>
                </a:solidFill>
              </a:rPr>
              <a:t>Prototype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4407408" y="1481328"/>
            <a:ext cx="1444752" cy="242316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07408" y="1481328"/>
            <a:ext cx="144475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44568" y="17830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42"/>
                </a:solidFill>
              </a:rPr>
              <a:t>Week 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44568" y="22402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BURS labeling</a:t>
            </a:r>
            <a:endParaRPr lang="en-US" sz="730" dirty="0"/>
          </a:p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+ cost computation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4553712" y="29900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64748B"/>
                </a:solidFill>
              </a:rPr>
              <a:t>Milestone:</a:t>
            </a:r>
            <a:endParaRPr lang="en-US" sz="620" dirty="0"/>
          </a:p>
        </p:txBody>
      </p:sp>
      <p:sp>
        <p:nvSpPr>
          <p:cNvPr id="31" name="Text 29"/>
          <p:cNvSpPr/>
          <p:nvPr/>
        </p:nvSpPr>
        <p:spPr>
          <a:xfrm>
            <a:off x="4544568" y="32461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F59E0B"/>
                </a:solidFill>
              </a:rPr>
              <a:t>Core algorithm</a:t>
            </a:r>
            <a:endParaRPr lang="en-US" sz="710" dirty="0"/>
          </a:p>
        </p:txBody>
      </p:sp>
      <p:sp>
        <p:nvSpPr>
          <p:cNvPr id="32" name="Shape 30"/>
          <p:cNvSpPr/>
          <p:nvPr/>
        </p:nvSpPr>
        <p:spPr>
          <a:xfrm>
            <a:off x="6281928" y="1481328"/>
            <a:ext cx="1444752" cy="242316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81928" y="1481328"/>
            <a:ext cx="1444752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19088" y="17830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42"/>
                </a:solidFill>
              </a:rPr>
              <a:t>Week 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19088" y="22402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Target A + B</a:t>
            </a:r>
            <a:endParaRPr lang="en-US" sz="730" dirty="0"/>
          </a:p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emitters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6428232" y="29900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64748B"/>
                </a:solidFill>
              </a:rPr>
              <a:t>Milestone: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6419088" y="32461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7C3AED"/>
                </a:solidFill>
              </a:rPr>
              <a:t>Retargeting demo</a:t>
            </a:r>
            <a:endParaRPr lang="en-US" sz="710" dirty="0"/>
          </a:p>
        </p:txBody>
      </p:sp>
      <p:sp>
        <p:nvSpPr>
          <p:cNvPr id="38" name="Shape 36"/>
          <p:cNvSpPr/>
          <p:nvPr/>
        </p:nvSpPr>
        <p:spPr>
          <a:xfrm>
            <a:off x="8156448" y="1481328"/>
            <a:ext cx="1444752" cy="242316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56448" y="1481328"/>
            <a:ext cx="1444752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93608" y="17830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42"/>
                </a:solidFill>
              </a:rPr>
              <a:t>Week 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93608" y="22402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Testing, debugging,</a:t>
            </a:r>
            <a:endParaRPr lang="en-US" sz="730" dirty="0"/>
          </a:p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integration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8302752" y="29900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64748B"/>
                </a:solidFill>
              </a:rPr>
              <a:t>Milestone: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8293608" y="32461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16A34A"/>
                </a:solidFill>
              </a:rPr>
              <a:t>Review 2</a:t>
            </a:r>
            <a:endParaRPr lang="en-US" sz="710" dirty="0"/>
          </a:p>
        </p:txBody>
      </p:sp>
      <p:sp>
        <p:nvSpPr>
          <p:cNvPr id="44" name="Shape 42"/>
          <p:cNvSpPr/>
          <p:nvPr/>
        </p:nvSpPr>
        <p:spPr>
          <a:xfrm>
            <a:off x="10030968" y="1481328"/>
            <a:ext cx="1444752" cy="242316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030968" y="1481328"/>
            <a:ext cx="1444752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168128" y="17830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42"/>
                </a:solidFill>
              </a:rPr>
              <a:t>Week 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168128" y="22402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Optimization,</a:t>
            </a:r>
            <a:endParaRPr lang="en-US" sz="730" dirty="0"/>
          </a:p>
          <a:p>
            <a:pPr marL="0" indent="0" algn="ctr">
              <a:buNone/>
            </a:pPr>
            <a:r>
              <a:rPr lang="en-US" sz="730" dirty="0">
                <a:solidFill>
                  <a:srgbClr val="111827"/>
                </a:solidFill>
              </a:rPr>
              <a:t>documentation, viva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10177272" y="29900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64748B"/>
                </a:solidFill>
              </a:rPr>
              <a:t>Milestone:</a:t>
            </a:r>
            <a:endParaRPr lang="en-US" sz="620" dirty="0"/>
          </a:p>
        </p:txBody>
      </p:sp>
      <p:sp>
        <p:nvSpPr>
          <p:cNvPr id="49" name="Text 47"/>
          <p:cNvSpPr/>
          <p:nvPr/>
        </p:nvSpPr>
        <p:spPr>
          <a:xfrm>
            <a:off x="10168128" y="32461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EF4444"/>
                </a:solidFill>
              </a:rPr>
              <a:t>Review 3 / Final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749808" y="4983480"/>
            <a:ext cx="1065276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4400" y="51297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Milestone Evidence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606040" y="5285232"/>
            <a:ext cx="8275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827"/>
                </a:solidFill>
              </a:rPr>
              <a:t>Commit history • rule files • architecture revision • test cases • sample outputs • integrated two-target demonstration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12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PROGRESS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Initial Progress, Repository Structure &amp; Prototype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1216152"/>
            <a:ext cx="374904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362456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Suggested Repository Structure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682496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burs-instruction-selector/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src/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ir/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burs/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targets/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│   ├── targetA/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│   └── targetB/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main/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tests/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docs/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README.md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0E244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results/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617720" y="1216152"/>
            <a:ext cx="3154680" cy="3108960"/>
          </a:xfrm>
          <a:prstGeom prst="roundRect">
            <a:avLst>
              <a:gd name="adj" fmla="val 2059"/>
            </a:avLst>
          </a:prstGeom>
          <a:solidFill>
            <a:srgbClr val="F0F9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13624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A7A7"/>
                </a:solidFill>
              </a:rPr>
              <a:t>Initial Prototype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442"/>
                </a:solidFill>
              </a:rPr>
              <a:t>Input: a + b * 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103120"/>
            <a:ext cx="25603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expression tree</a:t>
            </a:r>
            <a:endParaRPr lang="en-US" sz="840" dirty="0"/>
          </a:p>
          <a:p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nodes bottom-up</a:t>
            </a:r>
            <a:endParaRPr lang="en-US" sz="840" dirty="0"/>
          </a:p>
          <a:p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rule costs</a:t>
            </a:r>
            <a:endParaRPr lang="en-US" sz="840" dirty="0"/>
          </a:p>
          <a:p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root cover</a:t>
            </a:r>
            <a:endParaRPr lang="en-US" sz="840" dirty="0"/>
          </a:p>
          <a:p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 Target A code</a:t>
            </a:r>
            <a:endParaRPr lang="en-US" sz="840" dirty="0"/>
          </a:p>
          <a:p>
            <a:r>
              <a:rPr lang="en-US" sz="8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using Target B rules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4892040" y="382219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8A7A7"/>
                </a:solidFill>
              </a:rPr>
              <a:t>Expected output: two valid instruction sequences.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982712" y="1216152"/>
            <a:ext cx="3429000" cy="3108960"/>
          </a:xfrm>
          <a:prstGeom prst="roundRect">
            <a:avLst>
              <a:gd name="adj" fmla="val 2059"/>
            </a:avLst>
          </a:prstGeom>
          <a:solidFill>
            <a:srgbClr val="FFF7ED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47304" y="136245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Evidence to Show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11312" y="1664208"/>
            <a:ext cx="2834640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repository</a:t>
            </a:r>
            <a:endParaRPr lang="en-US" sz="820" dirty="0"/>
          </a:p>
          <a:p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commits</a:t>
            </a:r>
            <a:endParaRPr lang="en-US" sz="820" dirty="0"/>
          </a:p>
          <a:p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Rule-table files</a:t>
            </a:r>
            <a:endParaRPr lang="en-US" sz="820" dirty="0"/>
          </a:p>
          <a:p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Tree-printing output</a:t>
            </a:r>
            <a:endParaRPr lang="en-US" sz="820" dirty="0"/>
          </a:p>
          <a:p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 cost table</a:t>
            </a:r>
            <a:endParaRPr lang="en-US" sz="820" dirty="0"/>
          </a:p>
          <a:p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instructions</a:t>
            </a:r>
            <a:endParaRPr lang="en-US" sz="820" dirty="0"/>
          </a:p>
          <a:p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of run</a:t>
            </a:r>
            <a:endParaRPr lang="en-US" sz="820" dirty="0"/>
          </a:p>
          <a:p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Test-case results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58368" y="5074920"/>
            <a:ext cx="10744200" cy="658368"/>
          </a:xfrm>
          <a:prstGeom prst="roundRect">
            <a:avLst>
              <a:gd name="adj" fmla="val 9722"/>
            </a:avLst>
          </a:prstGeom>
          <a:solidFill>
            <a:srgbClr val="EDFDFD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52212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A7A7"/>
                </a:solidFill>
              </a:rPr>
              <a:t>Current Review-1 Position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340096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E2442"/>
                </a:solidFill>
              </a:rPr>
              <a:t>Architecture and responsibilities are defined; implementation proceeds from common tree/BURS core toward two target-specific rule sets.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13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CLOSURE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Risks, Mitigation, Expected Outcome &amp; Conclusion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123444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380744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Risk: Rule Complexity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16916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Start with a small grammar and extend incrementally. Validate each rule independently.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36208" y="123444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380744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Risk: Incorrect Covers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4808" y="16916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Use exhaustive small-tree tests and compare outputs against expected semantics.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9808" y="246888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615184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Risk: Target Coupling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29260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Keep target rules and emitters separate from the common BURS engine.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36208" y="246888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615184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Risk: Integration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64808" y="29260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Use shared interfaces for IR, rules and selected matches; integrate through version control.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" y="4069080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0FDF4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215384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Expected Outcome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46227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A working educational instruction selector that generates target-specific code from the same tree.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236208" y="4069080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0F9FF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4215384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Success Criteria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46227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827"/>
                </a:solidFill>
              </a:rPr>
              <a:t>Correct matching, cost selection, two outputs, reproducible tests and clear ownership.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49808" y="5285232"/>
            <a:ext cx="1056132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5431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E2442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7400" y="550468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E2442"/>
                </a:solidFill>
              </a:rPr>
              <a:t>BURS bridges tree-shaped IR to target instructions while preserving retargetability through target-specific pattern rules.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65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BURS-Based Retargetable Instruction Selection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152144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4748B"/>
                </a:solidFill>
              </a:rPr>
              <a:t>14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76072" y="457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A7A7"/>
                </a:solidFill>
              </a:rPr>
              <a:t>SOURCES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66928" y="68580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2442"/>
                </a:solidFill>
              </a:rPr>
              <a:t>References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4672" y="129844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13670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1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234440" y="1335024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A. V. Aho, M. S. Lam, R. Sethi, J. D. Ullman, Compilers: Principles, Techniques, and Tools, 2nd ed.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4672" y="1874520"/>
            <a:ext cx="310896" cy="310896"/>
          </a:xfrm>
          <a:prstGeom prst="ellipse">
            <a:avLst/>
          </a:prstGeom>
          <a:solidFill>
            <a:srgbClr val="18A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" y="19431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2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234440" y="1911096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A. V. Aho, M. Ganapathi, S. W. K. Tjiang, “Code Generation Using Tree Matching and Dynamic Programming.”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04672" y="245059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251917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3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234440" y="248716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E. R. Gagnon / compiler instruction-selection literature on tree pattern matching and retargetable code generation.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04672" y="302666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" y="309524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4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Fraser, Hanson &amp; Proebsting, literature on engineering retargetable code generators and BURG-style systems.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04672" y="3602736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" y="36713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5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234440" y="363931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Course notes / lecture material on compiler back end, instruction selection and intermediate representations.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4672" y="4178808"/>
            <a:ext cx="310896" cy="31089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" y="424738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6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234440" y="4215384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11827"/>
                </a:solidFill>
              </a:rPr>
              <a:t>Official documentation for the selected implementation language, build tools and version-control workflow.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786384" y="5486400"/>
            <a:ext cx="10607040" cy="566928"/>
          </a:xfrm>
          <a:prstGeom prst="roundRect">
            <a:avLst>
              <a:gd name="adj" fmla="val 11290"/>
            </a:avLst>
          </a:prstGeom>
          <a:solidFill>
            <a:srgbClr val="FFF7ED"/>
          </a:solidFill>
          <a:ln w="12700">
            <a:solidFill>
              <a:srgbClr val="D6DF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50976" y="56327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5696712"/>
            <a:ext cx="9372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0E2442"/>
                </a:solidFill>
              </a:rPr>
              <a:t>Final submission should replace general references with exact editions, URLs/DOIs and sources actually consulted by the team.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1557</Words>
  <Application>Microsoft Macintosh PowerPoint</Application>
  <PresentationFormat>Widescreen</PresentationFormat>
  <Paragraphs>385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Tree-Pattern-Matching Based Instruction Selection</dc:title>
  <dc:subject>BURS Tree Pattern Instruction Selection Review 1</dc:subject>
  <dc:creator>OpenAI</dc:creator>
  <cp:lastModifiedBy>Ahmad Azim</cp:lastModifiedBy>
  <cp:revision>2</cp:revision>
  <dcterms:created xsi:type="dcterms:W3CDTF">2026-08-18T16:18:38Z</dcterms:created>
  <dcterms:modified xsi:type="dcterms:W3CDTF">2026-08-19T07:11:50Z</dcterms:modified>
</cp:coreProperties>
</file>