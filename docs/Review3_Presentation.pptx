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6233A"/>
                </a:solidFill>
                <a:latin typeface="Calibri"/>
              </a:rPr>
              <a:t>Average cover cost over 3,333 trees (lower is better)</a:t>
            </a:r>
          </a:p>
        </c:rich>
      </c:tx>
      <c:layout/>
      <c:overlay val="0"/>
    </c:title>
    <c:autoTitleDeleted val="0"/>
    <c:plotArea>
      <c:barChart>
        <c:barDir val="col"/>
        <c:grouping val="clustered"/>
        <c:ser>
          <c:idx val="0"/>
          <c:order val="0"/>
          <c:tx>
            <c:strRef>
              <c:f>Sheet1!$B$1</c:f>
              <c:strCache>
                <c:ptCount val="1"/>
                <c:pt idx="0">
                  <c:v>Average cover cost</c:v>
                </c:pt>
              </c:strCache>
            </c:strRef>
          </c:tx>
          <c:dPt>
            <c:idx val="0"/>
            <c:spPr>
              <a:solidFill>
                <a:srgbClr val="9AA5B1"/>
              </a:solidFill>
            </c:spPr>
          </c:dPt>
          <c:dPt>
            <c:idx val="1"/>
            <c:spPr>
              <a:solidFill>
                <a:srgbClr val="0E767A"/>
              </a:solidFill>
            </c:spPr>
          </c:dPt>
          <c:dPt>
            <c:idx val="2"/>
            <c:spPr>
              <a:solidFill>
                <a:srgbClr val="E89A2C"/>
              </a:solidFill>
            </c:spPr>
          </c:dPt>
          <c:cat>
            <c:strRef>
              <c:f>Sheet1!$A$2:$A$4</c:f>
              <c:strCache>
                <c:ptCount val="3"/>
                <c:pt idx="0">
                  <c:v>Naive (1 instr / node)</c:v>
                </c:pt>
                <c:pt idx="1">
                  <c:v>BURS Target A</c:v>
                </c:pt>
                <c:pt idx="2">
                  <c:v>BURS Target B</c:v>
                </c:pt>
              </c:strCache>
            </c:strRef>
          </c:cat>
          <c:val>
            <c:numRef>
              <c:f>Sheet1!$B$2:$B$4</c:f>
              <c:numCache>
                <c:formatCode>General</c:formatCode>
                <c:ptCount val="3"/>
                <c:pt idx="0">
                  <c:v>7.26</c:v>
                </c:pt>
                <c:pt idx="1">
                  <c:v>6.88</c:v>
                </c:pt>
                <c:pt idx="2">
                  <c:v>5.55</c:v>
                </c:pt>
              </c:numCache>
            </c:numRef>
          </c:val>
        </c:ser>
        <c:dLbls>
          <c:numFmt formatCode="0.00" sourceLinked="0"/>
          <c:txPr>
            <a:bodyPr/>
            <a:lstStyle/>
            <a:p>
              <a:pPr>
                <a:defRPr sz="1400" b="1">
                  <a:latin typeface="Calibri"/>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9D2DB"/>
            </a:solidFill>
          </a:ln>
        </c:spPr>
        <c:txPr>
          <a:bodyPr/>
          <a:lstStyle/>
          <a:p>
            <a:pPr>
              <a:defRPr sz="1200">
                <a:solidFill>
                  <a:srgbClr val="1F2933"/>
                </a:solidFill>
              </a:defRPr>
            </a:pPr>
          </a:p>
        </c:txPr>
        <c:crossAx val="-2113994440"/>
        <c:crosses val="autoZero"/>
        <c:auto val="1"/>
        <c:lblAlgn val="ctr"/>
        <c:lblOffset val="100"/>
        <c:noMultiLvlLbl val="0"/>
      </c:catAx>
      <c:valAx>
        <c:axId val="-2113994440"/>
        <c:scaling>
          <c:max val="8.0"/>
          <c:min val="0.0"/>
        </c:scaling>
        <c:delete val="0"/>
        <c:axPos val="l"/>
        <c:majorGridlines>
          <c:spPr>
            <a:ln>
              <a:solidFill>
                <a:srgbClr val="E3E8EE"/>
              </a:solidFill>
            </a:ln>
          </c:spPr>
        </c:majorGridlines>
        <c:majorTickMark val="out"/>
        <c:minorTickMark val="none"/>
        <c:tickLblPos val="nextTo"/>
        <c:spPr>
          <a:ln>
            <a:noFill/>
          </a:ln>
        </c:spPr>
        <c:txPr>
          <a:bodyPr/>
          <a:lstStyle/>
          <a:p>
            <a:pPr>
              <a:defRPr sz="1200">
                <a:solidFill>
                  <a:srgbClr val="5B6770"/>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16233A"/>
                </a:solidFill>
                <a:latin typeface="Calibri"/>
              </a:rPr>
              <a:t>Labeling time per node (ns) vs tree size (nodes)</a:t>
            </a:r>
          </a:p>
        </c:rich>
      </c:tx>
      <c:layout/>
      <c:overlay val="0"/>
    </c:title>
    <c:autoTitleDeleted val="0"/>
    <c:plotArea>
      <c:lineChart>
        <c:grouping val="standard"/>
        <c:varyColors val="0"/>
        <c:ser>
          <c:idx val="0"/>
          <c:order val="0"/>
          <c:tx>
            <c:strRef>
              <c:f>Sheet1!$B$1</c:f>
              <c:strCache>
                <c:ptCount val="1"/>
                <c:pt idx="0">
                  <c:v>Target A</c:v>
                </c:pt>
              </c:strCache>
            </c:strRef>
          </c:tx>
          <c:spPr>
            <a:ln w="31750">
              <a:solidFill>
                <a:srgbClr val="0E767A"/>
              </a:solidFill>
            </a:ln>
          </c:spPr>
          <c:marker>
            <c:spPr>
              <a:solidFill>
                <a:srgbClr val="0E767A"/>
              </a:solidFill>
              <a:ln>
                <a:solidFill>
                  <a:srgbClr val="0E767A"/>
                </a:solidFill>
              </a:ln>
            </c:spPr>
          </c:marker>
          <c:cat>
            <c:strRef>
              <c:f>Sheet1!$A$2:$A$7</c:f>
              <c:strCache>
                <c:ptCount val="6"/>
                <c:pt idx="0">
                  <c:v>405</c:v>
                </c:pt>
                <c:pt idx="1">
                  <c:v>1,587</c:v>
                </c:pt>
                <c:pt idx="2">
                  <c:v>4,986</c:v>
                </c:pt>
                <c:pt idx="3">
                  <c:v>13,229</c:v>
                </c:pt>
                <c:pt idx="4">
                  <c:v>59,790</c:v>
                </c:pt>
                <c:pt idx="5">
                  <c:v>239,710</c:v>
                </c:pt>
              </c:strCache>
            </c:strRef>
          </c:cat>
          <c:val>
            <c:numRef>
              <c:f>Sheet1!$B$2:$B$7</c:f>
              <c:numCache>
                <c:formatCode>General</c:formatCode>
                <c:ptCount val="6"/>
                <c:pt idx="0">
                  <c:v>9.9</c:v>
                </c:pt>
                <c:pt idx="1">
                  <c:v>9.5</c:v>
                </c:pt>
                <c:pt idx="2">
                  <c:v>11.2</c:v>
                </c:pt>
                <c:pt idx="3">
                  <c:v>13.0</c:v>
                </c:pt>
                <c:pt idx="4">
                  <c:v>13.4</c:v>
                </c:pt>
                <c:pt idx="5">
                  <c:v>14.7</c:v>
                </c:pt>
              </c:numCache>
            </c:numRef>
          </c:val>
          <c:smooth val="0"/>
        </c:ser>
        <c:ser>
          <c:idx val="1"/>
          <c:order val="1"/>
          <c:tx>
            <c:strRef>
              <c:f>Sheet1!$C$1</c:f>
              <c:strCache>
                <c:ptCount val="1"/>
                <c:pt idx="0">
                  <c:v>Target B</c:v>
                </c:pt>
              </c:strCache>
            </c:strRef>
          </c:tx>
          <c:spPr>
            <a:ln w="31750">
              <a:solidFill>
                <a:srgbClr val="E89A2C"/>
              </a:solidFill>
            </a:ln>
          </c:spPr>
          <c:marker>
            <c:spPr>
              <a:solidFill>
                <a:srgbClr val="E89A2C"/>
              </a:solidFill>
              <a:ln>
                <a:solidFill>
                  <a:srgbClr val="E89A2C"/>
                </a:solidFill>
              </a:ln>
            </c:spPr>
          </c:marker>
          <c:cat>
            <c:strRef>
              <c:f>Sheet1!$A$2:$A$7</c:f>
              <c:strCache>
                <c:ptCount val="6"/>
                <c:pt idx="0">
                  <c:v>405</c:v>
                </c:pt>
                <c:pt idx="1">
                  <c:v>1,587</c:v>
                </c:pt>
                <c:pt idx="2">
                  <c:v>4,986</c:v>
                </c:pt>
                <c:pt idx="3">
                  <c:v>13,229</c:v>
                </c:pt>
                <c:pt idx="4">
                  <c:v>59,790</c:v>
                </c:pt>
                <c:pt idx="5">
                  <c:v>239,710</c:v>
                </c:pt>
              </c:strCache>
            </c:strRef>
          </c:cat>
          <c:val>
            <c:numRef>
              <c:f>Sheet1!$C$2:$C$7</c:f>
              <c:numCache>
                <c:formatCode>General</c:formatCode>
                <c:ptCount val="6"/>
                <c:pt idx="0">
                  <c:v>9.9</c:v>
                </c:pt>
                <c:pt idx="1">
                  <c:v>12.0</c:v>
                </c:pt>
                <c:pt idx="2">
                  <c:v>15.0</c:v>
                </c:pt>
                <c:pt idx="3">
                  <c:v>15.6</c:v>
                </c:pt>
                <c:pt idx="4">
                  <c:v>16.1</c:v>
                </c:pt>
                <c:pt idx="5">
                  <c:v>17.0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2DB"/>
            </a:solidFill>
          </a:ln>
        </c:spPr>
        <c:txPr>
          <a:bodyPr/>
          <a:lstStyle/>
          <a:p>
            <a:pPr>
              <a:defRPr sz="1100">
                <a:solidFill>
                  <a:srgbClr val="5B6770"/>
                </a:solidFill>
              </a:defRPr>
            </a:pPr>
          </a:p>
        </c:txPr>
        <c:crossAx val="2140495176"/>
        <c:crosses val="autoZero"/>
        <c:auto val="1"/>
        <c:lblAlgn val="ctr"/>
        <c:lblOffset val="100"/>
        <c:noMultiLvlLbl val="0"/>
      </c:catAx>
      <c:valAx>
        <c:axId val="2140495176"/>
        <c:scaling>
          <c:max val="25.0"/>
          <c:min val="0.0"/>
        </c:scaling>
        <c:delete val="0"/>
        <c:axPos val="l"/>
        <c:majorGridlines>
          <c:spPr>
            <a:ln>
              <a:solidFill>
                <a:srgbClr val="E3E8EE"/>
              </a:solidFill>
            </a:ln>
          </c:spPr>
        </c:majorGridlines>
        <c:majorTickMark val="out"/>
        <c:minorTickMark val="none"/>
        <c:tickLblPos val="nextTo"/>
        <c:spPr>
          <a:ln>
            <a:noFill/>
          </a:ln>
        </c:spPr>
        <c:txPr>
          <a:bodyPr/>
          <a:lstStyle/>
          <a:p>
            <a:pPr>
              <a:defRPr sz="1200">
                <a:solidFill>
                  <a:srgbClr val="5B6770"/>
                </a:solidFill>
              </a:defRPr>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VINEET (about 30 s). Good morning. We are Team 8, project A24: BURS-based retargetable instruction selection. In one sentence: we take an arithmetic expression, turn it into a machine-independent tree, and use one bottom-up rewrite engine to produce cost-optimal, automatically verified code for two different instruction sets, a register machine and a stack machine. I will cover the problem and architecture, Mayank the target grammars, Utsav the BURS engine, and Ahmad code emission, testing and results. Then we run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VINEET (about 1.5 min). The back end must map IR to real instructions, and there is more than one way to do it. Example: load(a) + 4. A naive selector emits LOAD, LOAD, LOADI, ADD: cost 4. A smarter one uses the add-immediate instruction: LOAD, LOAD, ADDI: cost 3. Finding the cheapest set of instruction patterns that covers the whole tree is the problem, and the best answer changes with the machine. BURS solves it with dynamic programming, and because the machine lives entirely in a grammar, retargeting is just a new grammar. These are our measurable objectives from Review 1; all seven are achieved and each has evidence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VINEET (about 1 min). At Review 2, Target B was not started, the emitter for it was the open defect D3, the regression suite covered only Target A, and there was no team repository. All of these are closed. Target B is a 14-rule stack machine, tests went from six manual expressions to 27 automated checks, and the repository is public with every review document. Two register numbers remain to be added on the cover page. Scope is unchanged from Review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VINEET (about 1.5 min). Three layers. The top layer is machine independent: parser, IR tree and the BURS engine. The engine talks to a target only through one const Target object. The middle layer is one burg grammar file per target: rules with costs, a reduce function that emits instructions, and a simulator. At build time burg compiles each grammar into a table-driven matcher, with prefixes burmA and burmB so both link into one program. The bottom layer: the same tree produces code for both machines, and each program is executed and compared with the IR's own value. Adding a third target means one new grammar 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VINEET, MAYANK, UTSAV (about 1.5 min, 30 s each). Four concepts carry the project. A tree grammar rule says this subtree can be computed into this nonterminal at this cost. Nonterminals say where a value lives: register, stack, memory operand or immediate, and chain rules convert between them. Bottom-up dynamic programming finds the cheapest rule per node and nonterminal. BURG moves all of that work to build time, so compile time is one table lookup per node. On the right, the three decisions that shaped the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MAYANK (about 2.5 min). Both grammars use the same terminals, so they read the same IR. Target A is a three-address register machine with 9 rules: values live in reg, and constants can also be imm so they fold into ADDI and SUBI. Target B is a stack machine with 14 rules and three nonterminals: stk is on the stack, mem is a variable used as a memory operand, imm is a constant. The chain rules stk: mem and stk: imm are the PUSH instructions. Costs: one per instruction, multiplies cost two. Rule numbers are the external numbers the emitter switches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MAYANK (about 2 min). Live: ./build/burs -t A "a + 7" picks ADDI, cost 2, not LOADI plus ADD at 3. On Target B, a * b becomes PUSH then MULM, cost 3, not two pushes and a MUL at 4. An honest limitation: 7 + a on Target A does not fold, because we have no commutative rule ADD(imm, reg); that is a one-line grammar extension. Error input: a / b is rejected by the parser with the column number and exit status 2, before any selection happens.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UTSAV (about 2.5 min). The engine is four functions in engine.c, and none of them names an instruction. burs_label calls the target's generated label function: a postorder walk that writes a state into every node. burs_cost and the cost table read best rules and costs from those states. burs_reduce backtracks from the root with the start nonterminal: it asks the generated kids function which subtrees the rule's leaves are, reduces them first, left to right, then calls the target's reduce. That is why code comes out in postorder, which suits both machines. Labeling and reduction are both linear in the number of nodes.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UTSAV (about 2 min). Live: ./build/burs -v -t A "load(a) + 4". The cost table is the dynamic programming result. Node n3, the constant 4, can be a register for cost 1 or an immediate for cost 0. At the root, ADD(reg, imm) costs 1 + 2 + 0 = 3, while ADD(reg, reg) would cost 1 + 2 + 1 = 4, so ADDI wins. The cover printed below it is exactly the highlighted rows, and the emitted code follows it. This is where the engine hands over to Ahmad's emitter and simulator.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AHMAD AT THE KEYBOARD (live demo, 8 to 12 min including evaluator inputs). Run ./build/burs "a + b * c". The same tree goes through both targets. Target A loads each variable into a register, multiplies, adds: 5 instructions, cost 6, identical to Review 2. Target B pushes a and b, then MULM folds c in as a memory operand, then ADD: 4 instructions, cost 5. Both programs are executed by their simulators and give 14, which equals the IR value with a=2, b=3, c=4. Then take the evaluator's own expression with ./build/burs -i.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AHMAD (about 1.5 min). Two independent oracles. First, regression: tests/run_tests.sh runs 25 cases and compares the complete output, stdout, stderr and exit status, byte for byte with tests/expected. Any change in a cover, a cost, an instruction or an error message fails. Second, semantics: every generated program is executed by the simulator for its ISA and must equal the IR's own evaluation. The cases cover positive, boundary, rule choice and negative inputs, plus the 10-expression suite and the exhaustive check of every tree up to depth 2. Result: 27 of 27 pass.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AHMAD (about 2 min). Left: over all 3,333 small trees, a naive selector that emits one instruction per node averages cost 7.26. BURS averages 6.88 on Target A, 5.2 percent lower, and 5.55 on Target B, 23.6 percent lower. B gains more because its memory and immediate operands absorb the right operand of most binary nodes. BURS is never worse, because the naive cover is always one of the covers it considers. Right: labeling time per node stays between about 10 and 17 nanoseconds while the tree grows from 405 to almost 240,000 nodes: linear time, as expected from one table lookup per node. All 6,666 programs were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UTSAV and AHMAD (about 1.5 min). Utsav: the main algorithmic trade-off is static costs. They make the tables possible but cannot express context, such as small immediates being cheaper. We work on trees only, so a repeated subexpression is computed twice. Ahmad: on the implementation side, Target A uses virtual registers with no allocation, so the 20-variable deep test uses 39 registers. There is no commutative rule, which our own test 7 + a documents. Unsupported operators are rejected with a clear error, and every limitation has a known remedy.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AHMAD (about 1.5 min). Everything is public on GitHub. The only dependencies are a C compiler and make; the BURG generator is bundled in third_party and built by the Makefile. Three commands reproduce everything: clone, make, make test. make results regenerates every evidence file in results, and those files are committed, so anyone can diff their run against ours. The layout follows the structure we proposed in Review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(about 1 min, each member one sentence on their own column). Ownership follows the split approved in Review 1. Each member owns files, tests that exercise them, and one viva topic.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VINEET (about 1 min). Beyond the brief: both targets link into one binary, so the same tree is compared directly; every program is simulated; the exhaustive check, baseline comparison and benchmark give quantitative evidence. Next steps: register allocation, a third target modelled on RISC-V, DAG support and dynamic costs. As a publication, this fits best as an educational case study or a lab module; a research paper would need the third target and a register-allocation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(about 1 min). Three takeaways. One: optimal instruction selection on trees is a clean dynamic-programming problem, and BURG moves that work to build time. Two: nonterminals model where a value lives, and chain rules let one node offer several forms to its parent; that is where the savings come from. Three: a strict interface plus an executable oracle makes retargeting cheap and trustworthy. All seven objectives are achieved. Thank you; we are happy to take questions or run any expression you choose.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AHMAD (about 30 s). The two core papers are Aho, Ganapathi and Tjiang for tree matching with dynamic programming, and Fraser, Hanson and Proebsting for BURG. The BURG generator in third_party is their tool in Chen Zhexuan's modernised version, used unmodified as a build tool under its own licence; none of it is counted as our code. Development and documentation were assisted by an AI coding assistant, Claude, as recorded in the commits and the report. We reviewed and tested all of it and are responsible for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AHMAD (backup for the viva). Left: Target A's reduce function. The engine passes the selected rule number and the children's operands. imm: CONST emits nothing and returns '#k' for the parent to fold. Every other rule takes a fresh virtual register, emits one instruction and returns that register. Right: Target B's simulator for the binary forms. Plain ADD pops two values; ADDM and ADDI combine the top of the stack with a memory or immediate operand, and the operand kind must match the suffix. Underflow or a final stack depth other than 1 is an error.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AHMAD (backup for the viva). One line in tests/cases.txt is an id, options and an expression. The runner runs build/burs with them, appends the exit status, and compares the whole output with tests/expected/&lt;id&gt;.out using cmp. A difference prints the diff and counts as a failure. After a deliberate change, --update rewrites the expected files; the diff is then reviewed in git before committing, so an accidental change cannot slip in silently. Then the suite and exhaustive modes run, and the script exits non-zero if anything failed.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33A"/>
        </a:solidFill>
        <a:effectLst/>
      </p:bgPr>
    </p:bg>
    <p:spTree>
      <p:nvGrpSpPr>
        <p:cNvPr id="1" name=""/>
        <p:cNvGrpSpPr/>
        <p:nvPr/>
      </p:nvGrpSpPr>
      <p:grpSpPr/>
      <p:sp>
        <p:nvSpPr>
          <p:cNvPr id="2" name="TextBox 1"/>
          <p:cNvSpPr txBox="1"/>
          <p:nvPr/>
        </p:nvSpPr>
        <p:spPr>
          <a:xfrm>
            <a:off x="685800" y="685800"/>
            <a:ext cx="6583680" cy="365760"/>
          </a:xfrm>
          <a:prstGeom prst="rect">
            <a:avLst/>
          </a:prstGeom>
          <a:noFill/>
        </p:spPr>
        <p:txBody>
          <a:bodyPr wrap="square" lIns="0" rIns="0" tIns="0" bIns="0" anchor="t">
            <a:spAutoFit/>
          </a:bodyPr>
          <a:lstStyle/>
          <a:p>
            <a:pPr algn="l">
              <a:spcAft>
                <a:spcPts val="400"/>
              </a:spcAft>
            </a:pPr>
            <a:r>
              <a:rPr sz="1300" b="1" i="0">
                <a:solidFill>
                  <a:srgbClr val="E89A2C"/>
                </a:solidFill>
                <a:latin typeface="Calibri"/>
              </a:rPr>
              <a:t>BCSE307L COMPILER DESIGN  ·  PROJECT A24  ·  TEAM 8  ·  REVIEW 3</a:t>
            </a:r>
          </a:p>
        </p:txBody>
      </p:sp>
      <p:sp>
        <p:nvSpPr>
          <p:cNvPr id="3" name="TextBox 2"/>
          <p:cNvSpPr txBox="1"/>
          <p:nvPr/>
        </p:nvSpPr>
        <p:spPr>
          <a:xfrm>
            <a:off x="685800" y="1234440"/>
            <a:ext cx="6766560" cy="1920240"/>
          </a:xfrm>
          <a:prstGeom prst="rect">
            <a:avLst/>
          </a:prstGeom>
          <a:noFill/>
        </p:spPr>
        <p:txBody>
          <a:bodyPr wrap="square" lIns="0" rIns="0" tIns="0" bIns="0" anchor="t">
            <a:spAutoFit/>
          </a:bodyPr>
          <a:lstStyle/>
          <a:p>
            <a:pPr algn="l">
              <a:lnSpc>
                <a:spcPct val="95000"/>
              </a:lnSpc>
              <a:spcAft>
                <a:spcPts val="400"/>
              </a:spcAft>
            </a:pPr>
            <a:r>
              <a:rPr sz="4400" b="1" i="0">
                <a:solidFill>
                  <a:srgbClr val="FFFFFF"/>
                </a:solidFill>
                <a:latin typeface="Calibri"/>
              </a:rPr>
              <a:t>BURS-Based Retargetable Instruction Selection</a:t>
            </a:r>
          </a:p>
        </p:txBody>
      </p:sp>
      <p:sp>
        <p:nvSpPr>
          <p:cNvPr id="4" name="TextBox 3"/>
          <p:cNvSpPr txBox="1"/>
          <p:nvPr/>
        </p:nvSpPr>
        <p:spPr>
          <a:xfrm>
            <a:off x="685800" y="3154680"/>
            <a:ext cx="6400800" cy="822960"/>
          </a:xfrm>
          <a:prstGeom prst="rect">
            <a:avLst/>
          </a:prstGeom>
          <a:noFill/>
        </p:spPr>
        <p:txBody>
          <a:bodyPr wrap="square" lIns="0" rIns="0" tIns="0" bIns="0" anchor="t">
            <a:spAutoFit/>
          </a:bodyPr>
          <a:lstStyle/>
          <a:p>
            <a:pPr algn="l">
              <a:spcAft>
                <a:spcPts val="400"/>
              </a:spcAft>
            </a:pPr>
            <a:r>
              <a:rPr sz="1800" b="0" i="0">
                <a:solidFill>
                  <a:srgbClr val="C8D4E2"/>
                </a:solidFill>
                <a:latin typeface="Calibri"/>
              </a:rPr>
              <a:t>One IR, one bottom-up rewrite engine, two instruction sets: cost-optimal code, verified by simulation</a:t>
            </a:r>
          </a:p>
        </p:txBody>
      </p:sp>
      <p:sp>
        <p:nvSpPr>
          <p:cNvPr id="5" name="TextBox 4"/>
          <p:cNvSpPr txBox="1"/>
          <p:nvPr/>
        </p:nvSpPr>
        <p:spPr>
          <a:xfrm>
            <a:off x="685800" y="4343400"/>
            <a:ext cx="3108960" cy="320040"/>
          </a:xfrm>
          <a:prstGeom prst="rect">
            <a:avLst/>
          </a:prstGeom>
          <a:noFill/>
        </p:spPr>
        <p:txBody>
          <a:bodyPr wrap="square" lIns="0" rIns="0" tIns="0" bIns="0" anchor="t">
            <a:spAutoFit/>
          </a:bodyPr>
          <a:lstStyle/>
          <a:p>
            <a:pPr algn="l">
              <a:spcAft>
                <a:spcPts val="400"/>
              </a:spcAft>
            </a:pPr>
            <a:r>
              <a:rPr sz="1600" b="1" i="0">
                <a:solidFill>
                  <a:srgbClr val="FFFFFF"/>
                </a:solidFill>
                <a:latin typeface="Calibri"/>
              </a:rPr>
              <a:t>Vineet Kumar Mishra</a:t>
            </a:r>
          </a:p>
        </p:txBody>
      </p:sp>
      <p:sp>
        <p:nvSpPr>
          <p:cNvPr id="6" name="TextBox 5"/>
          <p:cNvSpPr txBox="1"/>
          <p:nvPr/>
        </p:nvSpPr>
        <p:spPr>
          <a:xfrm>
            <a:off x="685800" y="4645152"/>
            <a:ext cx="3108960" cy="320040"/>
          </a:xfrm>
          <a:prstGeom prst="rect">
            <a:avLst/>
          </a:prstGeom>
          <a:noFill/>
        </p:spPr>
        <p:txBody>
          <a:bodyPr wrap="square" lIns="0" rIns="0" tIns="0" bIns="0" anchor="t">
            <a:spAutoFit/>
          </a:bodyPr>
          <a:lstStyle/>
          <a:p>
            <a:pPr algn="l">
              <a:spcAft>
                <a:spcPts val="400"/>
              </a:spcAft>
            </a:pPr>
            <a:r>
              <a:rPr sz="1200" b="0" i="0">
                <a:solidFill>
                  <a:srgbClr val="9FB3C8"/>
                </a:solidFill>
                <a:latin typeface="Calibri"/>
              </a:rPr>
              <a:t>Project lead · IR &amp; architecture</a:t>
            </a:r>
          </a:p>
        </p:txBody>
      </p:sp>
      <p:sp>
        <p:nvSpPr>
          <p:cNvPr id="7" name="TextBox 6"/>
          <p:cNvSpPr txBox="1"/>
          <p:nvPr/>
        </p:nvSpPr>
        <p:spPr>
          <a:xfrm>
            <a:off x="3931920" y="4343400"/>
            <a:ext cx="3108960" cy="320040"/>
          </a:xfrm>
          <a:prstGeom prst="rect">
            <a:avLst/>
          </a:prstGeom>
          <a:noFill/>
        </p:spPr>
        <p:txBody>
          <a:bodyPr wrap="square" lIns="0" rIns="0" tIns="0" bIns="0" anchor="t">
            <a:spAutoFit/>
          </a:bodyPr>
          <a:lstStyle/>
          <a:p>
            <a:pPr algn="l">
              <a:spcAft>
                <a:spcPts val="400"/>
              </a:spcAft>
            </a:pPr>
            <a:r>
              <a:rPr sz="1600" b="1" i="0">
                <a:solidFill>
                  <a:srgbClr val="FFFFFF"/>
                </a:solidFill>
                <a:latin typeface="Calibri"/>
              </a:rPr>
              <a:t>Mayank Verma</a:t>
            </a:r>
          </a:p>
        </p:txBody>
      </p:sp>
      <p:sp>
        <p:nvSpPr>
          <p:cNvPr id="8" name="TextBox 7"/>
          <p:cNvSpPr txBox="1"/>
          <p:nvPr/>
        </p:nvSpPr>
        <p:spPr>
          <a:xfrm>
            <a:off x="3931920" y="4645152"/>
            <a:ext cx="3108960" cy="320040"/>
          </a:xfrm>
          <a:prstGeom prst="rect">
            <a:avLst/>
          </a:prstGeom>
          <a:noFill/>
        </p:spPr>
        <p:txBody>
          <a:bodyPr wrap="square" lIns="0" rIns="0" tIns="0" bIns="0" anchor="t">
            <a:spAutoFit/>
          </a:bodyPr>
          <a:lstStyle/>
          <a:p>
            <a:pPr algn="l">
              <a:spcAft>
                <a:spcPts val="400"/>
              </a:spcAft>
            </a:pPr>
            <a:r>
              <a:rPr sz="1200" b="0" i="0">
                <a:solidFill>
                  <a:srgbClr val="9FB3C8"/>
                </a:solidFill>
                <a:latin typeface="Calibri"/>
              </a:rPr>
              <a:t>Target grammars &amp; costs</a:t>
            </a:r>
          </a:p>
        </p:txBody>
      </p:sp>
      <p:sp>
        <p:nvSpPr>
          <p:cNvPr id="9" name="TextBox 8"/>
          <p:cNvSpPr txBox="1"/>
          <p:nvPr/>
        </p:nvSpPr>
        <p:spPr>
          <a:xfrm>
            <a:off x="685800" y="5093208"/>
            <a:ext cx="3108960" cy="320040"/>
          </a:xfrm>
          <a:prstGeom prst="rect">
            <a:avLst/>
          </a:prstGeom>
          <a:noFill/>
        </p:spPr>
        <p:txBody>
          <a:bodyPr wrap="square" lIns="0" rIns="0" tIns="0" bIns="0" anchor="t">
            <a:spAutoFit/>
          </a:bodyPr>
          <a:lstStyle/>
          <a:p>
            <a:pPr algn="l">
              <a:spcAft>
                <a:spcPts val="400"/>
              </a:spcAft>
            </a:pPr>
            <a:r>
              <a:rPr sz="1600" b="1" i="0">
                <a:solidFill>
                  <a:srgbClr val="FFFFFF"/>
                </a:solidFill>
                <a:latin typeface="Calibri"/>
              </a:rPr>
              <a:t>Utsav Keshrwani</a:t>
            </a:r>
          </a:p>
        </p:txBody>
      </p:sp>
      <p:sp>
        <p:nvSpPr>
          <p:cNvPr id="10" name="TextBox 9"/>
          <p:cNvSpPr txBox="1"/>
          <p:nvPr/>
        </p:nvSpPr>
        <p:spPr>
          <a:xfrm>
            <a:off x="685800" y="5394960"/>
            <a:ext cx="3108960" cy="320040"/>
          </a:xfrm>
          <a:prstGeom prst="rect">
            <a:avLst/>
          </a:prstGeom>
          <a:noFill/>
        </p:spPr>
        <p:txBody>
          <a:bodyPr wrap="square" lIns="0" rIns="0" tIns="0" bIns="0" anchor="t">
            <a:spAutoFit/>
          </a:bodyPr>
          <a:lstStyle/>
          <a:p>
            <a:pPr algn="l">
              <a:spcAft>
                <a:spcPts val="400"/>
              </a:spcAft>
            </a:pPr>
            <a:r>
              <a:rPr sz="1200" b="0" i="0">
                <a:solidFill>
                  <a:srgbClr val="9FB3C8"/>
                </a:solidFill>
                <a:latin typeface="Calibri"/>
              </a:rPr>
              <a:t>BURS matching engine</a:t>
            </a:r>
          </a:p>
        </p:txBody>
      </p:sp>
      <p:sp>
        <p:nvSpPr>
          <p:cNvPr id="11" name="TextBox 10"/>
          <p:cNvSpPr txBox="1"/>
          <p:nvPr/>
        </p:nvSpPr>
        <p:spPr>
          <a:xfrm>
            <a:off x="3931920" y="5093208"/>
            <a:ext cx="3108960" cy="320040"/>
          </a:xfrm>
          <a:prstGeom prst="rect">
            <a:avLst/>
          </a:prstGeom>
          <a:noFill/>
        </p:spPr>
        <p:txBody>
          <a:bodyPr wrap="square" lIns="0" rIns="0" tIns="0" bIns="0" anchor="t">
            <a:spAutoFit/>
          </a:bodyPr>
          <a:lstStyle/>
          <a:p>
            <a:pPr algn="l">
              <a:spcAft>
                <a:spcPts val="400"/>
              </a:spcAft>
            </a:pPr>
            <a:r>
              <a:rPr sz="1600" b="1" i="0">
                <a:solidFill>
                  <a:srgbClr val="FFFFFF"/>
                </a:solidFill>
                <a:latin typeface="Calibri"/>
              </a:rPr>
              <a:t>Ahmad Azim</a:t>
            </a:r>
          </a:p>
        </p:txBody>
      </p:sp>
      <p:sp>
        <p:nvSpPr>
          <p:cNvPr id="12" name="TextBox 11"/>
          <p:cNvSpPr txBox="1"/>
          <p:nvPr/>
        </p:nvSpPr>
        <p:spPr>
          <a:xfrm>
            <a:off x="3931920" y="5394960"/>
            <a:ext cx="3108960" cy="320040"/>
          </a:xfrm>
          <a:prstGeom prst="rect">
            <a:avLst/>
          </a:prstGeom>
          <a:noFill/>
        </p:spPr>
        <p:txBody>
          <a:bodyPr wrap="square" lIns="0" rIns="0" tIns="0" bIns="0" anchor="t">
            <a:spAutoFit/>
          </a:bodyPr>
          <a:lstStyle/>
          <a:p>
            <a:pPr algn="l">
              <a:spcAft>
                <a:spcPts val="400"/>
              </a:spcAft>
            </a:pPr>
            <a:r>
              <a:rPr sz="1200" b="0" i="0">
                <a:solidFill>
                  <a:srgbClr val="9FB3C8"/>
                </a:solidFill>
                <a:latin typeface="Calibri"/>
              </a:rPr>
              <a:t>Emission, testing &amp; release</a:t>
            </a:r>
          </a:p>
        </p:txBody>
      </p:sp>
      <p:sp>
        <p:nvSpPr>
          <p:cNvPr id="13" name="TextBox 12"/>
          <p:cNvSpPr txBox="1"/>
          <p:nvPr/>
        </p:nvSpPr>
        <p:spPr>
          <a:xfrm>
            <a:off x="685800" y="6080760"/>
            <a:ext cx="6858000" cy="320040"/>
          </a:xfrm>
          <a:prstGeom prst="rect">
            <a:avLst/>
          </a:prstGeom>
          <a:noFill/>
        </p:spPr>
        <p:txBody>
          <a:bodyPr wrap="square" lIns="0" rIns="0" tIns="0" bIns="0" anchor="t">
            <a:spAutoFit/>
          </a:bodyPr>
          <a:lstStyle/>
          <a:p>
            <a:pPr algn="l">
              <a:spcAft>
                <a:spcPts val="400"/>
              </a:spcAft>
            </a:pPr>
            <a:r>
              <a:rPr sz="1200" b="0" i="0">
                <a:solidFill>
                  <a:srgbClr val="9FB3C8"/>
                </a:solidFill>
                <a:latin typeface="Calibri"/>
              </a:rPr>
              <a:t>Faculty: Dr. Shalini L   ·   github.com/ahmadazim542/burs-instruction-selector</a:t>
            </a:r>
          </a:p>
        </p:txBody>
      </p:sp>
      <p:sp>
        <p:nvSpPr>
          <p:cNvPr id="14" name="Rounded Rectangle 13"/>
          <p:cNvSpPr/>
          <p:nvPr/>
        </p:nvSpPr>
        <p:spPr>
          <a:xfrm>
            <a:off x="10110978" y="2366010"/>
            <a:ext cx="1744218" cy="1954529"/>
          </a:xfrm>
          <a:prstGeom prst="roundRect">
            <a:avLst>
              <a:gd name="adj" fmla="val 18348"/>
            </a:avLst>
          </a:prstGeom>
          <a:solidFill>
            <a:srgbClr val="FCEBCF"/>
          </a:solidFill>
          <a:ln w="15875">
            <a:solidFill>
              <a:srgbClr val="E89A2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cxnSp>
        <p:nvCxnSpPr>
          <p:cNvPr id="15" name="Connector 14"/>
          <p:cNvCxnSpPr/>
          <p:nvPr/>
        </p:nvCxnSpPr>
        <p:spPr>
          <a:xfrm flipH="1">
            <a:off x="8117586" y="1687068"/>
            <a:ext cx="1209294" cy="1104138"/>
          </a:xfrm>
          <a:prstGeom prst="line">
            <a:avLst/>
          </a:prstGeom>
          <a:ln w="22225">
            <a:solidFill>
              <a:srgbClr val="8FA3B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326880" y="1687068"/>
            <a:ext cx="1209294" cy="1104138"/>
          </a:xfrm>
          <a:prstGeom prst="line">
            <a:avLst/>
          </a:prstGeom>
          <a:ln w="22225">
            <a:solidFill>
              <a:srgbClr val="8FA3B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642348" y="2791206"/>
            <a:ext cx="893826" cy="1104138"/>
          </a:xfrm>
          <a:prstGeom prst="line">
            <a:avLst/>
          </a:prstGeom>
          <a:ln w="22225">
            <a:solidFill>
              <a:srgbClr val="8FA3B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36174" y="2791206"/>
            <a:ext cx="893826" cy="1104138"/>
          </a:xfrm>
          <a:prstGeom prst="line">
            <a:avLst/>
          </a:prstGeom>
          <a:ln w="22225">
            <a:solidFill>
              <a:srgbClr val="8FA3B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9011411" y="1371600"/>
            <a:ext cx="630936" cy="630936"/>
          </a:xfrm>
          <a:prstGeom prst="ellipse">
            <a:avLst/>
          </a:prstGeom>
          <a:solidFill>
            <a:srgbClr val="0E767A"/>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ADD</a:t>
            </a:r>
          </a:p>
        </p:txBody>
      </p:sp>
      <p:sp>
        <p:nvSpPr>
          <p:cNvPr id="20" name="Oval 19"/>
          <p:cNvSpPr/>
          <p:nvPr/>
        </p:nvSpPr>
        <p:spPr>
          <a:xfrm>
            <a:off x="7802117" y="2475738"/>
            <a:ext cx="630936" cy="630936"/>
          </a:xfrm>
          <a:prstGeom prst="ellipse">
            <a:avLst/>
          </a:prstGeom>
          <a:solidFill>
            <a:srgbClr val="2C3E5C"/>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800" b="1" i="0">
                <a:solidFill>
                  <a:srgbClr val="FFFFFF"/>
                </a:solidFill>
                <a:latin typeface="Calibri"/>
              </a:rPr>
              <a:t>a</a:t>
            </a:r>
          </a:p>
        </p:txBody>
      </p:sp>
      <p:sp>
        <p:nvSpPr>
          <p:cNvPr id="21" name="Oval 20"/>
          <p:cNvSpPr/>
          <p:nvPr/>
        </p:nvSpPr>
        <p:spPr>
          <a:xfrm>
            <a:off x="10220705" y="2475738"/>
            <a:ext cx="630936" cy="630936"/>
          </a:xfrm>
          <a:prstGeom prst="ellipse">
            <a:avLst/>
          </a:prstGeom>
          <a:solidFill>
            <a:srgbClr val="E89A2C"/>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MUL</a:t>
            </a:r>
          </a:p>
        </p:txBody>
      </p:sp>
      <p:sp>
        <p:nvSpPr>
          <p:cNvPr id="22" name="Oval 21"/>
          <p:cNvSpPr/>
          <p:nvPr/>
        </p:nvSpPr>
        <p:spPr>
          <a:xfrm>
            <a:off x="9326880" y="3579876"/>
            <a:ext cx="630936" cy="630936"/>
          </a:xfrm>
          <a:prstGeom prst="ellipse">
            <a:avLst/>
          </a:prstGeom>
          <a:solidFill>
            <a:srgbClr val="2C3E5C"/>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800" b="1" i="0">
                <a:solidFill>
                  <a:srgbClr val="FFFFFF"/>
                </a:solidFill>
                <a:latin typeface="Calibri"/>
              </a:rPr>
              <a:t>b</a:t>
            </a:r>
          </a:p>
        </p:txBody>
      </p:sp>
      <p:sp>
        <p:nvSpPr>
          <p:cNvPr id="23" name="Oval 22"/>
          <p:cNvSpPr/>
          <p:nvPr/>
        </p:nvSpPr>
        <p:spPr>
          <a:xfrm>
            <a:off x="11114532" y="3579876"/>
            <a:ext cx="630936" cy="630936"/>
          </a:xfrm>
          <a:prstGeom prst="ellipse">
            <a:avLst/>
          </a:prstGeom>
          <a:solidFill>
            <a:srgbClr val="E89A2C"/>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800" b="1" i="0">
                <a:solidFill>
                  <a:srgbClr val="FFFFFF"/>
                </a:solidFill>
                <a:latin typeface="Calibri"/>
              </a:rPr>
              <a:t>c</a:t>
            </a:r>
          </a:p>
        </p:txBody>
      </p:sp>
      <p:sp>
        <p:nvSpPr>
          <p:cNvPr id="24" name="TextBox 23"/>
          <p:cNvSpPr txBox="1"/>
          <p:nvPr/>
        </p:nvSpPr>
        <p:spPr>
          <a:xfrm>
            <a:off x="7406640" y="4846320"/>
            <a:ext cx="4572000" cy="320040"/>
          </a:xfrm>
          <a:prstGeom prst="rect">
            <a:avLst/>
          </a:prstGeom>
          <a:noFill/>
        </p:spPr>
        <p:txBody>
          <a:bodyPr wrap="square" lIns="0" rIns="0" tIns="0" bIns="0" anchor="t">
            <a:spAutoFit/>
          </a:bodyPr>
          <a:lstStyle/>
          <a:p>
            <a:pPr algn="ctr">
              <a:spcAft>
                <a:spcPts val="400"/>
              </a:spcAft>
            </a:pPr>
            <a:r>
              <a:rPr sz="1300" b="0" i="0">
                <a:solidFill>
                  <a:srgbClr val="E89A2C"/>
                </a:solidFill>
                <a:latin typeface="Consolas"/>
              </a:rPr>
              <a:t>PUSH [a]; PUSH [b]; MULM [c]; ADD</a:t>
            </a:r>
          </a:p>
        </p:txBody>
      </p:sp>
      <p:sp>
        <p:nvSpPr>
          <p:cNvPr id="25" name="TextBox 24"/>
          <p:cNvSpPr txBox="1"/>
          <p:nvPr/>
        </p:nvSpPr>
        <p:spPr>
          <a:xfrm>
            <a:off x="7406640" y="5230368"/>
            <a:ext cx="4572000" cy="320040"/>
          </a:xfrm>
          <a:prstGeom prst="rect">
            <a:avLst/>
          </a:prstGeom>
          <a:noFill/>
        </p:spPr>
        <p:txBody>
          <a:bodyPr wrap="square" lIns="0" rIns="0" tIns="0" bIns="0" anchor="t">
            <a:spAutoFit/>
          </a:bodyPr>
          <a:lstStyle/>
          <a:p>
            <a:pPr algn="ctr">
              <a:spcAft>
                <a:spcPts val="400"/>
              </a:spcAft>
            </a:pPr>
            <a:r>
              <a:rPr sz="1200" b="0" i="0">
                <a:solidFill>
                  <a:srgbClr val="9FB3C8"/>
                </a:solidFill>
                <a:latin typeface="Calibri"/>
              </a:rPr>
              <a:t>a + b * c on Target B: one MULM covers two tree nodes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Instruction selection is a covering problem</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The same IR tree can be compiled many ways; the cheapest choice depends on the target machine</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Vineet</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2</a:t>
            </a:r>
          </a:p>
        </p:txBody>
      </p:sp>
      <p:sp>
        <p:nvSpPr>
          <p:cNvPr id="7" name="TextBox 6"/>
          <p:cNvSpPr txBox="1"/>
          <p:nvPr/>
        </p:nvSpPr>
        <p:spPr>
          <a:xfrm>
            <a:off x="548640" y="1508760"/>
            <a:ext cx="548640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Example: load(a) + 4 on Target A</a:t>
            </a:r>
          </a:p>
        </p:txBody>
      </p:sp>
      <p:sp>
        <p:nvSpPr>
          <p:cNvPr id="8" name="Rounded Rectangle 7"/>
          <p:cNvSpPr/>
          <p:nvPr/>
        </p:nvSpPr>
        <p:spPr>
          <a:xfrm>
            <a:off x="548640" y="1965960"/>
            <a:ext cx="2697480" cy="18288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9" name="TextBox 8"/>
          <p:cNvSpPr txBox="1"/>
          <p:nvPr/>
        </p:nvSpPr>
        <p:spPr>
          <a:xfrm>
            <a:off x="749808" y="2093976"/>
            <a:ext cx="2331720"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NAIVE: cost 4</a:t>
            </a:r>
          </a:p>
        </p:txBody>
      </p:sp>
      <p:sp>
        <p:nvSpPr>
          <p:cNvPr id="10" name="TextBox 9"/>
          <p:cNvSpPr txBox="1"/>
          <p:nvPr/>
        </p:nvSpPr>
        <p:spPr>
          <a:xfrm>
            <a:off x="749808" y="2423160"/>
            <a:ext cx="2331720" cy="126187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LOAD  r0,[a]</a:t>
            </a:r>
          </a:p>
          <a:p>
            <a:pPr algn="l">
              <a:spcAft>
                <a:spcPts val="0"/>
              </a:spcAft>
            </a:pPr>
            <a:r>
              <a:rPr sz="1300" b="0" i="0">
                <a:solidFill>
                  <a:srgbClr val="E6EDF3"/>
                </a:solidFill>
                <a:latin typeface="Consolas"/>
              </a:rPr>
              <a:t>LOAD  r1,[r0]</a:t>
            </a:r>
          </a:p>
          <a:p>
            <a:pPr algn="l">
              <a:spcAft>
                <a:spcPts val="0"/>
              </a:spcAft>
            </a:pPr>
            <a:r>
              <a:rPr sz="1300" b="0" i="0">
                <a:solidFill>
                  <a:srgbClr val="E6EDF3"/>
                </a:solidFill>
                <a:latin typeface="Consolas"/>
              </a:rPr>
              <a:t>LOADI r2,#4</a:t>
            </a:r>
          </a:p>
          <a:p>
            <a:pPr algn="l">
              <a:spcAft>
                <a:spcPts val="0"/>
              </a:spcAft>
            </a:pPr>
            <a:r>
              <a:rPr sz="1300" b="0" i="0">
                <a:solidFill>
                  <a:srgbClr val="E6EDF3"/>
                </a:solidFill>
                <a:latin typeface="Consolas"/>
              </a:rPr>
              <a:t>ADD   r3,r1,r2</a:t>
            </a:r>
          </a:p>
        </p:txBody>
      </p:sp>
      <p:sp>
        <p:nvSpPr>
          <p:cNvPr id="11" name="Rounded Rectangle 10"/>
          <p:cNvSpPr/>
          <p:nvPr/>
        </p:nvSpPr>
        <p:spPr>
          <a:xfrm>
            <a:off x="3429000" y="1965960"/>
            <a:ext cx="2697480" cy="182880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2" name="TextBox 11"/>
          <p:cNvSpPr txBox="1"/>
          <p:nvPr/>
        </p:nvSpPr>
        <p:spPr>
          <a:xfrm>
            <a:off x="3630168" y="2093976"/>
            <a:ext cx="2331720"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BURS: cost 3</a:t>
            </a:r>
          </a:p>
        </p:txBody>
      </p:sp>
      <p:sp>
        <p:nvSpPr>
          <p:cNvPr id="13" name="TextBox 12"/>
          <p:cNvSpPr txBox="1"/>
          <p:nvPr/>
        </p:nvSpPr>
        <p:spPr>
          <a:xfrm>
            <a:off x="3630168" y="2423160"/>
            <a:ext cx="2331720" cy="126187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LOAD  r0,[a]</a:t>
            </a:r>
          </a:p>
          <a:p>
            <a:pPr algn="l">
              <a:spcAft>
                <a:spcPts val="0"/>
              </a:spcAft>
            </a:pPr>
            <a:r>
              <a:rPr sz="1300" b="0" i="0">
                <a:solidFill>
                  <a:srgbClr val="E6EDF3"/>
                </a:solidFill>
                <a:latin typeface="Consolas"/>
              </a:rPr>
              <a:t>LOAD  r1,[r0]</a:t>
            </a:r>
          </a:p>
          <a:p>
            <a:pPr algn="l">
              <a:spcAft>
                <a:spcPts val="0"/>
              </a:spcAft>
            </a:pPr>
            <a:r>
              <a:rPr sz="1300" b="0" i="0">
                <a:solidFill>
                  <a:srgbClr val="E89A2C"/>
                </a:solidFill>
                <a:latin typeface="Consolas"/>
              </a:rPr>
              <a:t>ADDI  r2,r1,#4</a:t>
            </a:r>
          </a:p>
        </p:txBody>
      </p:sp>
      <p:sp>
        <p:nvSpPr>
          <p:cNvPr id="14" name="Rounded Rectangle 13"/>
          <p:cNvSpPr/>
          <p:nvPr/>
        </p:nvSpPr>
        <p:spPr>
          <a:xfrm>
            <a:off x="548640" y="4069080"/>
            <a:ext cx="5577840" cy="2148840"/>
          </a:xfrm>
          <a:prstGeom prst="roundRect">
            <a:avLst>
              <a:gd name="adj" fmla="val 5106"/>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5" name="TextBox 14"/>
          <p:cNvSpPr txBox="1"/>
          <p:nvPr/>
        </p:nvSpPr>
        <p:spPr>
          <a:xfrm>
            <a:off x="777240" y="4315968"/>
            <a:ext cx="5166359" cy="365760"/>
          </a:xfrm>
          <a:prstGeom prst="rect">
            <a:avLst/>
          </a:prstGeom>
          <a:noFill/>
        </p:spPr>
        <p:txBody>
          <a:bodyPr wrap="square" lIns="0" rIns="0" tIns="0" bIns="0" anchor="ctr">
            <a:spAutoFit/>
          </a:bodyPr>
          <a:lstStyle/>
          <a:p>
            <a:pPr algn="l">
              <a:spcAft>
                <a:spcPts val="400"/>
              </a:spcAft>
            </a:pPr>
            <a:r>
              <a:rPr sz="1600" b="1" i="0">
                <a:solidFill>
                  <a:srgbClr val="16233A"/>
                </a:solidFill>
                <a:latin typeface="Calibri"/>
              </a:rPr>
              <a:t>Why it matters</a:t>
            </a:r>
          </a:p>
        </p:txBody>
      </p:sp>
      <p:sp>
        <p:nvSpPr>
          <p:cNvPr id="16" name="TextBox 15"/>
          <p:cNvSpPr txBox="1"/>
          <p:nvPr/>
        </p:nvSpPr>
        <p:spPr>
          <a:xfrm>
            <a:off x="777240" y="4800600"/>
            <a:ext cx="5166359" cy="1280160"/>
          </a:xfrm>
          <a:prstGeom prst="rect">
            <a:avLst/>
          </a:prstGeom>
          <a:noFill/>
        </p:spPr>
        <p:txBody>
          <a:bodyPr wrap="square" lIns="0" rIns="0" tIns="0" bIns="0" anchor="t">
            <a:spAutoFit/>
          </a:bodyPr>
          <a:lstStyle/>
          <a:p>
            <a:pPr algn="l">
              <a:spcAft>
                <a:spcPts val="500"/>
              </a:spcAft>
            </a:pPr>
            <a:r>
              <a:rPr sz="1400" b="1" i="0">
                <a:solidFill>
                  <a:srgbClr val="1F2933"/>
                </a:solidFill>
                <a:latin typeface="Calibri"/>
              </a:rPr>
              <a:t>Optimality: </a:t>
            </a:r>
            <a:r>
              <a:rPr sz="1400" b="0" i="0">
                <a:solidFill>
                  <a:srgbClr val="1F2933"/>
                </a:solidFill>
                <a:latin typeface="Calibri"/>
              </a:rPr>
              <a:t>choices interact across subtrees, so greedy per-node choices miss cheaper code</a:t>
            </a:r>
          </a:p>
          <a:p>
            <a:pPr algn="l">
              <a:spcAft>
                <a:spcPts val="500"/>
              </a:spcAft>
            </a:pPr>
            <a:r>
              <a:rPr sz="1400" b="1" i="0">
                <a:solidFill>
                  <a:srgbClr val="1F2933"/>
                </a:solidFill>
                <a:latin typeface="Calibri"/>
              </a:rPr>
              <a:t>Retargeting: </a:t>
            </a:r>
            <a:r>
              <a:rPr sz="1400" b="0" i="0">
                <a:solidFill>
                  <a:srgbClr val="1F2933"/>
                </a:solidFill>
                <a:latin typeface="Calibri"/>
              </a:rPr>
              <a:t>each processor has different instructions and costs; hand-written selectors do not port</a:t>
            </a:r>
          </a:p>
          <a:p>
            <a:pPr algn="l">
              <a:spcAft>
                <a:spcPts val="500"/>
              </a:spcAft>
            </a:pPr>
            <a:r>
              <a:rPr sz="1400" b="1" i="0">
                <a:solidFill>
                  <a:srgbClr val="1F2933"/>
                </a:solidFill>
                <a:latin typeface="Calibri"/>
              </a:rPr>
              <a:t>Teaching value: </a:t>
            </a:r>
            <a:r>
              <a:rPr sz="1400" b="0" i="0">
                <a:solidFill>
                  <a:srgbClr val="1F2933"/>
                </a:solidFill>
                <a:latin typeface="Calibri"/>
              </a:rPr>
              <a:t>a complete, inspectable back-end technique in under 2,000 lines</a:t>
            </a:r>
          </a:p>
        </p:txBody>
      </p:sp>
      <p:sp>
        <p:nvSpPr>
          <p:cNvPr id="17" name="Rounded Rectangle 16"/>
          <p:cNvSpPr/>
          <p:nvPr/>
        </p:nvSpPr>
        <p:spPr>
          <a:xfrm>
            <a:off x="6537960" y="1508760"/>
            <a:ext cx="5120640" cy="4709160"/>
          </a:xfrm>
          <a:prstGeom prst="roundRect">
            <a:avLst>
              <a:gd name="adj" fmla="val 233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8" name="TextBox 17"/>
          <p:cNvSpPr txBox="1"/>
          <p:nvPr/>
        </p:nvSpPr>
        <p:spPr>
          <a:xfrm>
            <a:off x="6812280" y="1691640"/>
            <a:ext cx="457200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Measurable objectives: 7 / 7 achieved</a:t>
            </a:r>
          </a:p>
        </p:txBody>
      </p:sp>
      <p:sp>
        <p:nvSpPr>
          <p:cNvPr id="19" name="Oval 18"/>
          <p:cNvSpPr/>
          <p:nvPr/>
        </p:nvSpPr>
        <p:spPr>
          <a:xfrm>
            <a:off x="6876288" y="2221991"/>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20" name="TextBox 19"/>
          <p:cNvSpPr txBox="1"/>
          <p:nvPr/>
        </p:nvSpPr>
        <p:spPr>
          <a:xfrm>
            <a:off x="7315200" y="221284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Expression-tree IR for CONST, VAR, ADD, SUB, MUL, LOAD</a:t>
            </a:r>
          </a:p>
        </p:txBody>
      </p:sp>
      <p:sp>
        <p:nvSpPr>
          <p:cNvPr id="21" name="Oval 20"/>
          <p:cNvSpPr/>
          <p:nvPr/>
        </p:nvSpPr>
        <p:spPr>
          <a:xfrm>
            <a:off x="6876288" y="2770632"/>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22" name="TextBox 21"/>
          <p:cNvSpPr txBox="1"/>
          <p:nvPr/>
        </p:nvSpPr>
        <p:spPr>
          <a:xfrm>
            <a:off x="7315200" y="276148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Target patterns, templates and costs (9 + 14 rules)</a:t>
            </a:r>
          </a:p>
        </p:txBody>
      </p:sp>
      <p:sp>
        <p:nvSpPr>
          <p:cNvPr id="23" name="Oval 22"/>
          <p:cNvSpPr/>
          <p:nvPr/>
        </p:nvSpPr>
        <p:spPr>
          <a:xfrm>
            <a:off x="6876288" y="3319272"/>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24" name="TextBox 23"/>
          <p:cNvSpPr txBox="1"/>
          <p:nvPr/>
        </p:nvSpPr>
        <p:spPr>
          <a:xfrm>
            <a:off x="7315200" y="331012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Bottom-up labeling with DP cost computation</a:t>
            </a:r>
          </a:p>
        </p:txBody>
      </p:sp>
      <p:sp>
        <p:nvSpPr>
          <p:cNvPr id="25" name="Oval 24"/>
          <p:cNvSpPr/>
          <p:nvPr/>
        </p:nvSpPr>
        <p:spPr>
          <a:xfrm>
            <a:off x="6876288" y="3867911"/>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26" name="TextBox 25"/>
          <p:cNvSpPr txBox="1"/>
          <p:nvPr/>
        </p:nvSpPr>
        <p:spPr>
          <a:xfrm>
            <a:off x="7315200" y="385876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Minimum-cost cover selected when rules compete</a:t>
            </a:r>
          </a:p>
        </p:txBody>
      </p:sp>
      <p:sp>
        <p:nvSpPr>
          <p:cNvPr id="27" name="Oval 26"/>
          <p:cNvSpPr/>
          <p:nvPr/>
        </p:nvSpPr>
        <p:spPr>
          <a:xfrm>
            <a:off x="6876288" y="4416552"/>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28" name="TextBox 27"/>
          <p:cNvSpPr txBox="1"/>
          <p:nvPr/>
        </p:nvSpPr>
        <p:spPr>
          <a:xfrm>
            <a:off x="7315200" y="440740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Backtrack the cover and emit target instructions</a:t>
            </a:r>
          </a:p>
        </p:txBody>
      </p:sp>
      <p:sp>
        <p:nvSpPr>
          <p:cNvPr id="29" name="Oval 28"/>
          <p:cNvSpPr/>
          <p:nvPr/>
        </p:nvSpPr>
        <p:spPr>
          <a:xfrm>
            <a:off x="6876288" y="4965192"/>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30" name="TextBox 29"/>
          <p:cNvSpPr txBox="1"/>
          <p:nvPr/>
        </p:nvSpPr>
        <p:spPr>
          <a:xfrm>
            <a:off x="7315200" y="495604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Two ISAs from one target-independent IR and engine</a:t>
            </a:r>
          </a:p>
        </p:txBody>
      </p:sp>
      <p:sp>
        <p:nvSpPr>
          <p:cNvPr id="31" name="Oval 30"/>
          <p:cNvSpPr/>
          <p:nvPr/>
        </p:nvSpPr>
        <p:spPr>
          <a:xfrm>
            <a:off x="6876288" y="5513831"/>
            <a:ext cx="292608" cy="29260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Calibri"/>
              </a:rPr>
              <a:t>✓</a:t>
            </a:r>
          </a:p>
        </p:txBody>
      </p:sp>
      <p:sp>
        <p:nvSpPr>
          <p:cNvPr id="32" name="TextBox 31"/>
          <p:cNvSpPr txBox="1"/>
          <p:nvPr/>
        </p:nvSpPr>
        <p:spPr>
          <a:xfrm>
            <a:off x="7315200" y="5504688"/>
            <a:ext cx="4160520" cy="457200"/>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Reproducible tests and evidence: 27 / 27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Review 2 actions are closed</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Everything pending at Review 2 is done; scope is unchanged from Review 1</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Vineet</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3</a:t>
            </a:r>
          </a:p>
        </p:txBody>
      </p:sp>
      <p:sp>
        <p:nvSpPr>
          <p:cNvPr id="7" name="Rounded Rectangle 6"/>
          <p:cNvSpPr/>
          <p:nvPr/>
        </p:nvSpPr>
        <p:spPr>
          <a:xfrm>
            <a:off x="548640" y="1508760"/>
            <a:ext cx="3520440" cy="1234440"/>
          </a:xfrm>
          <a:prstGeom prst="roundRect">
            <a:avLst>
              <a:gd name="adj" fmla="val 8888"/>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77240" y="1636776"/>
            <a:ext cx="3063240" cy="685800"/>
          </a:xfrm>
          <a:prstGeom prst="rect">
            <a:avLst/>
          </a:prstGeom>
          <a:noFill/>
        </p:spPr>
        <p:txBody>
          <a:bodyPr wrap="square" lIns="0" rIns="0" tIns="0" bIns="0" anchor="ctr">
            <a:spAutoFit/>
          </a:bodyPr>
          <a:lstStyle/>
          <a:p>
            <a:pPr algn="l">
              <a:spcAft>
                <a:spcPts val="400"/>
              </a:spcAft>
            </a:pPr>
            <a:r>
              <a:rPr sz="4000" b="1" i="0">
                <a:solidFill>
                  <a:srgbClr val="0E767A"/>
                </a:solidFill>
                <a:latin typeface="Calibri"/>
              </a:rPr>
              <a:t>0% → 100%</a:t>
            </a:r>
          </a:p>
        </p:txBody>
      </p:sp>
      <p:sp>
        <p:nvSpPr>
          <p:cNvPr id="9" name="TextBox 8"/>
          <p:cNvSpPr txBox="1"/>
          <p:nvPr/>
        </p:nvSpPr>
        <p:spPr>
          <a:xfrm>
            <a:off x="777240" y="2313432"/>
            <a:ext cx="3063240" cy="36576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Target B: rule table, emitter, simulator</a:t>
            </a:r>
          </a:p>
        </p:txBody>
      </p:sp>
      <p:sp>
        <p:nvSpPr>
          <p:cNvPr id="10" name="Rounded Rectangle 9"/>
          <p:cNvSpPr/>
          <p:nvPr/>
        </p:nvSpPr>
        <p:spPr>
          <a:xfrm>
            <a:off x="4334256" y="1508760"/>
            <a:ext cx="3520440" cy="1234440"/>
          </a:xfrm>
          <a:prstGeom prst="roundRect">
            <a:avLst>
              <a:gd name="adj" fmla="val 8888"/>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4562856" y="1636776"/>
            <a:ext cx="3063240" cy="685800"/>
          </a:xfrm>
          <a:prstGeom prst="rect">
            <a:avLst/>
          </a:prstGeom>
          <a:noFill/>
        </p:spPr>
        <p:txBody>
          <a:bodyPr wrap="square" lIns="0" rIns="0" tIns="0" bIns="0" anchor="ctr">
            <a:spAutoFit/>
          </a:bodyPr>
          <a:lstStyle/>
          <a:p>
            <a:pPr algn="l">
              <a:spcAft>
                <a:spcPts val="400"/>
              </a:spcAft>
            </a:pPr>
            <a:r>
              <a:rPr sz="4000" b="1" i="0">
                <a:solidFill>
                  <a:srgbClr val="0E767A"/>
                </a:solidFill>
                <a:latin typeface="Calibri"/>
              </a:rPr>
              <a:t>6 → 27</a:t>
            </a:r>
          </a:p>
        </p:txBody>
      </p:sp>
      <p:sp>
        <p:nvSpPr>
          <p:cNvPr id="12" name="TextBox 11"/>
          <p:cNvSpPr txBox="1"/>
          <p:nvPr/>
        </p:nvSpPr>
        <p:spPr>
          <a:xfrm>
            <a:off x="4562856" y="2313432"/>
            <a:ext cx="3063240" cy="36576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automated checks (was: 6 hand-checked expressions)</a:t>
            </a:r>
          </a:p>
        </p:txBody>
      </p:sp>
      <p:sp>
        <p:nvSpPr>
          <p:cNvPr id="13" name="Rounded Rectangle 12"/>
          <p:cNvSpPr/>
          <p:nvPr/>
        </p:nvSpPr>
        <p:spPr>
          <a:xfrm>
            <a:off x="8119872" y="1508760"/>
            <a:ext cx="3520440" cy="1234440"/>
          </a:xfrm>
          <a:prstGeom prst="roundRect">
            <a:avLst>
              <a:gd name="adj" fmla="val 8888"/>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4" name="TextBox 13"/>
          <p:cNvSpPr txBox="1"/>
          <p:nvPr/>
        </p:nvSpPr>
        <p:spPr>
          <a:xfrm>
            <a:off x="8348472" y="1636776"/>
            <a:ext cx="3063240" cy="685800"/>
          </a:xfrm>
          <a:prstGeom prst="rect">
            <a:avLst/>
          </a:prstGeom>
          <a:noFill/>
        </p:spPr>
        <p:txBody>
          <a:bodyPr wrap="square" lIns="0" rIns="0" tIns="0" bIns="0" anchor="ctr">
            <a:spAutoFit/>
          </a:bodyPr>
          <a:lstStyle/>
          <a:p>
            <a:pPr algn="l">
              <a:spcAft>
                <a:spcPts val="400"/>
              </a:spcAft>
            </a:pPr>
            <a:r>
              <a:rPr sz="4000" b="1" i="0">
                <a:solidFill>
                  <a:srgbClr val="0E767A"/>
                </a:solidFill>
                <a:latin typeface="Calibri"/>
              </a:rPr>
              <a:t>Public</a:t>
            </a:r>
          </a:p>
        </p:txBody>
      </p:sp>
      <p:sp>
        <p:nvSpPr>
          <p:cNvPr id="15" name="TextBox 14"/>
          <p:cNvSpPr txBox="1"/>
          <p:nvPr/>
        </p:nvSpPr>
        <p:spPr>
          <a:xfrm>
            <a:off x="8348472" y="2313432"/>
            <a:ext cx="3063240" cy="36576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GitHub repository with code, tests, results, docs</a:t>
            </a:r>
          </a:p>
        </p:txBody>
      </p:sp>
      <p:graphicFrame>
        <p:nvGraphicFramePr>
          <p:cNvPr id="16" name="Table 15"/>
          <p:cNvGraphicFramePr>
            <a:graphicFrameLocks noGrp="1"/>
          </p:cNvGraphicFramePr>
          <p:nvPr/>
        </p:nvGraphicFramePr>
        <p:xfrm>
          <a:off x="548640" y="3017520"/>
          <a:ext cx="11091672" cy="3008376"/>
        </p:xfrm>
        <a:graphic>
          <a:graphicData uri="http://schemas.openxmlformats.org/drawingml/2006/table">
            <a:tbl>
              <a:tblPr firstRow="1" bandRow="1">
                <a:tableStyleId>{5C22544A-7EE6-4342-B048-85BDC9FD1C3A}</a:tableStyleId>
              </a:tblPr>
              <a:tblGrid>
                <a:gridCol w="3291840"/>
                <a:gridCol w="6519672"/>
                <a:gridCol w="1280160"/>
              </a:tblGrid>
              <a:tr h="429768">
                <a:tc>
                  <a:txBody>
                    <a:bodyPr wrap="square"/>
                    <a:lstStyle/>
                    <a:p>
                      <a:pPr algn="l"/>
                      <a:r>
                        <a:rPr sz="1300" b="1" i="0">
                          <a:solidFill>
                            <a:srgbClr val="FFFFFF"/>
                          </a:solidFill>
                          <a:latin typeface="Calibri"/>
                        </a:rPr>
                        <a:t>Review 2 item</a:t>
                      </a:r>
                    </a:p>
                  </a:txBody>
                  <a:tcPr marL="73152" marR="73152" marT="27432" marB="27432" anchor="ctr">
                    <a:solidFill>
                      <a:srgbClr val="16233A"/>
                    </a:solidFill>
                  </a:tcPr>
                </a:tc>
                <a:tc>
                  <a:txBody>
                    <a:bodyPr wrap="square"/>
                    <a:lstStyle/>
                    <a:p>
                      <a:pPr algn="l"/>
                      <a:r>
                        <a:rPr sz="1300" b="1" i="0">
                          <a:solidFill>
                            <a:srgbClr val="FFFFFF"/>
                          </a:solidFill>
                          <a:latin typeface="Calibri"/>
                        </a:rPr>
                        <a:t>Action taken</a:t>
                      </a:r>
                    </a:p>
                  </a:txBody>
                  <a:tcPr marL="73152" marR="73152" marT="27432" marB="27432" anchor="ctr">
                    <a:solidFill>
                      <a:srgbClr val="16233A"/>
                    </a:solidFill>
                  </a:tcPr>
                </a:tc>
                <a:tc>
                  <a:txBody>
                    <a:bodyPr wrap="square"/>
                    <a:lstStyle/>
                    <a:p>
                      <a:pPr algn="l"/>
                      <a:r>
                        <a:rPr sz="1300" b="1" i="0">
                          <a:solidFill>
                            <a:srgbClr val="FFFFFF"/>
                          </a:solidFill>
                          <a:latin typeface="Calibri"/>
                        </a:rPr>
                        <a:t>Status</a:t>
                      </a:r>
                    </a:p>
                  </a:txBody>
                  <a:tcPr marL="73152" marR="73152" marT="27432" marB="27432" anchor="ctr">
                    <a:solidFill>
                      <a:srgbClr val="16233A"/>
                    </a:solidFill>
                  </a:tcPr>
                </a:tc>
              </a:tr>
              <a:tr h="429768">
                <a:tc>
                  <a:txBody>
                    <a:bodyPr wrap="square"/>
                    <a:lstStyle/>
                    <a:p>
                      <a:pPr algn="l"/>
                      <a:r>
                        <a:rPr sz="1300" b="0" i="0">
                          <a:solidFill>
                            <a:srgbClr val="1F2933"/>
                          </a:solidFill>
                          <a:latin typeface="Calibri"/>
                        </a:rPr>
                        <a:t>Target-B rule table not defined</a:t>
                      </a:r>
                    </a:p>
                  </a:txBody>
                  <a:tcPr marL="73152" marR="73152" marT="27432" marB="27432" anchor="ctr">
                    <a:solidFill>
                      <a:srgbClr val="FFFFFF"/>
                    </a:solidFill>
                  </a:tcPr>
                </a:tc>
                <a:tc>
                  <a:txBody>
                    <a:bodyPr wrap="square"/>
                    <a:lstStyle/>
                    <a:p>
                      <a:pPr algn="l"/>
                      <a:r>
                        <a:rPr sz="1300" b="0" i="0">
                          <a:solidFill>
                            <a:srgbClr val="1F2933"/>
                          </a:solidFill>
                          <a:latin typeface="Calibri"/>
                        </a:rPr>
                        <a:t>14-rule zero-address stack ISA with memory and immediate operands</a:t>
                      </a:r>
                    </a:p>
                  </a:txBody>
                  <a:tcPr marL="73152" marR="73152" marT="27432" marB="27432" anchor="ctr">
                    <a:solidFill>
                      <a:srgbClr val="FFFFFF"/>
                    </a:solidFill>
                  </a:tcPr>
                </a:tc>
                <a:tc>
                  <a:txBody>
                    <a:bodyPr wrap="square"/>
                    <a:lstStyle/>
                    <a:p>
                      <a:pPr algn="l"/>
                      <a:r>
                        <a:rPr sz="1300" b="1" i="0">
                          <a:solidFill>
                            <a:srgbClr val="2E8B57"/>
                          </a:solidFill>
                          <a:latin typeface="Calibri"/>
                        </a:rPr>
                        <a:t>Closed</a:t>
                      </a:r>
                    </a:p>
                  </a:txBody>
                  <a:tcPr marL="73152" marR="73152" marT="27432" marB="27432" anchor="ctr">
                    <a:solidFill>
                      <a:srgbClr val="FFFFFF"/>
                    </a:solidFill>
                  </a:tcPr>
                </a:tc>
              </a:tr>
              <a:tr h="429768">
                <a:tc>
                  <a:txBody>
                    <a:bodyPr wrap="square"/>
                    <a:lstStyle/>
                    <a:p>
                      <a:pPr algn="l"/>
                      <a:r>
                        <a:rPr sz="1300" b="0" i="0">
                          <a:solidFill>
                            <a:srgbClr val="1F2933"/>
                          </a:solidFill>
                          <a:latin typeface="Calibri"/>
                        </a:rPr>
                        <a:t>D3: Target-B emitter missing</a:t>
                      </a:r>
                    </a:p>
                  </a:txBody>
                  <a:tcPr marL="73152" marR="73152" marT="27432" marB="27432" anchor="ctr">
                    <a:solidFill>
                      <a:srgbClr val="F1F4F7"/>
                    </a:solidFill>
                  </a:tcPr>
                </a:tc>
                <a:tc>
                  <a:txBody>
                    <a:bodyPr wrap="square"/>
                    <a:lstStyle/>
                    <a:p>
                      <a:pPr algn="l"/>
                      <a:r>
                        <a:rPr sz="1300" b="0" i="0">
                          <a:solidFill>
                            <a:srgbClr val="1F2933"/>
                          </a:solidFill>
                          <a:latin typeface="Calibri"/>
                        </a:rPr>
                        <a:t>reduceB() emitter and simulateB() checker</a:t>
                      </a:r>
                    </a:p>
                  </a:txBody>
                  <a:tcPr marL="73152" marR="73152" marT="27432" marB="27432" anchor="ctr">
                    <a:solidFill>
                      <a:srgbClr val="F1F4F7"/>
                    </a:solidFill>
                  </a:tcPr>
                </a:tc>
                <a:tc>
                  <a:txBody>
                    <a:bodyPr wrap="square"/>
                    <a:lstStyle/>
                    <a:p>
                      <a:pPr algn="l"/>
                      <a:r>
                        <a:rPr sz="1300" b="1" i="0">
                          <a:solidFill>
                            <a:srgbClr val="2E8B57"/>
                          </a:solidFill>
                          <a:latin typeface="Calibri"/>
                        </a:rPr>
                        <a:t>Closed</a:t>
                      </a:r>
                    </a:p>
                  </a:txBody>
                  <a:tcPr marL="73152" marR="73152" marT="27432" marB="27432" anchor="ctr">
                    <a:solidFill>
                      <a:srgbClr val="F1F4F7"/>
                    </a:solidFill>
                  </a:tcPr>
                </a:tc>
              </a:tr>
              <a:tr h="429768">
                <a:tc>
                  <a:txBody>
                    <a:bodyPr wrap="square"/>
                    <a:lstStyle/>
                    <a:p>
                      <a:pPr algn="l"/>
                      <a:r>
                        <a:rPr sz="1300" b="0" i="0">
                          <a:solidFill>
                            <a:srgbClr val="1F2933"/>
                          </a:solidFill>
                          <a:latin typeface="Calibri"/>
                        </a:rPr>
                        <a:t>Run test expressions on Target B</a:t>
                      </a:r>
                    </a:p>
                  </a:txBody>
                  <a:tcPr marL="73152" marR="73152" marT="27432" marB="27432" anchor="ctr">
                    <a:solidFill>
                      <a:srgbClr val="FFFFFF"/>
                    </a:solidFill>
                  </a:tcPr>
                </a:tc>
                <a:tc>
                  <a:txBody>
                    <a:bodyPr wrap="square"/>
                    <a:lstStyle/>
                    <a:p>
                      <a:pPr algn="l"/>
                      <a:r>
                        <a:rPr sz="1300" b="0" i="0">
                          <a:solidFill>
                            <a:srgbClr val="1F2933"/>
                          </a:solidFill>
                          <a:latin typeface="Calibri"/>
                        </a:rPr>
                        <a:t>All review expressions run on both targets</a:t>
                      </a:r>
                    </a:p>
                  </a:txBody>
                  <a:tcPr marL="73152" marR="73152" marT="27432" marB="27432" anchor="ctr">
                    <a:solidFill>
                      <a:srgbClr val="FFFFFF"/>
                    </a:solidFill>
                  </a:tcPr>
                </a:tc>
                <a:tc>
                  <a:txBody>
                    <a:bodyPr wrap="square"/>
                    <a:lstStyle/>
                    <a:p>
                      <a:pPr algn="l"/>
                      <a:r>
                        <a:rPr sz="1300" b="1" i="0">
                          <a:solidFill>
                            <a:srgbClr val="2E8B57"/>
                          </a:solidFill>
                          <a:latin typeface="Calibri"/>
                        </a:rPr>
                        <a:t>Closed</a:t>
                      </a:r>
                    </a:p>
                  </a:txBody>
                  <a:tcPr marL="73152" marR="73152" marT="27432" marB="27432" anchor="ctr">
                    <a:solidFill>
                      <a:srgbClr val="FFFFFF"/>
                    </a:solidFill>
                  </a:tcPr>
                </a:tc>
              </a:tr>
              <a:tr h="429768">
                <a:tc>
                  <a:txBody>
                    <a:bodyPr wrap="square"/>
                    <a:lstStyle/>
                    <a:p>
                      <a:pPr algn="l"/>
                      <a:r>
                        <a:rPr sz="1300" b="0" i="0">
                          <a:solidFill>
                            <a:srgbClr val="1F2933"/>
                          </a:solidFill>
                          <a:latin typeface="Calibri"/>
                        </a:rPr>
                        <a:t>Expand regression suite</a:t>
                      </a:r>
                    </a:p>
                  </a:txBody>
                  <a:tcPr marL="73152" marR="73152" marT="27432" marB="27432" anchor="ctr">
                    <a:solidFill>
                      <a:srgbClr val="F1F4F7"/>
                    </a:solidFill>
                  </a:tcPr>
                </a:tc>
                <a:tc>
                  <a:txBody>
                    <a:bodyPr wrap="square"/>
                    <a:lstStyle/>
                    <a:p>
                      <a:pPr algn="l"/>
                      <a:r>
                        <a:rPr sz="1300" b="0" i="0">
                          <a:solidFill>
                            <a:srgbClr val="1F2933"/>
                          </a:solidFill>
                          <a:latin typeface="Calibri"/>
                        </a:rPr>
                        <a:t>25 stored cases + 10-expression suite + 3,333-tree exhaustive check</a:t>
                      </a:r>
                    </a:p>
                  </a:txBody>
                  <a:tcPr marL="73152" marR="73152" marT="27432" marB="27432" anchor="ctr">
                    <a:solidFill>
                      <a:srgbClr val="F1F4F7"/>
                    </a:solidFill>
                  </a:tcPr>
                </a:tc>
                <a:tc>
                  <a:txBody>
                    <a:bodyPr wrap="square"/>
                    <a:lstStyle/>
                    <a:p>
                      <a:pPr algn="l"/>
                      <a:r>
                        <a:rPr sz="1300" b="1" i="0">
                          <a:solidFill>
                            <a:srgbClr val="2E8B57"/>
                          </a:solidFill>
                          <a:latin typeface="Calibri"/>
                        </a:rPr>
                        <a:t>Closed</a:t>
                      </a:r>
                    </a:p>
                  </a:txBody>
                  <a:tcPr marL="73152" marR="73152" marT="27432" marB="27432" anchor="ctr">
                    <a:solidFill>
                      <a:srgbClr val="F1F4F7"/>
                    </a:solidFill>
                  </a:tcPr>
                </a:tc>
              </a:tr>
              <a:tr h="429768">
                <a:tc>
                  <a:txBody>
                    <a:bodyPr wrap="square"/>
                    <a:lstStyle/>
                    <a:p>
                      <a:pPr algn="l"/>
                      <a:r>
                        <a:rPr sz="1300" b="0" i="0">
                          <a:solidFill>
                            <a:srgbClr val="1F2933"/>
                          </a:solidFill>
                          <a:latin typeface="Calibri"/>
                        </a:rPr>
                        <a:t>Team GitHub repository</a:t>
                      </a:r>
                    </a:p>
                  </a:txBody>
                  <a:tcPr marL="73152" marR="73152" marT="27432" marB="27432" anchor="ctr">
                    <a:solidFill>
                      <a:srgbClr val="FFFFFF"/>
                    </a:solidFill>
                  </a:tcPr>
                </a:tc>
                <a:tc>
                  <a:txBody>
                    <a:bodyPr wrap="square"/>
                    <a:lstStyle/>
                    <a:p>
                      <a:pPr algn="l"/>
                      <a:r>
                        <a:rPr sz="1300" b="0" i="0">
                          <a:solidFill>
                            <a:srgbClr val="1F2933"/>
                          </a:solidFill>
                          <a:latin typeface="Calibri"/>
                        </a:rPr>
                        <a:t>github.com/ahmadazim542/burs-instruction-selector</a:t>
                      </a:r>
                    </a:p>
                  </a:txBody>
                  <a:tcPr marL="73152" marR="73152" marT="27432" marB="27432" anchor="ctr">
                    <a:solidFill>
                      <a:srgbClr val="FFFFFF"/>
                    </a:solidFill>
                  </a:tcPr>
                </a:tc>
                <a:tc>
                  <a:txBody>
                    <a:bodyPr wrap="square"/>
                    <a:lstStyle/>
                    <a:p>
                      <a:pPr algn="l"/>
                      <a:r>
                        <a:rPr sz="1300" b="1" i="0">
                          <a:solidFill>
                            <a:srgbClr val="2E8B57"/>
                          </a:solidFill>
                          <a:latin typeface="Calibri"/>
                        </a:rPr>
                        <a:t>Closed</a:t>
                      </a:r>
                    </a:p>
                  </a:txBody>
                  <a:tcPr marL="73152" marR="73152" marT="27432" marB="27432" anchor="ctr">
                    <a:solidFill>
                      <a:srgbClr val="FFFFFF"/>
                    </a:solidFill>
                  </a:tcPr>
                </a:tc>
              </a:tr>
              <a:tr h="429768">
                <a:tc>
                  <a:txBody>
                    <a:bodyPr wrap="square"/>
                    <a:lstStyle/>
                    <a:p>
                      <a:pPr algn="l"/>
                      <a:r>
                        <a:rPr sz="1300" b="0" i="0">
                          <a:solidFill>
                            <a:srgbClr val="1F2933"/>
                          </a:solidFill>
                          <a:latin typeface="Calibri"/>
                        </a:rPr>
                        <a:t>Register numbers on cover</a:t>
                      </a:r>
                    </a:p>
                  </a:txBody>
                  <a:tcPr marL="73152" marR="73152" marT="27432" marB="27432" anchor="ctr">
                    <a:solidFill>
                      <a:srgbClr val="F1F4F7"/>
                    </a:solidFill>
                  </a:tcPr>
                </a:tc>
                <a:tc>
                  <a:txBody>
                    <a:bodyPr wrap="square"/>
                    <a:lstStyle/>
                    <a:p>
                      <a:pPr algn="l"/>
                      <a:r>
                        <a:rPr sz="1300" b="0" i="0">
                          <a:solidFill>
                            <a:srgbClr val="1F2933"/>
                          </a:solidFill>
                          <a:latin typeface="Calibri"/>
                        </a:rPr>
                        <a:t>Utsav and Ahmad added; Vineet and Mayank pending</a:t>
                      </a:r>
                    </a:p>
                  </a:txBody>
                  <a:tcPr marL="73152" marR="73152" marT="27432" marB="27432" anchor="ctr">
                    <a:solidFill>
                      <a:srgbClr val="F1F4F7"/>
                    </a:solidFill>
                  </a:tcPr>
                </a:tc>
                <a:tc>
                  <a:txBody>
                    <a:bodyPr wrap="square"/>
                    <a:lstStyle/>
                    <a:p>
                      <a:pPr algn="l"/>
                      <a:r>
                        <a:rPr sz="1300" b="1" i="0">
                          <a:solidFill>
                            <a:srgbClr val="E89A2C"/>
                          </a:solidFill>
                          <a:latin typeface="Calibri"/>
                        </a:rPr>
                        <a:t>Pending</a:t>
                      </a:r>
                    </a:p>
                  </a:txBody>
                  <a:tcPr marL="73152" marR="73152" marT="27432" marB="27432" anchor="ctr">
                    <a:solidFill>
                      <a:srgbClr val="F1F4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Architecture: only the grammar knows the machine</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Common core (src/ir, src/burs) → one grammar file per target → verified output for both</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Vineet</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4</a:t>
            </a:r>
          </a:p>
        </p:txBody>
      </p:sp>
      <p:pic>
        <p:nvPicPr>
          <p:cNvPr id="7" name="Picture 6" descr="arch.png"/>
          <p:cNvPicPr>
            <a:picLocks noChangeAspect="1"/>
          </p:cNvPicPr>
          <p:nvPr/>
        </p:nvPicPr>
        <p:blipFill>
          <a:blip r:embed="rId3"/>
          <a:stretch>
            <a:fillRect/>
          </a:stretch>
        </p:blipFill>
        <p:spPr>
          <a:xfrm>
            <a:off x="548640" y="1600200"/>
            <a:ext cx="11091672" cy="443666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Compiler concepts and design decisions</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Four ideas from the course, and the decisions that shaped the implementation</a:t>
            </a:r>
          </a:p>
        </p:txBody>
      </p:sp>
      <p:sp>
        <p:nvSpPr>
          <p:cNvPr id="4" name="Presenter"/>
          <p:cNvSpPr/>
          <p:nvPr/>
        </p:nvSpPr>
        <p:spPr>
          <a:xfrm>
            <a:off x="8291779" y="457200"/>
            <a:ext cx="3351276"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Vineet · Mayank · Utsav</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5</a:t>
            </a:r>
          </a:p>
        </p:txBody>
      </p:sp>
      <p:sp>
        <p:nvSpPr>
          <p:cNvPr id="7" name="Rounded Rectangle 6"/>
          <p:cNvSpPr/>
          <p:nvPr/>
        </p:nvSpPr>
        <p:spPr>
          <a:xfrm>
            <a:off x="548640" y="1508760"/>
            <a:ext cx="306324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Oval 7"/>
          <p:cNvSpPr/>
          <p:nvPr/>
        </p:nvSpPr>
        <p:spPr>
          <a:xfrm>
            <a:off x="758952" y="1719072"/>
            <a:ext cx="402336" cy="40233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1</a:t>
            </a:r>
          </a:p>
        </p:txBody>
      </p:sp>
      <p:sp>
        <p:nvSpPr>
          <p:cNvPr id="9" name="TextBox 8"/>
          <p:cNvSpPr txBox="1"/>
          <p:nvPr/>
        </p:nvSpPr>
        <p:spPr>
          <a:xfrm>
            <a:off x="1298448" y="1755648"/>
            <a:ext cx="2130552" cy="365760"/>
          </a:xfrm>
          <a:prstGeom prst="rect">
            <a:avLst/>
          </a:prstGeom>
          <a:noFill/>
        </p:spPr>
        <p:txBody>
          <a:bodyPr wrap="square" lIns="0" rIns="0" tIns="0" bIns="0" anchor="ctr">
            <a:spAutoFit/>
          </a:bodyPr>
          <a:lstStyle/>
          <a:p>
            <a:pPr algn="l">
              <a:spcAft>
                <a:spcPts val="400"/>
              </a:spcAft>
            </a:pPr>
            <a:r>
              <a:rPr sz="1600" b="1" i="0">
                <a:solidFill>
                  <a:srgbClr val="16233A"/>
                </a:solidFill>
                <a:latin typeface="Calibri"/>
              </a:rPr>
              <a:t>Tree grammar</a:t>
            </a:r>
          </a:p>
        </p:txBody>
      </p:sp>
      <p:sp>
        <p:nvSpPr>
          <p:cNvPr id="10" name="TextBox 9"/>
          <p:cNvSpPr txBox="1"/>
          <p:nvPr/>
        </p:nvSpPr>
        <p:spPr>
          <a:xfrm>
            <a:off x="777240" y="2240280"/>
            <a:ext cx="2651760" cy="1325880"/>
          </a:xfrm>
          <a:prstGeom prst="rect">
            <a:avLst/>
          </a:prstGeom>
          <a:noFill/>
        </p:spPr>
        <p:txBody>
          <a:bodyPr wrap="square" lIns="0" rIns="0" tIns="0" bIns="0" anchor="t">
            <a:spAutoFit/>
          </a:bodyPr>
          <a:lstStyle/>
          <a:p>
            <a:pPr algn="l">
              <a:spcAft>
                <a:spcPts val="500"/>
              </a:spcAft>
            </a:pPr>
            <a:r>
              <a:rPr sz="1400" b="0" i="0">
                <a:solidFill>
                  <a:srgbClr val="1F2933"/>
                </a:solidFill>
                <a:latin typeface="Calibri"/>
              </a:rPr>
              <a:t>nt: PATTERN = rule (cost)</a:t>
            </a:r>
          </a:p>
          <a:p>
            <a:pPr algn="l">
              <a:spcAft>
                <a:spcPts val="500"/>
              </a:spcAft>
            </a:pPr>
            <a:r>
              <a:rPr sz="1400" b="0" i="0">
                <a:solidFill>
                  <a:srgbClr val="1F2933"/>
                </a:solidFill>
                <a:latin typeface="Calibri"/>
              </a:rPr>
              <a:t>one rule ≈ one instruction pattern</a:t>
            </a:r>
          </a:p>
        </p:txBody>
      </p:sp>
      <p:sp>
        <p:nvSpPr>
          <p:cNvPr id="11" name="Rounded Rectangle 10"/>
          <p:cNvSpPr/>
          <p:nvPr/>
        </p:nvSpPr>
        <p:spPr>
          <a:xfrm>
            <a:off x="3794759" y="1508760"/>
            <a:ext cx="306324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2" name="Oval 11"/>
          <p:cNvSpPr/>
          <p:nvPr/>
        </p:nvSpPr>
        <p:spPr>
          <a:xfrm>
            <a:off x="4005072" y="1719072"/>
            <a:ext cx="402336" cy="40233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2</a:t>
            </a:r>
          </a:p>
        </p:txBody>
      </p:sp>
      <p:sp>
        <p:nvSpPr>
          <p:cNvPr id="13" name="TextBox 12"/>
          <p:cNvSpPr txBox="1"/>
          <p:nvPr/>
        </p:nvSpPr>
        <p:spPr>
          <a:xfrm>
            <a:off x="4544568" y="1755648"/>
            <a:ext cx="2130551" cy="365760"/>
          </a:xfrm>
          <a:prstGeom prst="rect">
            <a:avLst/>
          </a:prstGeom>
          <a:noFill/>
        </p:spPr>
        <p:txBody>
          <a:bodyPr wrap="square" lIns="0" rIns="0" tIns="0" bIns="0" anchor="ctr">
            <a:spAutoFit/>
          </a:bodyPr>
          <a:lstStyle/>
          <a:p>
            <a:pPr algn="l">
              <a:spcAft>
                <a:spcPts val="400"/>
              </a:spcAft>
            </a:pPr>
            <a:r>
              <a:rPr sz="1600" b="1" i="0">
                <a:solidFill>
                  <a:srgbClr val="16233A"/>
                </a:solidFill>
                <a:latin typeface="Calibri"/>
              </a:rPr>
              <a:t>Nonterminals + chain rules</a:t>
            </a:r>
          </a:p>
        </p:txBody>
      </p:sp>
      <p:sp>
        <p:nvSpPr>
          <p:cNvPr id="14" name="TextBox 13"/>
          <p:cNvSpPr txBox="1"/>
          <p:nvPr/>
        </p:nvSpPr>
        <p:spPr>
          <a:xfrm>
            <a:off x="4023359" y="2240280"/>
            <a:ext cx="2651760" cy="1325880"/>
          </a:xfrm>
          <a:prstGeom prst="rect">
            <a:avLst/>
          </a:prstGeom>
          <a:noFill/>
        </p:spPr>
        <p:txBody>
          <a:bodyPr wrap="square" lIns="0" rIns="0" tIns="0" bIns="0" anchor="t">
            <a:spAutoFit/>
          </a:bodyPr>
          <a:lstStyle/>
          <a:p>
            <a:pPr algn="l">
              <a:spcAft>
                <a:spcPts val="500"/>
              </a:spcAft>
            </a:pPr>
            <a:r>
              <a:rPr sz="1400" b="0" i="0">
                <a:solidFill>
                  <a:srgbClr val="1F2933"/>
                </a:solidFill>
                <a:latin typeface="Calibri"/>
              </a:rPr>
              <a:t>reg, stk, mem, imm say where a value lives; stk: mem converts</a:t>
            </a:r>
          </a:p>
        </p:txBody>
      </p:sp>
      <p:sp>
        <p:nvSpPr>
          <p:cNvPr id="15" name="Rounded Rectangle 14"/>
          <p:cNvSpPr/>
          <p:nvPr/>
        </p:nvSpPr>
        <p:spPr>
          <a:xfrm>
            <a:off x="548640" y="3886200"/>
            <a:ext cx="306324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6" name="Oval 15"/>
          <p:cNvSpPr/>
          <p:nvPr/>
        </p:nvSpPr>
        <p:spPr>
          <a:xfrm>
            <a:off x="758952" y="4096512"/>
            <a:ext cx="402336" cy="40233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3</a:t>
            </a:r>
          </a:p>
        </p:txBody>
      </p:sp>
      <p:sp>
        <p:nvSpPr>
          <p:cNvPr id="17" name="TextBox 16"/>
          <p:cNvSpPr txBox="1"/>
          <p:nvPr/>
        </p:nvSpPr>
        <p:spPr>
          <a:xfrm>
            <a:off x="1298448" y="4133087"/>
            <a:ext cx="2130552" cy="365760"/>
          </a:xfrm>
          <a:prstGeom prst="rect">
            <a:avLst/>
          </a:prstGeom>
          <a:noFill/>
        </p:spPr>
        <p:txBody>
          <a:bodyPr wrap="square" lIns="0" rIns="0" tIns="0" bIns="0" anchor="ctr">
            <a:spAutoFit/>
          </a:bodyPr>
          <a:lstStyle/>
          <a:p>
            <a:pPr algn="l">
              <a:spcAft>
                <a:spcPts val="400"/>
              </a:spcAft>
            </a:pPr>
            <a:r>
              <a:rPr sz="1600" b="1" i="0">
                <a:solidFill>
                  <a:srgbClr val="16233A"/>
                </a:solidFill>
                <a:latin typeface="Calibri"/>
              </a:rPr>
              <a:t>Bottom-up DP</a:t>
            </a:r>
          </a:p>
        </p:txBody>
      </p:sp>
      <p:sp>
        <p:nvSpPr>
          <p:cNvPr id="18" name="TextBox 17"/>
          <p:cNvSpPr txBox="1"/>
          <p:nvPr/>
        </p:nvSpPr>
        <p:spPr>
          <a:xfrm>
            <a:off x="777240" y="4617720"/>
            <a:ext cx="2651760" cy="1325880"/>
          </a:xfrm>
          <a:prstGeom prst="rect">
            <a:avLst/>
          </a:prstGeom>
          <a:noFill/>
        </p:spPr>
        <p:txBody>
          <a:bodyPr wrap="square" lIns="0" rIns="0" tIns="0" bIns="0" anchor="t">
            <a:spAutoFit/>
          </a:bodyPr>
          <a:lstStyle/>
          <a:p>
            <a:pPr algn="l">
              <a:spcAft>
                <a:spcPts val="500"/>
              </a:spcAft>
            </a:pPr>
            <a:r>
              <a:rPr sz="1400" b="0" i="0">
                <a:solidFill>
                  <a:srgbClr val="1F2933"/>
                </a:solidFill>
                <a:latin typeface="Calibri"/>
              </a:rPr>
              <a:t>best(node, nt) = min over matching rules of cost + children's best</a:t>
            </a:r>
          </a:p>
        </p:txBody>
      </p:sp>
      <p:sp>
        <p:nvSpPr>
          <p:cNvPr id="19" name="Rounded Rectangle 18"/>
          <p:cNvSpPr/>
          <p:nvPr/>
        </p:nvSpPr>
        <p:spPr>
          <a:xfrm>
            <a:off x="3794759" y="3886200"/>
            <a:ext cx="306324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0" name="Oval 19"/>
          <p:cNvSpPr/>
          <p:nvPr/>
        </p:nvSpPr>
        <p:spPr>
          <a:xfrm>
            <a:off x="4005072" y="4096512"/>
            <a:ext cx="402336" cy="40233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4</a:t>
            </a:r>
          </a:p>
        </p:txBody>
      </p:sp>
      <p:sp>
        <p:nvSpPr>
          <p:cNvPr id="21" name="TextBox 20"/>
          <p:cNvSpPr txBox="1"/>
          <p:nvPr/>
        </p:nvSpPr>
        <p:spPr>
          <a:xfrm>
            <a:off x="4544568" y="4133087"/>
            <a:ext cx="2130551" cy="365760"/>
          </a:xfrm>
          <a:prstGeom prst="rect">
            <a:avLst/>
          </a:prstGeom>
          <a:noFill/>
        </p:spPr>
        <p:txBody>
          <a:bodyPr wrap="square" lIns="0" rIns="0" tIns="0" bIns="0" anchor="ctr">
            <a:spAutoFit/>
          </a:bodyPr>
          <a:lstStyle/>
          <a:p>
            <a:pPr algn="l">
              <a:spcAft>
                <a:spcPts val="400"/>
              </a:spcAft>
            </a:pPr>
            <a:r>
              <a:rPr sz="1600" b="1" i="0">
                <a:solidFill>
                  <a:srgbClr val="16233A"/>
                </a:solidFill>
                <a:latin typeface="Calibri"/>
              </a:rPr>
              <a:t>BURG tables</a:t>
            </a:r>
          </a:p>
        </p:txBody>
      </p:sp>
      <p:sp>
        <p:nvSpPr>
          <p:cNvPr id="22" name="TextBox 21"/>
          <p:cNvSpPr txBox="1"/>
          <p:nvPr/>
        </p:nvSpPr>
        <p:spPr>
          <a:xfrm>
            <a:off x="4023359" y="4617720"/>
            <a:ext cx="2651760" cy="1325880"/>
          </a:xfrm>
          <a:prstGeom prst="rect">
            <a:avLst/>
          </a:prstGeom>
          <a:noFill/>
        </p:spPr>
        <p:txBody>
          <a:bodyPr wrap="square" lIns="0" rIns="0" tIns="0" bIns="0" anchor="t">
            <a:spAutoFit/>
          </a:bodyPr>
          <a:lstStyle/>
          <a:p>
            <a:pPr algn="l">
              <a:spcAft>
                <a:spcPts val="500"/>
              </a:spcAft>
            </a:pPr>
            <a:r>
              <a:rPr sz="1400" b="0" i="0">
                <a:solidFill>
                  <a:srgbClr val="1F2933"/>
                </a:solidFill>
                <a:latin typeface="Calibri"/>
              </a:rPr>
              <a:t>DP precomputed at build time: one lookup per node, O(n)</a:t>
            </a:r>
          </a:p>
        </p:txBody>
      </p:sp>
      <p:sp>
        <p:nvSpPr>
          <p:cNvPr id="23" name="TextBox 22"/>
          <p:cNvSpPr txBox="1"/>
          <p:nvPr/>
        </p:nvSpPr>
        <p:spPr>
          <a:xfrm>
            <a:off x="7269480" y="1508760"/>
            <a:ext cx="438912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Design decisions</a:t>
            </a:r>
          </a:p>
        </p:txBody>
      </p:sp>
      <p:sp>
        <p:nvSpPr>
          <p:cNvPr id="24" name="Rounded Rectangle 23"/>
          <p:cNvSpPr/>
          <p:nvPr/>
        </p:nvSpPr>
        <p:spPr>
          <a:xfrm>
            <a:off x="7269480" y="2011680"/>
            <a:ext cx="4370832" cy="1261872"/>
          </a:xfrm>
          <a:prstGeom prst="roundRect">
            <a:avLst>
              <a:gd name="adj" fmla="val 869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5" name="TextBox 24"/>
          <p:cNvSpPr txBox="1"/>
          <p:nvPr/>
        </p:nvSpPr>
        <p:spPr>
          <a:xfrm>
            <a:off x="7498079" y="2176272"/>
            <a:ext cx="3931920" cy="320040"/>
          </a:xfrm>
          <a:prstGeom prst="rect">
            <a:avLst/>
          </a:prstGeom>
          <a:noFill/>
        </p:spPr>
        <p:txBody>
          <a:bodyPr wrap="square" lIns="0" rIns="0" tIns="0" bIns="0" anchor="t">
            <a:spAutoFit/>
          </a:bodyPr>
          <a:lstStyle/>
          <a:p>
            <a:pPr algn="l">
              <a:spcAft>
                <a:spcPts val="400"/>
              </a:spcAft>
            </a:pPr>
            <a:r>
              <a:rPr sz="1500" b="1" i="0">
                <a:solidFill>
                  <a:srgbClr val="0E767A"/>
                </a:solidFill>
                <a:latin typeface="Calibri"/>
              </a:rPr>
              <a:t>Precomputed BURG tables</a:t>
            </a:r>
          </a:p>
        </p:txBody>
      </p:sp>
      <p:sp>
        <p:nvSpPr>
          <p:cNvPr id="26" name="TextBox 25"/>
          <p:cNvSpPr txBox="1"/>
          <p:nvPr/>
        </p:nvSpPr>
        <p:spPr>
          <a:xfrm>
            <a:off x="7498079" y="2514600"/>
            <a:ext cx="3931920" cy="68580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over run-time DP: linear labeling, optimality guaranteed by the generator</a:t>
            </a:r>
          </a:p>
        </p:txBody>
      </p:sp>
      <p:sp>
        <p:nvSpPr>
          <p:cNvPr id="27" name="Rounded Rectangle 26"/>
          <p:cNvSpPr/>
          <p:nvPr/>
        </p:nvSpPr>
        <p:spPr>
          <a:xfrm>
            <a:off x="7269480" y="3429000"/>
            <a:ext cx="4370832" cy="1261872"/>
          </a:xfrm>
          <a:prstGeom prst="roundRect">
            <a:avLst>
              <a:gd name="adj" fmla="val 869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8" name="TextBox 27"/>
          <p:cNvSpPr txBox="1"/>
          <p:nvPr/>
        </p:nvSpPr>
        <p:spPr>
          <a:xfrm>
            <a:off x="7498079" y="3593592"/>
            <a:ext cx="3931920" cy="320040"/>
          </a:xfrm>
          <a:prstGeom prst="rect">
            <a:avLst/>
          </a:prstGeom>
          <a:noFill/>
        </p:spPr>
        <p:txBody>
          <a:bodyPr wrap="square" lIns="0" rIns="0" tIns="0" bIns="0" anchor="t">
            <a:spAutoFit/>
          </a:bodyPr>
          <a:lstStyle/>
          <a:p>
            <a:pPr algn="l">
              <a:spcAft>
                <a:spcPts val="400"/>
              </a:spcAft>
            </a:pPr>
            <a:r>
              <a:rPr sz="1500" b="1" i="0">
                <a:solidFill>
                  <a:srgbClr val="0E767A"/>
                </a:solidFill>
                <a:latin typeface="Calibri"/>
              </a:rPr>
              <a:t>One const Target interface</a:t>
            </a:r>
          </a:p>
        </p:txBody>
      </p:sp>
      <p:sp>
        <p:nvSpPr>
          <p:cNvPr id="29" name="TextBox 28"/>
          <p:cNvSpPr txBox="1"/>
          <p:nvPr/>
        </p:nvSpPr>
        <p:spPr>
          <a:xfrm>
            <a:off x="7498079" y="3931920"/>
            <a:ext cx="3931920" cy="68580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the engine has no target code; a new ISA = one grammar + one line</a:t>
            </a:r>
          </a:p>
        </p:txBody>
      </p:sp>
      <p:sp>
        <p:nvSpPr>
          <p:cNvPr id="30" name="Rounded Rectangle 29"/>
          <p:cNvSpPr/>
          <p:nvPr/>
        </p:nvSpPr>
        <p:spPr>
          <a:xfrm>
            <a:off x="7269480" y="4846320"/>
            <a:ext cx="4370832" cy="1261872"/>
          </a:xfrm>
          <a:prstGeom prst="roundRect">
            <a:avLst>
              <a:gd name="adj" fmla="val 869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1" name="TextBox 30"/>
          <p:cNvSpPr txBox="1"/>
          <p:nvPr/>
        </p:nvSpPr>
        <p:spPr>
          <a:xfrm>
            <a:off x="7498079" y="5010912"/>
            <a:ext cx="3931920" cy="320040"/>
          </a:xfrm>
          <a:prstGeom prst="rect">
            <a:avLst/>
          </a:prstGeom>
          <a:noFill/>
        </p:spPr>
        <p:txBody>
          <a:bodyPr wrap="square" lIns="0" rIns="0" tIns="0" bIns="0" anchor="t">
            <a:spAutoFit/>
          </a:bodyPr>
          <a:lstStyle/>
          <a:p>
            <a:pPr algn="l">
              <a:spcAft>
                <a:spcPts val="400"/>
              </a:spcAft>
            </a:pPr>
            <a:r>
              <a:rPr sz="1500" b="1" i="0">
                <a:solidFill>
                  <a:srgbClr val="0E767A"/>
                </a:solidFill>
                <a:latin typeface="Calibri"/>
              </a:rPr>
              <a:t>Simulate every program</a:t>
            </a:r>
          </a:p>
        </p:txBody>
      </p:sp>
      <p:sp>
        <p:nvSpPr>
          <p:cNvPr id="32" name="TextBox 31"/>
          <p:cNvSpPr txBox="1"/>
          <p:nvPr/>
        </p:nvSpPr>
        <p:spPr>
          <a:xfrm>
            <a:off x="7498079" y="5349240"/>
            <a:ext cx="3931920" cy="68580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an independent oracle: catches wrong covers and wrong emitters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Module 1: two target descriptions</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Same %term line: CONST=1 VAR=2 ADD=3 SUB=4 MUL=5 LOAD=6; different rules, nonterminals and costs</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Mayank</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6</a:t>
            </a:r>
          </a:p>
        </p:txBody>
      </p:sp>
      <p:sp>
        <p:nvSpPr>
          <p:cNvPr id="7" name="Rounded Rectangle 6"/>
          <p:cNvSpPr/>
          <p:nvPr/>
        </p:nvSpPr>
        <p:spPr>
          <a:xfrm>
            <a:off x="548640" y="1508760"/>
            <a:ext cx="5029200" cy="4114800"/>
          </a:xfrm>
          <a:prstGeom prst="roundRect">
            <a:avLst>
              <a:gd name="adj" fmla="val 222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49808" y="1636776"/>
            <a:ext cx="4663440"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TARGET A · targetA.gr · register machine · 9 rules</a:t>
            </a:r>
          </a:p>
        </p:txBody>
      </p:sp>
      <p:sp>
        <p:nvSpPr>
          <p:cNvPr id="9" name="TextBox 8"/>
          <p:cNvSpPr txBox="1"/>
          <p:nvPr/>
        </p:nvSpPr>
        <p:spPr>
          <a:xfrm>
            <a:off x="749808" y="1965960"/>
            <a:ext cx="4663440" cy="3547872"/>
          </a:xfrm>
          <a:prstGeom prst="rect">
            <a:avLst/>
          </a:prstGeom>
          <a:noFill/>
        </p:spPr>
        <p:txBody>
          <a:bodyPr wrap="square" lIns="0" rIns="0" tIns="0" bIns="0" anchor="t">
            <a:spAutoFit/>
          </a:bodyPr>
          <a:lstStyle/>
          <a:p>
            <a:pPr algn="l">
              <a:spcAft>
                <a:spcPts val="0"/>
              </a:spcAft>
            </a:pPr>
            <a:r>
              <a:rPr sz="1200" b="0" i="0">
                <a:solidFill>
                  <a:srgbClr val="E6EDF3"/>
                </a:solidFill>
                <a:latin typeface="Consolas"/>
              </a:rPr>
              <a:t>reg: VAR          = 1 (1);   LOAD  rd,[var]</a:t>
            </a:r>
          </a:p>
          <a:p>
            <a:pPr algn="l">
              <a:spcAft>
                <a:spcPts val="0"/>
              </a:spcAft>
            </a:pPr>
            <a:r>
              <a:rPr sz="1200" b="0" i="0">
                <a:solidFill>
                  <a:srgbClr val="E6EDF3"/>
                </a:solidFill>
                <a:latin typeface="Consolas"/>
              </a:rPr>
              <a:t>reg: CONST        = 2 (1);   LOADI rd,#k</a:t>
            </a:r>
          </a:p>
          <a:p>
            <a:pPr algn="l">
              <a:spcAft>
                <a:spcPts val="0"/>
              </a:spcAft>
            </a:pPr>
            <a:r>
              <a:rPr sz="1200" b="0" i="0">
                <a:solidFill>
                  <a:srgbClr val="E89A2C"/>
                </a:solidFill>
                <a:latin typeface="Consolas"/>
              </a:rPr>
              <a:t>imm: CONST        = 3 (0);   operand #k</a:t>
            </a:r>
          </a:p>
          <a:p>
            <a:pPr algn="l">
              <a:spcAft>
                <a:spcPts val="0"/>
              </a:spcAft>
            </a:pPr>
            <a:r>
              <a:rPr sz="1200" b="0" i="0">
                <a:solidFill>
                  <a:srgbClr val="E6EDF3"/>
                </a:solidFill>
                <a:latin typeface="Consolas"/>
              </a:rPr>
              <a:t>reg: LOAD(reg)    = 4 (1);   LOAD  rd,[rs]</a:t>
            </a:r>
          </a:p>
          <a:p>
            <a:pPr algn="l">
              <a:spcAft>
                <a:spcPts val="0"/>
              </a:spcAft>
            </a:pPr>
            <a:r>
              <a:rPr sz="1200" b="0" i="0">
                <a:solidFill>
                  <a:srgbClr val="E6EDF3"/>
                </a:solidFill>
                <a:latin typeface="Consolas"/>
              </a:rPr>
              <a:t>reg: ADD(reg,reg) = 5 (1);   ADD</a:t>
            </a:r>
          </a:p>
          <a:p>
            <a:pPr algn="l">
              <a:spcAft>
                <a:spcPts val="0"/>
              </a:spcAft>
            </a:pPr>
            <a:r>
              <a:rPr sz="1200" b="0" i="0">
                <a:solidFill>
                  <a:srgbClr val="E89A2C"/>
                </a:solidFill>
                <a:latin typeface="Consolas"/>
              </a:rPr>
              <a:t>reg: ADD(reg,imm) = 6 (1);   ADDI</a:t>
            </a:r>
          </a:p>
          <a:p>
            <a:pPr algn="l">
              <a:spcAft>
                <a:spcPts val="0"/>
              </a:spcAft>
            </a:pPr>
            <a:r>
              <a:rPr sz="1200" b="0" i="0">
                <a:solidFill>
                  <a:srgbClr val="E6EDF3"/>
                </a:solidFill>
                <a:latin typeface="Consolas"/>
              </a:rPr>
              <a:t>reg: SUB(reg,reg) = 7 (1);   SUB</a:t>
            </a:r>
          </a:p>
          <a:p>
            <a:pPr algn="l">
              <a:spcAft>
                <a:spcPts val="0"/>
              </a:spcAft>
            </a:pPr>
            <a:r>
              <a:rPr sz="1200" b="0" i="0">
                <a:solidFill>
                  <a:srgbClr val="E89A2C"/>
                </a:solidFill>
                <a:latin typeface="Consolas"/>
              </a:rPr>
              <a:t>reg: SUB(reg,imm) = 8 (1);   SUBI</a:t>
            </a:r>
          </a:p>
          <a:p>
            <a:pPr algn="l">
              <a:spcAft>
                <a:spcPts val="0"/>
              </a:spcAft>
            </a:pPr>
            <a:r>
              <a:rPr sz="1200" b="0" i="0">
                <a:solidFill>
                  <a:srgbClr val="E6EDF3"/>
                </a:solidFill>
                <a:latin typeface="Consolas"/>
              </a:rPr>
              <a:t>reg: MUL(reg,reg) = 9 (2);   MUL</a:t>
            </a:r>
          </a:p>
        </p:txBody>
      </p:sp>
      <p:sp>
        <p:nvSpPr>
          <p:cNvPr id="10" name="Rounded Rectangle 9"/>
          <p:cNvSpPr/>
          <p:nvPr/>
        </p:nvSpPr>
        <p:spPr>
          <a:xfrm>
            <a:off x="5806440" y="1508760"/>
            <a:ext cx="5833872" cy="4114800"/>
          </a:xfrm>
          <a:prstGeom prst="roundRect">
            <a:avLst>
              <a:gd name="adj" fmla="val 222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6007607" y="1636776"/>
            <a:ext cx="5468112"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TARGET B · targetB.gr · stack machine · 14 rules</a:t>
            </a:r>
          </a:p>
        </p:txBody>
      </p:sp>
      <p:sp>
        <p:nvSpPr>
          <p:cNvPr id="12" name="TextBox 11"/>
          <p:cNvSpPr txBox="1"/>
          <p:nvPr/>
        </p:nvSpPr>
        <p:spPr>
          <a:xfrm>
            <a:off x="6007607" y="1965960"/>
            <a:ext cx="5468112" cy="3547872"/>
          </a:xfrm>
          <a:prstGeom prst="rect">
            <a:avLst/>
          </a:prstGeom>
          <a:noFill/>
        </p:spPr>
        <p:txBody>
          <a:bodyPr wrap="square" lIns="0" rIns="0" tIns="0" bIns="0" anchor="t">
            <a:spAutoFit/>
          </a:bodyPr>
          <a:lstStyle/>
          <a:p>
            <a:pPr algn="l">
              <a:spcAft>
                <a:spcPts val="0"/>
              </a:spcAft>
            </a:pPr>
            <a:r>
              <a:rPr sz="1200" b="0" i="0">
                <a:solidFill>
                  <a:srgbClr val="E89A2C"/>
                </a:solidFill>
                <a:latin typeface="Consolas"/>
              </a:rPr>
              <a:t>stk: mem          = 1 (1);    PUSH  [var]</a:t>
            </a:r>
          </a:p>
          <a:p>
            <a:pPr algn="l">
              <a:spcAft>
                <a:spcPts val="0"/>
              </a:spcAft>
            </a:pPr>
            <a:r>
              <a:rPr sz="1200" b="0" i="0">
                <a:solidFill>
                  <a:srgbClr val="E89A2C"/>
                </a:solidFill>
                <a:latin typeface="Consolas"/>
              </a:rPr>
              <a:t>stk: imm          = 2 (1);    PUSHI #k</a:t>
            </a:r>
          </a:p>
          <a:p>
            <a:pPr algn="l">
              <a:spcAft>
                <a:spcPts val="0"/>
              </a:spcAft>
            </a:pPr>
            <a:r>
              <a:rPr sz="1200" b="0" i="0">
                <a:solidFill>
                  <a:srgbClr val="E6EDF3"/>
                </a:solidFill>
                <a:latin typeface="Consolas"/>
              </a:rPr>
              <a:t>mem: VAR          = 3 (0);    operand</a:t>
            </a:r>
          </a:p>
          <a:p>
            <a:pPr algn="l">
              <a:spcAft>
                <a:spcPts val="0"/>
              </a:spcAft>
            </a:pPr>
            <a:r>
              <a:rPr sz="1200" b="0" i="0">
                <a:solidFill>
                  <a:srgbClr val="E6EDF3"/>
                </a:solidFill>
                <a:latin typeface="Consolas"/>
              </a:rPr>
              <a:t>imm: CONST        = 4 (0);    operand</a:t>
            </a:r>
          </a:p>
          <a:p>
            <a:pPr algn="l">
              <a:spcAft>
                <a:spcPts val="0"/>
              </a:spcAft>
            </a:pPr>
            <a:r>
              <a:rPr sz="1200" b="0" i="0">
                <a:solidFill>
                  <a:srgbClr val="E6EDF3"/>
                </a:solidFill>
                <a:latin typeface="Consolas"/>
              </a:rPr>
              <a:t>stk: LOAD(stk)    = 5 (1);    LOAD</a:t>
            </a:r>
          </a:p>
          <a:p>
            <a:pPr algn="l">
              <a:spcAft>
                <a:spcPts val="0"/>
              </a:spcAft>
            </a:pPr>
            <a:r>
              <a:rPr sz="1200" b="0" i="0">
                <a:solidFill>
                  <a:srgbClr val="E6EDF3"/>
                </a:solidFill>
                <a:latin typeface="Consolas"/>
              </a:rPr>
              <a:t>stk: ADD(stk,stk) = 6 (1);    ADD</a:t>
            </a:r>
          </a:p>
          <a:p>
            <a:pPr algn="l">
              <a:spcAft>
                <a:spcPts val="0"/>
              </a:spcAft>
            </a:pPr>
            <a:r>
              <a:rPr sz="1200" b="0" i="0">
                <a:solidFill>
                  <a:srgbClr val="E6EDF3"/>
                </a:solidFill>
                <a:latin typeface="Consolas"/>
              </a:rPr>
              <a:t>stk: ADD(stk,mem) = 7 (1);    ADDM  [var]</a:t>
            </a:r>
          </a:p>
          <a:p>
            <a:pPr algn="l">
              <a:spcAft>
                <a:spcPts val="0"/>
              </a:spcAft>
            </a:pPr>
            <a:r>
              <a:rPr sz="1200" b="0" i="0">
                <a:solidFill>
                  <a:srgbClr val="E6EDF3"/>
                </a:solidFill>
                <a:latin typeface="Consolas"/>
              </a:rPr>
              <a:t>stk: ADD(stk,imm) = 8 (1);    ADDI  #k</a:t>
            </a:r>
          </a:p>
          <a:p>
            <a:pPr algn="l">
              <a:spcAft>
                <a:spcPts val="0"/>
              </a:spcAft>
            </a:pPr>
            <a:r>
              <a:rPr sz="1200" b="0" i="0">
                <a:solidFill>
                  <a:srgbClr val="E6EDF3"/>
                </a:solidFill>
                <a:latin typeface="Consolas"/>
              </a:rPr>
              <a:t>stk: SUB(stk, stk|mem|imm) 9-11</a:t>
            </a:r>
          </a:p>
          <a:p>
            <a:pPr algn="l">
              <a:spcAft>
                <a:spcPts val="0"/>
              </a:spcAft>
            </a:pPr>
            <a:r>
              <a:rPr sz="1200" b="0" i="0">
                <a:solidFill>
                  <a:srgbClr val="E6EDF3"/>
                </a:solidFill>
                <a:latin typeface="Consolas"/>
              </a:rPr>
              <a:t>stk: MUL(stk,stk) = 12 (2);   MUL</a:t>
            </a:r>
          </a:p>
          <a:p>
            <a:pPr algn="l">
              <a:spcAft>
                <a:spcPts val="0"/>
              </a:spcAft>
            </a:pPr>
            <a:r>
              <a:rPr sz="1200" b="0" i="0">
                <a:solidFill>
                  <a:srgbClr val="E6EDF3"/>
                </a:solidFill>
                <a:latin typeface="Consolas"/>
              </a:rPr>
              <a:t>stk: MUL(stk,mem) = 13 (2);   MULM  [var]</a:t>
            </a:r>
          </a:p>
          <a:p>
            <a:pPr algn="l">
              <a:spcAft>
                <a:spcPts val="0"/>
              </a:spcAft>
            </a:pPr>
            <a:r>
              <a:rPr sz="1200" b="0" i="0">
                <a:solidFill>
                  <a:srgbClr val="E6EDF3"/>
                </a:solidFill>
                <a:latin typeface="Consolas"/>
              </a:rPr>
              <a:t>stk: MUL(stk,imm) = 14 (2);   MULI  #k</a:t>
            </a:r>
          </a:p>
        </p:txBody>
      </p:sp>
      <p:sp>
        <p:nvSpPr>
          <p:cNvPr id="13" name="TextBox 12"/>
          <p:cNvSpPr txBox="1"/>
          <p:nvPr/>
        </p:nvSpPr>
        <p:spPr>
          <a:xfrm>
            <a:off x="548640" y="5806440"/>
            <a:ext cx="11064240" cy="411480"/>
          </a:xfrm>
          <a:prstGeom prst="rect">
            <a:avLst/>
          </a:prstGeom>
          <a:noFill/>
        </p:spPr>
        <p:txBody>
          <a:bodyPr wrap="square" lIns="0" rIns="0" tIns="0" bIns="0" anchor="t">
            <a:spAutoFit/>
          </a:bodyPr>
          <a:lstStyle/>
          <a:p>
            <a:pPr algn="l">
              <a:spcAft>
                <a:spcPts val="400"/>
              </a:spcAft>
            </a:pPr>
            <a:r>
              <a:rPr sz="1400" b="1" i="0">
                <a:solidFill>
                  <a:srgbClr val="E89A2C"/>
                </a:solidFill>
                <a:latin typeface="Calibri"/>
              </a:rPr>
              <a:t>Amber: </a:t>
            </a:r>
            <a:r>
              <a:rPr sz="1400" b="0" i="0">
                <a:solidFill>
                  <a:srgbClr val="1F2933"/>
                </a:solidFill>
                <a:latin typeface="Calibri"/>
              </a:rPr>
              <a:t>operand forms and chain rules. They let one node offer several "shapes" to its parent, which is where the cost savings come from.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Module 1 demo: the cheapest rule wins</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Live commands and their real output</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Mayank</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7</a:t>
            </a:r>
          </a:p>
        </p:txBody>
      </p:sp>
      <p:sp>
        <p:nvSpPr>
          <p:cNvPr id="7" name="Rounded Rectangle 6"/>
          <p:cNvSpPr/>
          <p:nvPr/>
        </p:nvSpPr>
        <p:spPr>
          <a:xfrm>
            <a:off x="548640" y="1508760"/>
            <a:ext cx="5440680" cy="2212848"/>
          </a:xfrm>
          <a:prstGeom prst="roundRect">
            <a:avLst>
              <a:gd name="adj" fmla="val 413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49808" y="1673351"/>
            <a:ext cx="5074920" cy="1938528"/>
          </a:xfrm>
          <a:prstGeom prst="rect">
            <a:avLst/>
          </a:prstGeom>
          <a:noFill/>
        </p:spPr>
        <p:txBody>
          <a:bodyPr wrap="square" lIns="0" rIns="0" tIns="0" bIns="0" anchor="t">
            <a:spAutoFit/>
          </a:bodyPr>
          <a:lstStyle/>
          <a:p>
            <a:pPr algn="l">
              <a:spcAft>
                <a:spcPts val="0"/>
              </a:spcAft>
            </a:pPr>
            <a:r>
              <a:rPr sz="1300" b="0" i="0">
                <a:solidFill>
                  <a:srgbClr val="8FD3D6"/>
                </a:solidFill>
                <a:latin typeface="Consolas"/>
              </a:rPr>
              <a:t>./build/burs -t A "a + 7"</a:t>
            </a:r>
          </a:p>
          <a:p>
            <a:pPr algn="l">
              <a:spcAft>
                <a:spcPts val="0"/>
              </a:spcAft>
            </a:pPr>
            <a:r>
              <a:rPr sz="1300" b="0" i="0">
                <a:solidFill>
                  <a:srgbClr val="E6EDF3"/>
                </a:solidFill>
                <a:latin typeface="Consolas"/>
              </a:rPr>
              <a:t/>
            </a:r>
          </a:p>
          <a:p>
            <a:pPr algn="l">
              <a:spcAft>
                <a:spcPts val="0"/>
              </a:spcAft>
            </a:pPr>
            <a:r>
              <a:rPr sz="1300" b="0" i="0">
                <a:solidFill>
                  <a:srgbClr val="E6EDF3"/>
                </a:solidFill>
                <a:latin typeface="Consolas"/>
              </a:rPr>
              <a:t>LOAD r0,[a]</a:t>
            </a:r>
          </a:p>
          <a:p>
            <a:pPr algn="l">
              <a:spcAft>
                <a:spcPts val="0"/>
              </a:spcAft>
            </a:pPr>
            <a:r>
              <a:rPr sz="1300" b="0" i="0">
                <a:solidFill>
                  <a:srgbClr val="E89A2C"/>
                </a:solidFill>
                <a:latin typeface="Consolas"/>
              </a:rPr>
              <a:t>ADDI r1,r0,#7</a:t>
            </a:r>
          </a:p>
          <a:p>
            <a:pPr algn="l">
              <a:spcAft>
                <a:spcPts val="0"/>
              </a:spcAft>
            </a:pPr>
            <a:r>
              <a:rPr sz="1300" b="0" i="0">
                <a:solidFill>
                  <a:srgbClr val="E6EDF3"/>
                </a:solidFill>
                <a:latin typeface="Consolas"/>
              </a:rPr>
              <a:t>cost 2  (LOADI + ADD would be 3)</a:t>
            </a:r>
          </a:p>
        </p:txBody>
      </p:sp>
      <p:sp>
        <p:nvSpPr>
          <p:cNvPr id="9" name="Rounded Rectangle 8"/>
          <p:cNvSpPr/>
          <p:nvPr/>
        </p:nvSpPr>
        <p:spPr>
          <a:xfrm>
            <a:off x="3840479" y="1645919"/>
            <a:ext cx="2011680" cy="329184"/>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1" i="0">
                <a:solidFill>
                  <a:srgbClr val="FFFFFF"/>
                </a:solidFill>
                <a:latin typeface="Calibri"/>
              </a:rPr>
              <a:t>cheapest rule chosen</a:t>
            </a:r>
          </a:p>
        </p:txBody>
      </p:sp>
      <p:sp>
        <p:nvSpPr>
          <p:cNvPr id="10" name="Rounded Rectangle 9"/>
          <p:cNvSpPr/>
          <p:nvPr/>
        </p:nvSpPr>
        <p:spPr>
          <a:xfrm>
            <a:off x="6199631" y="1508760"/>
            <a:ext cx="5440680" cy="2212848"/>
          </a:xfrm>
          <a:prstGeom prst="roundRect">
            <a:avLst>
              <a:gd name="adj" fmla="val 413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6400799" y="1673351"/>
            <a:ext cx="5074920" cy="1938528"/>
          </a:xfrm>
          <a:prstGeom prst="rect">
            <a:avLst/>
          </a:prstGeom>
          <a:noFill/>
        </p:spPr>
        <p:txBody>
          <a:bodyPr wrap="square" lIns="0" rIns="0" tIns="0" bIns="0" anchor="t">
            <a:spAutoFit/>
          </a:bodyPr>
          <a:lstStyle/>
          <a:p>
            <a:pPr algn="l">
              <a:spcAft>
                <a:spcPts val="0"/>
              </a:spcAft>
            </a:pPr>
            <a:r>
              <a:rPr sz="1300" b="0" i="0">
                <a:solidFill>
                  <a:srgbClr val="8FD3D6"/>
                </a:solidFill>
                <a:latin typeface="Consolas"/>
              </a:rPr>
              <a:t>./build/burs -t B "a * b"</a:t>
            </a:r>
          </a:p>
          <a:p>
            <a:pPr algn="l">
              <a:spcAft>
                <a:spcPts val="0"/>
              </a:spcAft>
            </a:pPr>
            <a:r>
              <a:rPr sz="1300" b="0" i="0">
                <a:solidFill>
                  <a:srgbClr val="E6EDF3"/>
                </a:solidFill>
                <a:latin typeface="Consolas"/>
              </a:rPr>
              <a:t/>
            </a:r>
          </a:p>
          <a:p>
            <a:pPr algn="l">
              <a:spcAft>
                <a:spcPts val="0"/>
              </a:spcAft>
            </a:pPr>
            <a:r>
              <a:rPr sz="1300" b="0" i="0">
                <a:solidFill>
                  <a:srgbClr val="E6EDF3"/>
                </a:solidFill>
                <a:latin typeface="Consolas"/>
              </a:rPr>
              <a:t>PUSH [a]</a:t>
            </a:r>
          </a:p>
          <a:p>
            <a:pPr algn="l">
              <a:spcAft>
                <a:spcPts val="0"/>
              </a:spcAft>
            </a:pPr>
            <a:r>
              <a:rPr sz="1300" b="0" i="0">
                <a:solidFill>
                  <a:srgbClr val="E89A2C"/>
                </a:solidFill>
                <a:latin typeface="Consolas"/>
              </a:rPr>
              <a:t>MULM [b]</a:t>
            </a:r>
          </a:p>
          <a:p>
            <a:pPr algn="l">
              <a:spcAft>
                <a:spcPts val="0"/>
              </a:spcAft>
            </a:pPr>
            <a:r>
              <a:rPr sz="1300" b="0" i="0">
                <a:solidFill>
                  <a:srgbClr val="E6EDF3"/>
                </a:solidFill>
                <a:latin typeface="Consolas"/>
              </a:rPr>
              <a:t>cost 3  (PUSH,PUSH,MUL would be 4)</a:t>
            </a:r>
          </a:p>
        </p:txBody>
      </p:sp>
      <p:sp>
        <p:nvSpPr>
          <p:cNvPr id="12" name="Rounded Rectangle 11"/>
          <p:cNvSpPr/>
          <p:nvPr/>
        </p:nvSpPr>
        <p:spPr>
          <a:xfrm>
            <a:off x="9491472" y="1645919"/>
            <a:ext cx="2011680" cy="329184"/>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1" i="0">
                <a:solidFill>
                  <a:srgbClr val="FFFFFF"/>
                </a:solidFill>
                <a:latin typeface="Calibri"/>
              </a:rPr>
              <a:t>cheapest rule chosen</a:t>
            </a:r>
          </a:p>
        </p:txBody>
      </p:sp>
      <p:sp>
        <p:nvSpPr>
          <p:cNvPr id="13" name="Rounded Rectangle 12"/>
          <p:cNvSpPr/>
          <p:nvPr/>
        </p:nvSpPr>
        <p:spPr>
          <a:xfrm>
            <a:off x="548640" y="3904487"/>
            <a:ext cx="5440680" cy="2212848"/>
          </a:xfrm>
          <a:prstGeom prst="roundRect">
            <a:avLst>
              <a:gd name="adj" fmla="val 413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4" name="TextBox 13"/>
          <p:cNvSpPr txBox="1"/>
          <p:nvPr/>
        </p:nvSpPr>
        <p:spPr>
          <a:xfrm>
            <a:off x="749808" y="4069079"/>
            <a:ext cx="5074920" cy="1938528"/>
          </a:xfrm>
          <a:prstGeom prst="rect">
            <a:avLst/>
          </a:prstGeom>
          <a:noFill/>
        </p:spPr>
        <p:txBody>
          <a:bodyPr wrap="square" lIns="0" rIns="0" tIns="0" bIns="0" anchor="t">
            <a:spAutoFit/>
          </a:bodyPr>
          <a:lstStyle/>
          <a:p>
            <a:pPr algn="l">
              <a:spcAft>
                <a:spcPts val="0"/>
              </a:spcAft>
            </a:pPr>
            <a:r>
              <a:rPr sz="1300" b="0" i="0">
                <a:solidFill>
                  <a:srgbClr val="8FD3D6"/>
                </a:solidFill>
                <a:latin typeface="Consolas"/>
              </a:rPr>
              <a:t>./build/burs -t A "7 + a"</a:t>
            </a:r>
          </a:p>
          <a:p>
            <a:pPr algn="l">
              <a:spcAft>
                <a:spcPts val="0"/>
              </a:spcAft>
            </a:pPr>
            <a:r>
              <a:rPr sz="1300" b="0" i="0">
                <a:solidFill>
                  <a:srgbClr val="E6EDF3"/>
                </a:solidFill>
                <a:latin typeface="Consolas"/>
              </a:rPr>
              <a:t/>
            </a:r>
          </a:p>
          <a:p>
            <a:pPr algn="l">
              <a:spcAft>
                <a:spcPts val="0"/>
              </a:spcAft>
            </a:pPr>
            <a:r>
              <a:rPr sz="1300" b="0" i="0">
                <a:solidFill>
                  <a:srgbClr val="E6EDF3"/>
                </a:solidFill>
                <a:latin typeface="Consolas"/>
              </a:rPr>
              <a:t>LOADI r0,#7</a:t>
            </a:r>
          </a:p>
          <a:p>
            <a:pPr algn="l">
              <a:spcAft>
                <a:spcPts val="0"/>
              </a:spcAft>
            </a:pPr>
            <a:r>
              <a:rPr sz="1300" b="0" i="0">
                <a:solidFill>
                  <a:srgbClr val="E6EDF3"/>
                </a:solidFill>
                <a:latin typeface="Consolas"/>
              </a:rPr>
              <a:t>LOAD r1,[a]</a:t>
            </a:r>
          </a:p>
          <a:p>
            <a:pPr algn="l">
              <a:spcAft>
                <a:spcPts val="0"/>
              </a:spcAft>
            </a:pPr>
            <a:r>
              <a:rPr sz="1300" b="0" i="0">
                <a:solidFill>
                  <a:srgbClr val="E6EDF3"/>
                </a:solidFill>
                <a:latin typeface="Consolas"/>
              </a:rPr>
              <a:t>ADD r2,r0,r1</a:t>
            </a:r>
          </a:p>
          <a:p>
            <a:pPr algn="l">
              <a:spcAft>
                <a:spcPts val="0"/>
              </a:spcAft>
            </a:pPr>
            <a:r>
              <a:rPr sz="1300" b="0" i="0">
                <a:solidFill>
                  <a:srgbClr val="E6EDF3"/>
                </a:solidFill>
                <a:latin typeface="Consolas"/>
              </a:rPr>
              <a:t>cost 3: no commutative rule</a:t>
            </a:r>
          </a:p>
        </p:txBody>
      </p:sp>
      <p:sp>
        <p:nvSpPr>
          <p:cNvPr id="15" name="Rounded Rectangle 14"/>
          <p:cNvSpPr/>
          <p:nvPr/>
        </p:nvSpPr>
        <p:spPr>
          <a:xfrm>
            <a:off x="3840479" y="4041648"/>
            <a:ext cx="2011680" cy="329184"/>
          </a:xfrm>
          <a:prstGeom prst="roundRect">
            <a:avLst>
              <a:gd name="adj" fmla="val 50000"/>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1" i="0">
                <a:solidFill>
                  <a:srgbClr val="FFFFFF"/>
                </a:solidFill>
                <a:latin typeface="Calibri"/>
              </a:rPr>
              <a:t>known limitation</a:t>
            </a:r>
          </a:p>
        </p:txBody>
      </p:sp>
      <p:sp>
        <p:nvSpPr>
          <p:cNvPr id="16" name="Rounded Rectangle 15"/>
          <p:cNvSpPr/>
          <p:nvPr/>
        </p:nvSpPr>
        <p:spPr>
          <a:xfrm>
            <a:off x="6199631" y="3904487"/>
            <a:ext cx="5440680" cy="2212848"/>
          </a:xfrm>
          <a:prstGeom prst="roundRect">
            <a:avLst>
              <a:gd name="adj" fmla="val 413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7" name="TextBox 16"/>
          <p:cNvSpPr txBox="1"/>
          <p:nvPr/>
        </p:nvSpPr>
        <p:spPr>
          <a:xfrm>
            <a:off x="6400799" y="4069079"/>
            <a:ext cx="5074920" cy="1938528"/>
          </a:xfrm>
          <a:prstGeom prst="rect">
            <a:avLst/>
          </a:prstGeom>
          <a:noFill/>
        </p:spPr>
        <p:txBody>
          <a:bodyPr wrap="square" lIns="0" rIns="0" tIns="0" bIns="0" anchor="t">
            <a:spAutoFit/>
          </a:bodyPr>
          <a:lstStyle/>
          <a:p>
            <a:pPr algn="l">
              <a:spcAft>
                <a:spcPts val="0"/>
              </a:spcAft>
            </a:pPr>
            <a:r>
              <a:rPr sz="1300" b="0" i="0">
                <a:solidFill>
                  <a:srgbClr val="8FD3D6"/>
                </a:solidFill>
                <a:latin typeface="Consolas"/>
              </a:rPr>
              <a:t>./build/burs "a / b"</a:t>
            </a:r>
          </a:p>
          <a:p>
            <a:pPr algn="l">
              <a:spcAft>
                <a:spcPts val="0"/>
              </a:spcAft>
            </a:pPr>
            <a:r>
              <a:rPr sz="1300" b="0" i="0">
                <a:solidFill>
                  <a:srgbClr val="E6EDF3"/>
                </a:solidFill>
                <a:latin typeface="Consolas"/>
              </a:rPr>
              <a:t/>
            </a:r>
          </a:p>
          <a:p>
            <a:pPr algn="l">
              <a:spcAft>
                <a:spcPts val="0"/>
              </a:spcAft>
            </a:pPr>
            <a:r>
              <a:rPr sz="1300" b="0" i="0">
                <a:solidFill>
                  <a:srgbClr val="F08A7A"/>
                </a:solidFill>
                <a:latin typeface="Consolas"/>
              </a:rPr>
              <a:t>ERROR: invalid expression,</a:t>
            </a:r>
          </a:p>
          <a:p>
            <a:pPr algn="l">
              <a:spcAft>
                <a:spcPts val="0"/>
              </a:spcAft>
            </a:pPr>
            <a:r>
              <a:rPr sz="1300" b="0" i="0">
                <a:solidFill>
                  <a:srgbClr val="F08A7A"/>
                </a:solidFill>
                <a:latin typeface="Consolas"/>
              </a:rPr>
              <a:t>column 3: operator '/' is not</a:t>
            </a:r>
          </a:p>
          <a:p>
            <a:pPr algn="l">
              <a:spcAft>
                <a:spcPts val="0"/>
              </a:spcAft>
            </a:pPr>
            <a:r>
              <a:rPr sz="1300" b="0" i="0">
                <a:solidFill>
                  <a:srgbClr val="F08A7A"/>
                </a:solidFill>
                <a:latin typeface="Consolas"/>
              </a:rPr>
              <a:t>supported. exit status 2</a:t>
            </a:r>
          </a:p>
        </p:txBody>
      </p:sp>
      <p:sp>
        <p:nvSpPr>
          <p:cNvPr id="18" name="Rounded Rectangle 17"/>
          <p:cNvSpPr/>
          <p:nvPr/>
        </p:nvSpPr>
        <p:spPr>
          <a:xfrm>
            <a:off x="9491472" y="4041648"/>
            <a:ext cx="2011680" cy="329184"/>
          </a:xfrm>
          <a:prstGeom prst="roundRect">
            <a:avLst>
              <a:gd name="adj" fmla="val 50000"/>
            </a:avLst>
          </a:prstGeom>
          <a:solidFill>
            <a:srgbClr val="C2412D"/>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1" i="0">
                <a:solidFill>
                  <a:srgbClr val="FFFFFF"/>
                </a:solidFill>
                <a:latin typeface="Calibri"/>
              </a:rPr>
              <a:t>invalid input rejected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Module 2: the BURS engine</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engine.c: four target-independent functions; every call goes through the Target object</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Utsav</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8</a:t>
            </a:r>
          </a:p>
        </p:txBody>
      </p:sp>
      <p:sp>
        <p:nvSpPr>
          <p:cNvPr id="7" name="Oval 6"/>
          <p:cNvSpPr/>
          <p:nvPr/>
        </p:nvSpPr>
        <p:spPr>
          <a:xfrm>
            <a:off x="576071" y="1673351"/>
            <a:ext cx="585216" cy="58521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Calibri"/>
              </a:rPr>
              <a:t>1</a:t>
            </a:r>
          </a:p>
        </p:txBody>
      </p:sp>
      <p:cxnSp>
        <p:nvCxnSpPr>
          <p:cNvPr id="8" name="Connector 7"/>
          <p:cNvCxnSpPr/>
          <p:nvPr/>
        </p:nvCxnSpPr>
        <p:spPr>
          <a:xfrm>
            <a:off x="868680" y="2267712"/>
            <a:ext cx="0" cy="512064"/>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371600" y="1627632"/>
            <a:ext cx="420624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onsolas"/>
              </a:rPr>
              <a:t>burs_label</a:t>
            </a:r>
          </a:p>
        </p:txBody>
      </p:sp>
      <p:sp>
        <p:nvSpPr>
          <p:cNvPr id="10" name="TextBox 9"/>
          <p:cNvSpPr txBox="1"/>
          <p:nvPr/>
        </p:nvSpPr>
        <p:spPr>
          <a:xfrm>
            <a:off x="1371600" y="2011680"/>
            <a:ext cx="4206240" cy="54864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postorder walk; one table lookup per node writes its state</a:t>
            </a:r>
          </a:p>
        </p:txBody>
      </p:sp>
      <p:sp>
        <p:nvSpPr>
          <p:cNvPr id="11" name="Oval 10"/>
          <p:cNvSpPr/>
          <p:nvPr/>
        </p:nvSpPr>
        <p:spPr>
          <a:xfrm>
            <a:off x="576071" y="2788920"/>
            <a:ext cx="585216" cy="58521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Calibri"/>
              </a:rPr>
              <a:t>2</a:t>
            </a:r>
          </a:p>
        </p:txBody>
      </p:sp>
      <p:cxnSp>
        <p:nvCxnSpPr>
          <p:cNvPr id="12" name="Connector 11"/>
          <p:cNvCxnSpPr/>
          <p:nvPr/>
        </p:nvCxnSpPr>
        <p:spPr>
          <a:xfrm>
            <a:off x="868680" y="3383280"/>
            <a:ext cx="0" cy="512064"/>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371600" y="2743200"/>
            <a:ext cx="420624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onsolas"/>
              </a:rPr>
              <a:t>burs_cost</a:t>
            </a:r>
          </a:p>
        </p:txBody>
      </p:sp>
      <p:sp>
        <p:nvSpPr>
          <p:cNvPr id="14" name="TextBox 13"/>
          <p:cNvSpPr txBox="1"/>
          <p:nvPr/>
        </p:nvSpPr>
        <p:spPr>
          <a:xfrm>
            <a:off x="1371600" y="3127248"/>
            <a:ext cx="4206240" cy="54864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best rule + cost for every node and nonterminal</a:t>
            </a:r>
          </a:p>
        </p:txBody>
      </p:sp>
      <p:sp>
        <p:nvSpPr>
          <p:cNvPr id="15" name="Oval 14"/>
          <p:cNvSpPr/>
          <p:nvPr/>
        </p:nvSpPr>
        <p:spPr>
          <a:xfrm>
            <a:off x="576071" y="3904487"/>
            <a:ext cx="585216" cy="58521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Calibri"/>
              </a:rPr>
              <a:t>3</a:t>
            </a:r>
          </a:p>
        </p:txBody>
      </p:sp>
      <p:cxnSp>
        <p:nvCxnSpPr>
          <p:cNvPr id="16" name="Connector 15"/>
          <p:cNvCxnSpPr/>
          <p:nvPr/>
        </p:nvCxnSpPr>
        <p:spPr>
          <a:xfrm>
            <a:off x="868680" y="4498848"/>
            <a:ext cx="0" cy="512064"/>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71600" y="3858768"/>
            <a:ext cx="420624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onsolas"/>
              </a:rPr>
              <a:t>burs_print_cover</a:t>
            </a:r>
          </a:p>
        </p:txBody>
      </p:sp>
      <p:sp>
        <p:nvSpPr>
          <p:cNvPr id="18" name="TextBox 17"/>
          <p:cNvSpPr txBox="1"/>
          <p:nvPr/>
        </p:nvSpPr>
        <p:spPr>
          <a:xfrm>
            <a:off x="1371600" y="4242816"/>
            <a:ext cx="4206240" cy="54864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backtrack from (root, start NT): the selected rules</a:t>
            </a:r>
          </a:p>
        </p:txBody>
      </p:sp>
      <p:sp>
        <p:nvSpPr>
          <p:cNvPr id="19" name="Oval 18"/>
          <p:cNvSpPr/>
          <p:nvPr/>
        </p:nvSpPr>
        <p:spPr>
          <a:xfrm>
            <a:off x="576071" y="5020056"/>
            <a:ext cx="585216" cy="585216"/>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Calibri"/>
              </a:rPr>
              <a:t>4</a:t>
            </a:r>
          </a:p>
        </p:txBody>
      </p:sp>
      <p:sp>
        <p:nvSpPr>
          <p:cNvPr id="20" name="TextBox 19"/>
          <p:cNvSpPr txBox="1"/>
          <p:nvPr/>
        </p:nvSpPr>
        <p:spPr>
          <a:xfrm>
            <a:off x="1371600" y="4974336"/>
            <a:ext cx="420624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onsolas"/>
              </a:rPr>
              <a:t>burs_reduce</a:t>
            </a:r>
          </a:p>
        </p:txBody>
      </p:sp>
      <p:sp>
        <p:nvSpPr>
          <p:cNvPr id="21" name="TextBox 20"/>
          <p:cNvSpPr txBox="1"/>
          <p:nvPr/>
        </p:nvSpPr>
        <p:spPr>
          <a:xfrm>
            <a:off x="1371600" y="5358384"/>
            <a:ext cx="4206240" cy="54864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children first, then target.reduce(): emits code</a:t>
            </a:r>
          </a:p>
        </p:txBody>
      </p:sp>
      <p:sp>
        <p:nvSpPr>
          <p:cNvPr id="22" name="Rounded Rectangle 21"/>
          <p:cNvSpPr/>
          <p:nvPr/>
        </p:nvSpPr>
        <p:spPr>
          <a:xfrm>
            <a:off x="5897880" y="1508760"/>
            <a:ext cx="5742432" cy="4526280"/>
          </a:xfrm>
          <a:prstGeom prst="roundRect">
            <a:avLst>
              <a:gd name="adj" fmla="val 202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3" name="TextBox 22"/>
          <p:cNvSpPr txBox="1"/>
          <p:nvPr/>
        </p:nvSpPr>
        <p:spPr>
          <a:xfrm>
            <a:off x="6099048" y="1636776"/>
            <a:ext cx="5376672"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src/burs/engine.c  (excerpt)</a:t>
            </a:r>
          </a:p>
        </p:txBody>
      </p:sp>
      <p:sp>
        <p:nvSpPr>
          <p:cNvPr id="24" name="TextBox 23"/>
          <p:cNvSpPr txBox="1"/>
          <p:nvPr/>
        </p:nvSpPr>
        <p:spPr>
          <a:xfrm>
            <a:off x="6099048" y="1965960"/>
            <a:ext cx="5376672" cy="395935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Operand burs_reduce(const Target *t, NODEPTR_TYPE p,</a:t>
            </a:r>
          </a:p>
          <a:p>
            <a:pPr algn="l">
              <a:spcAft>
                <a:spcPts val="0"/>
              </a:spcAft>
            </a:pPr>
            <a:r>
              <a:rPr sz="1300" b="0" i="0">
                <a:solidFill>
                  <a:srgbClr val="E6EDF3"/>
                </a:solidFill>
                <a:latin typeface="Consolas"/>
              </a:rPr>
              <a:t>                    int nt, EmitCtx *ctx)</a:t>
            </a:r>
          </a:p>
          <a:p>
            <a:pPr algn="l">
              <a:spcAft>
                <a:spcPts val="0"/>
              </a:spcAft>
            </a:pPr>
            <a:r>
              <a:rPr sz="1300" b="0" i="0">
                <a:solidFill>
                  <a:srgbClr val="E6EDF3"/>
                </a:solidFill>
                <a:latin typeface="Consolas"/>
              </a:rPr>
              <a:t>{</a:t>
            </a:r>
          </a:p>
          <a:p>
            <a:pPr algn="l">
              <a:spcAft>
                <a:spcPts val="0"/>
              </a:spcAft>
            </a:pPr>
            <a:r>
              <a:rPr sz="1300" b="0" i="0">
                <a:solidFill>
                  <a:srgbClr val="E6EDF3"/>
                </a:solidFill>
                <a:latin typeface="Consolas"/>
              </a:rPr>
              <a:t>  int r = t-&gt;rule(STATE_LABEL(p), nt);</a:t>
            </a:r>
          </a:p>
          <a:p>
            <a:pPr algn="l">
              <a:spcAft>
                <a:spcPts val="0"/>
              </a:spcAft>
            </a:pPr>
            <a:r>
              <a:rPr sz="1300" b="0" i="0">
                <a:solidFill>
                  <a:srgbClr val="E6EDF3"/>
                </a:solidFill>
                <a:latin typeface="Consolas"/>
              </a:rPr>
              <a:t>  short *nts = t-&gt;nts[r];</a:t>
            </a:r>
          </a:p>
          <a:p>
            <a:pPr algn="l">
              <a:spcAft>
                <a:spcPts val="0"/>
              </a:spcAft>
            </a:pPr>
            <a:r>
              <a:rPr sz="1300" b="0" i="0">
                <a:solidFill>
                  <a:srgbClr val="E6EDF3"/>
                </a:solidFill>
                <a:latin typeface="Consolas"/>
              </a:rPr>
              <a:t>  ...</a:t>
            </a:r>
          </a:p>
          <a:p>
            <a:pPr algn="l">
              <a:spcAft>
                <a:spcPts val="0"/>
              </a:spcAft>
            </a:pPr>
            <a:r>
              <a:rPr sz="1300" b="0" i="0">
                <a:solidFill>
                  <a:srgbClr val="E6EDF3"/>
                </a:solidFill>
                <a:latin typeface="Consolas"/>
              </a:rPr>
              <a:t>  t-&gt;kids(p, r, kids);</a:t>
            </a:r>
          </a:p>
          <a:p>
            <a:pPr algn="l">
              <a:spcAft>
                <a:spcPts val="0"/>
              </a:spcAft>
            </a:pPr>
            <a:r>
              <a:rPr sz="1300" b="0" i="0">
                <a:solidFill>
                  <a:srgbClr val="8FA3B8"/>
                </a:solidFill>
                <a:latin typeface="Consolas"/>
              </a:rPr>
              <a:t>  /* children first, left to right: */</a:t>
            </a:r>
          </a:p>
          <a:p>
            <a:pPr algn="l">
              <a:spcAft>
                <a:spcPts val="0"/>
              </a:spcAft>
            </a:pPr>
            <a:r>
              <a:rPr sz="1300" b="0" i="0">
                <a:solidFill>
                  <a:srgbClr val="8FA3B8"/>
                </a:solidFill>
                <a:latin typeface="Consolas"/>
              </a:rPr>
              <a:t>  /* instructions come out in postorder */</a:t>
            </a:r>
          </a:p>
          <a:p>
            <a:pPr algn="l">
              <a:spcAft>
                <a:spcPts val="0"/>
              </a:spcAft>
            </a:pPr>
            <a:r>
              <a:rPr sz="1300" b="0" i="0">
                <a:solidFill>
                  <a:srgbClr val="E6EDF3"/>
                </a:solidFill>
                <a:latin typeface="Consolas"/>
              </a:rPr>
              <a:t>  for (i = 0; nts[i]; i++)</a:t>
            </a:r>
          </a:p>
          <a:p>
            <a:pPr algn="l">
              <a:spcAft>
                <a:spcPts val="0"/>
              </a:spcAft>
            </a:pPr>
            <a:r>
              <a:rPr sz="1300" b="0" i="0">
                <a:solidFill>
                  <a:srgbClr val="E6EDF3"/>
                </a:solidFill>
                <a:latin typeface="Consolas"/>
              </a:rPr>
              <a:t>    ops[i] = burs_reduce(t, kids[i], nts[i], ctx);</a:t>
            </a:r>
          </a:p>
          <a:p>
            <a:pPr algn="l">
              <a:spcAft>
                <a:spcPts val="0"/>
              </a:spcAft>
            </a:pPr>
            <a:r>
              <a:rPr sz="1300" b="0" i="0">
                <a:solidFill>
                  <a:srgbClr val="E89A2C"/>
                </a:solidFill>
                <a:latin typeface="Consolas"/>
              </a:rPr>
              <a:t>  return t-&gt;reduce(ctx, p, r, ops);</a:t>
            </a:r>
          </a:p>
          <a:p>
            <a:pPr algn="l">
              <a:spcAft>
                <a:spcPts val="0"/>
              </a:spcAft>
            </a:pPr>
            <a:r>
              <a:rPr sz="1300" b="0" i="0">
                <a:solidFill>
                  <a:srgbClr val="E6EDF3"/>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Module 2 demo: the cost table behind a choice</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./build/burs -v -t A "load(a) + 4": DP result per node (n1..n4 numbered in postorder)</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Utsav</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9</a:t>
            </a:r>
          </a:p>
        </p:txBody>
      </p:sp>
      <p:graphicFrame>
        <p:nvGraphicFramePr>
          <p:cNvPr id="7" name="Table 6"/>
          <p:cNvGraphicFramePr>
            <a:graphicFrameLocks noGrp="1"/>
          </p:cNvGraphicFramePr>
          <p:nvPr/>
        </p:nvGraphicFramePr>
        <p:xfrm>
          <a:off x="548640" y="1554480"/>
          <a:ext cx="6949439" cy="2743200"/>
        </p:xfrm>
        <a:graphic>
          <a:graphicData uri="http://schemas.openxmlformats.org/drawingml/2006/table">
            <a:tbl>
              <a:tblPr firstRow="1" bandRow="1">
                <a:tableStyleId>{5C22544A-7EE6-4342-B048-85BDC9FD1C3A}</a:tableStyleId>
              </a:tblPr>
              <a:tblGrid>
                <a:gridCol w="1417320"/>
                <a:gridCol w="548640"/>
                <a:gridCol w="1874519"/>
                <a:gridCol w="548640"/>
                <a:gridCol w="2560320"/>
              </a:tblGrid>
              <a:tr h="457200">
                <a:tc>
                  <a:txBody>
                    <a:bodyPr wrap="square"/>
                    <a:lstStyle/>
                    <a:p>
                      <a:pPr algn="l"/>
                      <a:r>
                        <a:rPr sz="1300" b="1" i="0">
                          <a:solidFill>
                            <a:srgbClr val="FFFFFF"/>
                          </a:solidFill>
                          <a:latin typeface="Calibri"/>
                        </a:rPr>
                        <a:t>Node</a:t>
                      </a:r>
                    </a:p>
                  </a:txBody>
                  <a:tcPr marL="73152" marR="73152" marT="27432" marB="27432" anchor="ctr">
                    <a:solidFill>
                      <a:srgbClr val="16233A"/>
                    </a:solidFill>
                  </a:tcPr>
                </a:tc>
                <a:tc>
                  <a:txBody>
                    <a:bodyPr wrap="square"/>
                    <a:lstStyle/>
                    <a:p>
                      <a:pPr algn="l"/>
                      <a:r>
                        <a:rPr sz="1300" b="1" i="0">
                          <a:solidFill>
                            <a:srgbClr val="FFFFFF"/>
                          </a:solidFill>
                          <a:latin typeface="Calibri"/>
                        </a:rPr>
                        <a:t>NT</a:t>
                      </a:r>
                    </a:p>
                  </a:txBody>
                  <a:tcPr marL="73152" marR="73152" marT="27432" marB="27432" anchor="ctr">
                    <a:solidFill>
                      <a:srgbClr val="16233A"/>
                    </a:solidFill>
                  </a:tcPr>
                </a:tc>
                <a:tc>
                  <a:txBody>
                    <a:bodyPr wrap="square"/>
                    <a:lstStyle/>
                    <a:p>
                      <a:pPr algn="l"/>
                      <a:r>
                        <a:rPr sz="1300" b="1" i="0">
                          <a:solidFill>
                            <a:srgbClr val="FFFFFF"/>
                          </a:solidFill>
                          <a:latin typeface="Calibri"/>
                        </a:rPr>
                        <a:t>Best rule</a:t>
                      </a:r>
                    </a:p>
                  </a:txBody>
                  <a:tcPr marL="73152" marR="73152" marT="27432" marB="27432" anchor="ctr">
                    <a:solidFill>
                      <a:srgbClr val="16233A"/>
                    </a:solidFill>
                  </a:tcPr>
                </a:tc>
                <a:tc>
                  <a:txBody>
                    <a:bodyPr wrap="square"/>
                    <a:lstStyle/>
                    <a:p>
                      <a:pPr algn="ctr"/>
                      <a:r>
                        <a:rPr sz="1300" b="1" i="0">
                          <a:solidFill>
                            <a:srgbClr val="FFFFFF"/>
                          </a:solidFill>
                          <a:latin typeface="Calibri"/>
                        </a:rPr>
                        <a:t>Cost</a:t>
                      </a:r>
                    </a:p>
                  </a:txBody>
                  <a:tcPr marL="73152" marR="73152" marT="27432" marB="27432" anchor="ctr">
                    <a:solidFill>
                      <a:srgbClr val="16233A"/>
                    </a:solidFill>
                  </a:tcPr>
                </a:tc>
                <a:tc>
                  <a:txBody>
                    <a:bodyPr wrap="square"/>
                    <a:lstStyle/>
                    <a:p>
                      <a:pPr algn="l"/>
                      <a:r>
                        <a:rPr sz="1300" b="1" i="0">
                          <a:solidFill>
                            <a:srgbClr val="FFFFFF"/>
                          </a:solidFill>
                          <a:latin typeface="Calibri"/>
                        </a:rPr>
                        <a:t>Why</a:t>
                      </a:r>
                    </a:p>
                  </a:txBody>
                  <a:tcPr marL="73152" marR="73152" marT="27432" marB="27432" anchor="ctr">
                    <a:solidFill>
                      <a:srgbClr val="16233A"/>
                    </a:solidFill>
                  </a:tcPr>
                </a:tc>
              </a:tr>
              <a:tr h="457200">
                <a:tc>
                  <a:txBody>
                    <a:bodyPr wrap="square"/>
                    <a:lstStyle/>
                    <a:p>
                      <a:pPr algn="l"/>
                      <a:r>
                        <a:rPr sz="1300" b="0" i="0">
                          <a:solidFill>
                            <a:srgbClr val="1F2933"/>
                          </a:solidFill>
                          <a:latin typeface="Calibri"/>
                        </a:rPr>
                        <a:t>n1  VAR a</a:t>
                      </a:r>
                    </a:p>
                  </a:txBody>
                  <a:tcPr marL="73152" marR="73152" marT="27432" marB="27432" anchor="ctr">
                    <a:solidFill>
                      <a:srgbClr val="FFFFFF"/>
                    </a:solidFill>
                  </a:tcPr>
                </a:tc>
                <a:tc>
                  <a:txBody>
                    <a:bodyPr wrap="square"/>
                    <a:lstStyle/>
                    <a:p>
                      <a:pPr algn="l"/>
                      <a:r>
                        <a:rPr sz="1300" b="0" i="0">
                          <a:solidFill>
                            <a:srgbClr val="1F2933"/>
                          </a:solidFill>
                          <a:latin typeface="Calibri"/>
                        </a:rPr>
                        <a:t>reg</a:t>
                      </a:r>
                    </a:p>
                  </a:txBody>
                  <a:tcPr marL="73152" marR="73152" marT="27432" marB="27432" anchor="ctr">
                    <a:solidFill>
                      <a:srgbClr val="FFFFFF"/>
                    </a:solidFill>
                  </a:tcPr>
                </a:tc>
                <a:tc>
                  <a:txBody>
                    <a:bodyPr wrap="square"/>
                    <a:lstStyle/>
                    <a:p>
                      <a:pPr algn="l"/>
                      <a:r>
                        <a:rPr sz="1300" b="0" i="0">
                          <a:solidFill>
                            <a:srgbClr val="1F2933"/>
                          </a:solidFill>
                          <a:latin typeface="Calibri"/>
                        </a:rPr>
                        <a:t>reg: VAR</a:t>
                      </a:r>
                    </a:p>
                  </a:txBody>
                  <a:tcPr marL="73152" marR="73152" marT="27432" marB="27432" anchor="ctr">
                    <a:solidFill>
                      <a:srgbClr val="FFFFFF"/>
                    </a:solidFill>
                  </a:tcPr>
                </a:tc>
                <a:tc>
                  <a:txBody>
                    <a:bodyPr wrap="square"/>
                    <a:lstStyle/>
                    <a:p>
                      <a:pPr algn="ctr"/>
                      <a:r>
                        <a:rPr sz="1300" b="0" i="0">
                          <a:solidFill>
                            <a:srgbClr val="1F2933"/>
                          </a:solidFill>
                          <a:latin typeface="Calibri"/>
                        </a:rPr>
                        <a:t>1</a:t>
                      </a:r>
                    </a:p>
                  </a:txBody>
                  <a:tcPr marL="73152" marR="73152" marT="27432" marB="27432" anchor="ctr">
                    <a:solidFill>
                      <a:srgbClr val="FFFFFF"/>
                    </a:solidFill>
                  </a:tcPr>
                </a:tc>
                <a:tc>
                  <a:txBody>
                    <a:bodyPr wrap="square"/>
                    <a:lstStyle/>
                    <a:p>
                      <a:pPr algn="l"/>
                      <a:r>
                        <a:rPr sz="1300" b="0" i="0">
                          <a:solidFill>
                            <a:srgbClr val="1F2933"/>
                          </a:solidFill>
                          <a:latin typeface="Calibri"/>
                        </a:rPr>
                        <a:t>only rule</a:t>
                      </a:r>
                    </a:p>
                  </a:txBody>
                  <a:tcPr marL="73152" marR="73152" marT="27432" marB="27432" anchor="ctr">
                    <a:solidFill>
                      <a:srgbClr val="FFFFFF"/>
                    </a:solidFill>
                  </a:tcPr>
                </a:tc>
              </a:tr>
              <a:tr h="457200">
                <a:tc>
                  <a:txBody>
                    <a:bodyPr wrap="square"/>
                    <a:lstStyle/>
                    <a:p>
                      <a:pPr algn="l"/>
                      <a:r>
                        <a:rPr sz="1300" b="0" i="0">
                          <a:solidFill>
                            <a:srgbClr val="1F2933"/>
                          </a:solidFill>
                          <a:latin typeface="Calibri"/>
                        </a:rPr>
                        <a:t>n2  LOAD</a:t>
                      </a:r>
                    </a:p>
                  </a:txBody>
                  <a:tcPr marL="73152" marR="73152" marT="27432" marB="27432" anchor="ctr">
                    <a:solidFill>
                      <a:srgbClr val="F1F4F7"/>
                    </a:solidFill>
                  </a:tcPr>
                </a:tc>
                <a:tc>
                  <a:txBody>
                    <a:bodyPr wrap="square"/>
                    <a:lstStyle/>
                    <a:p>
                      <a:pPr algn="l"/>
                      <a:r>
                        <a:rPr sz="1300" b="0" i="0">
                          <a:solidFill>
                            <a:srgbClr val="1F2933"/>
                          </a:solidFill>
                          <a:latin typeface="Calibri"/>
                        </a:rPr>
                        <a:t>reg</a:t>
                      </a:r>
                    </a:p>
                  </a:txBody>
                  <a:tcPr marL="73152" marR="73152" marT="27432" marB="27432" anchor="ctr">
                    <a:solidFill>
                      <a:srgbClr val="F1F4F7"/>
                    </a:solidFill>
                  </a:tcPr>
                </a:tc>
                <a:tc>
                  <a:txBody>
                    <a:bodyPr wrap="square"/>
                    <a:lstStyle/>
                    <a:p>
                      <a:pPr algn="l"/>
                      <a:r>
                        <a:rPr sz="1300" b="0" i="0">
                          <a:solidFill>
                            <a:srgbClr val="1F2933"/>
                          </a:solidFill>
                          <a:latin typeface="Calibri"/>
                        </a:rPr>
                        <a:t>reg: LOAD(reg)</a:t>
                      </a:r>
                    </a:p>
                  </a:txBody>
                  <a:tcPr marL="73152" marR="73152" marT="27432" marB="27432" anchor="ctr">
                    <a:solidFill>
                      <a:srgbClr val="F1F4F7"/>
                    </a:solidFill>
                  </a:tcPr>
                </a:tc>
                <a:tc>
                  <a:txBody>
                    <a:bodyPr wrap="square"/>
                    <a:lstStyle/>
                    <a:p>
                      <a:pPr algn="ctr"/>
                      <a:r>
                        <a:rPr sz="1300" b="0" i="0">
                          <a:solidFill>
                            <a:srgbClr val="1F2933"/>
                          </a:solidFill>
                          <a:latin typeface="Calibri"/>
                        </a:rPr>
                        <a:t>2</a:t>
                      </a:r>
                    </a:p>
                  </a:txBody>
                  <a:tcPr marL="73152" marR="73152" marT="27432" marB="27432" anchor="ctr">
                    <a:solidFill>
                      <a:srgbClr val="F1F4F7"/>
                    </a:solidFill>
                  </a:tcPr>
                </a:tc>
                <a:tc>
                  <a:txBody>
                    <a:bodyPr wrap="square"/>
                    <a:lstStyle/>
                    <a:p>
                      <a:pPr algn="l"/>
                      <a:r>
                        <a:rPr sz="1300" b="0" i="0">
                          <a:solidFill>
                            <a:srgbClr val="1F2933"/>
                          </a:solidFill>
                          <a:latin typeface="Calibri"/>
                        </a:rPr>
                        <a:t>1 + cost(n1, reg)</a:t>
                      </a:r>
                    </a:p>
                  </a:txBody>
                  <a:tcPr marL="73152" marR="73152" marT="27432" marB="27432" anchor="ctr">
                    <a:solidFill>
                      <a:srgbClr val="F1F4F7"/>
                    </a:solidFill>
                  </a:tcPr>
                </a:tc>
              </a:tr>
              <a:tr h="457200">
                <a:tc>
                  <a:txBody>
                    <a:bodyPr wrap="square"/>
                    <a:lstStyle/>
                    <a:p>
                      <a:pPr algn="l"/>
                      <a:r>
                        <a:rPr sz="1300" b="0" i="0">
                          <a:solidFill>
                            <a:srgbClr val="1F2933"/>
                          </a:solidFill>
                          <a:latin typeface="Calibri"/>
                        </a:rPr>
                        <a:t>n3  CONST 4</a:t>
                      </a:r>
                    </a:p>
                  </a:txBody>
                  <a:tcPr marL="73152" marR="73152" marT="27432" marB="27432" anchor="ctr">
                    <a:solidFill>
                      <a:srgbClr val="FFFFFF"/>
                    </a:solidFill>
                  </a:tcPr>
                </a:tc>
                <a:tc>
                  <a:txBody>
                    <a:bodyPr wrap="square"/>
                    <a:lstStyle/>
                    <a:p>
                      <a:pPr algn="l"/>
                      <a:r>
                        <a:rPr sz="1300" b="0" i="0">
                          <a:solidFill>
                            <a:srgbClr val="1F2933"/>
                          </a:solidFill>
                          <a:latin typeface="Calibri"/>
                        </a:rPr>
                        <a:t>reg</a:t>
                      </a:r>
                    </a:p>
                  </a:txBody>
                  <a:tcPr marL="73152" marR="73152" marT="27432" marB="27432" anchor="ctr">
                    <a:solidFill>
                      <a:srgbClr val="FFFFFF"/>
                    </a:solidFill>
                  </a:tcPr>
                </a:tc>
                <a:tc>
                  <a:txBody>
                    <a:bodyPr wrap="square"/>
                    <a:lstStyle/>
                    <a:p>
                      <a:pPr algn="l"/>
                      <a:r>
                        <a:rPr sz="1300" b="0" i="0">
                          <a:solidFill>
                            <a:srgbClr val="1F2933"/>
                          </a:solidFill>
                          <a:latin typeface="Calibri"/>
                        </a:rPr>
                        <a:t>reg: CONST</a:t>
                      </a:r>
                    </a:p>
                  </a:txBody>
                  <a:tcPr marL="73152" marR="73152" marT="27432" marB="27432" anchor="ctr">
                    <a:solidFill>
                      <a:srgbClr val="FFFFFF"/>
                    </a:solidFill>
                  </a:tcPr>
                </a:tc>
                <a:tc>
                  <a:txBody>
                    <a:bodyPr wrap="square"/>
                    <a:lstStyle/>
                    <a:p>
                      <a:pPr algn="ctr"/>
                      <a:r>
                        <a:rPr sz="1300" b="0" i="0">
                          <a:solidFill>
                            <a:srgbClr val="1F2933"/>
                          </a:solidFill>
                          <a:latin typeface="Calibri"/>
                        </a:rPr>
                        <a:t>1</a:t>
                      </a:r>
                    </a:p>
                  </a:txBody>
                  <a:tcPr marL="73152" marR="73152" marT="27432" marB="27432" anchor="ctr">
                    <a:solidFill>
                      <a:srgbClr val="FFFFFF"/>
                    </a:solidFill>
                  </a:tcPr>
                </a:tc>
                <a:tc>
                  <a:txBody>
                    <a:bodyPr wrap="square"/>
                    <a:lstStyle/>
                    <a:p>
                      <a:pPr algn="l"/>
                      <a:r>
                        <a:rPr sz="1300" b="0" i="0">
                          <a:solidFill>
                            <a:srgbClr val="1F2933"/>
                          </a:solidFill>
                          <a:latin typeface="Calibri"/>
                        </a:rPr>
                        <a:t>LOADI</a:t>
                      </a:r>
                    </a:p>
                  </a:txBody>
                  <a:tcPr marL="73152" marR="73152" marT="27432" marB="27432" anchor="ctr">
                    <a:solidFill>
                      <a:srgbClr val="FFFFFF"/>
                    </a:solidFill>
                  </a:tcPr>
                </a:tc>
              </a:tr>
              <a:tr h="457200">
                <a:tc>
                  <a:txBody>
                    <a:bodyPr wrap="square"/>
                    <a:lstStyle/>
                    <a:p>
                      <a:pPr algn="l"/>
                      <a:r>
                        <a:rPr sz="1300" b="0" i="0">
                          <a:solidFill>
                            <a:srgbClr val="1F2933"/>
                          </a:solidFill>
                          <a:latin typeface="Calibri"/>
                        </a:rPr>
                        <a:t>n3  CONST 4</a:t>
                      </a:r>
                    </a:p>
                  </a:txBody>
                  <a:tcPr marL="73152" marR="73152" marT="27432" marB="27432" anchor="ctr">
                    <a:solidFill>
                      <a:srgbClr val="FCEBCF"/>
                    </a:solidFill>
                  </a:tcPr>
                </a:tc>
                <a:tc>
                  <a:txBody>
                    <a:bodyPr wrap="square"/>
                    <a:lstStyle/>
                    <a:p>
                      <a:pPr algn="l"/>
                      <a:r>
                        <a:rPr sz="1300" b="0" i="0">
                          <a:solidFill>
                            <a:srgbClr val="1F2933"/>
                          </a:solidFill>
                          <a:latin typeface="Calibri"/>
                        </a:rPr>
                        <a:t>imm</a:t>
                      </a:r>
                    </a:p>
                  </a:txBody>
                  <a:tcPr marL="73152" marR="73152" marT="27432" marB="27432" anchor="ctr">
                    <a:solidFill>
                      <a:srgbClr val="FCEBCF"/>
                    </a:solidFill>
                  </a:tcPr>
                </a:tc>
                <a:tc>
                  <a:txBody>
                    <a:bodyPr wrap="square"/>
                    <a:lstStyle/>
                    <a:p>
                      <a:pPr algn="l"/>
                      <a:r>
                        <a:rPr sz="1300" b="0" i="0">
                          <a:solidFill>
                            <a:srgbClr val="1F2933"/>
                          </a:solidFill>
                          <a:latin typeface="Calibri"/>
                        </a:rPr>
                        <a:t>imm: CONST</a:t>
                      </a:r>
                    </a:p>
                  </a:txBody>
                  <a:tcPr marL="73152" marR="73152" marT="27432" marB="27432" anchor="ctr">
                    <a:solidFill>
                      <a:srgbClr val="FCEBCF"/>
                    </a:solidFill>
                  </a:tcPr>
                </a:tc>
                <a:tc>
                  <a:txBody>
                    <a:bodyPr wrap="square"/>
                    <a:lstStyle/>
                    <a:p>
                      <a:pPr algn="ctr"/>
                      <a:r>
                        <a:rPr sz="1300" b="0" i="0">
                          <a:solidFill>
                            <a:srgbClr val="1F2933"/>
                          </a:solidFill>
                          <a:latin typeface="Calibri"/>
                        </a:rPr>
                        <a:t>0</a:t>
                      </a:r>
                    </a:p>
                  </a:txBody>
                  <a:tcPr marL="73152" marR="73152" marT="27432" marB="27432" anchor="ctr">
                    <a:solidFill>
                      <a:srgbClr val="FCEBCF"/>
                    </a:solidFill>
                  </a:tcPr>
                </a:tc>
                <a:tc>
                  <a:txBody>
                    <a:bodyPr wrap="square"/>
                    <a:lstStyle/>
                    <a:p>
                      <a:pPr algn="l"/>
                      <a:r>
                        <a:rPr sz="1300" b="0" i="0">
                          <a:solidFill>
                            <a:srgbClr val="1F2933"/>
                          </a:solidFill>
                          <a:latin typeface="Calibri"/>
                        </a:rPr>
                        <a:t>folds into parent</a:t>
                      </a:r>
                    </a:p>
                  </a:txBody>
                  <a:tcPr marL="73152" marR="73152" marT="27432" marB="27432" anchor="ctr">
                    <a:solidFill>
                      <a:srgbClr val="FCEBCF"/>
                    </a:solidFill>
                  </a:tcPr>
                </a:tc>
              </a:tr>
              <a:tr h="457200">
                <a:tc>
                  <a:txBody>
                    <a:bodyPr wrap="square"/>
                    <a:lstStyle/>
                    <a:p>
                      <a:pPr algn="l"/>
                      <a:r>
                        <a:rPr sz="1300" b="0" i="0">
                          <a:solidFill>
                            <a:srgbClr val="1F2933"/>
                          </a:solidFill>
                          <a:latin typeface="Calibri"/>
                        </a:rPr>
                        <a:t>n4  ADD</a:t>
                      </a:r>
                    </a:p>
                  </a:txBody>
                  <a:tcPr marL="73152" marR="73152" marT="27432" marB="27432" anchor="ctr">
                    <a:solidFill>
                      <a:srgbClr val="FCEBCF"/>
                    </a:solidFill>
                  </a:tcPr>
                </a:tc>
                <a:tc>
                  <a:txBody>
                    <a:bodyPr wrap="square"/>
                    <a:lstStyle/>
                    <a:p>
                      <a:pPr algn="l"/>
                      <a:r>
                        <a:rPr sz="1300" b="0" i="0">
                          <a:solidFill>
                            <a:srgbClr val="1F2933"/>
                          </a:solidFill>
                          <a:latin typeface="Calibri"/>
                        </a:rPr>
                        <a:t>reg</a:t>
                      </a:r>
                    </a:p>
                  </a:txBody>
                  <a:tcPr marL="73152" marR="73152" marT="27432" marB="27432" anchor="ctr">
                    <a:solidFill>
                      <a:srgbClr val="FCEBCF"/>
                    </a:solidFill>
                  </a:tcPr>
                </a:tc>
                <a:tc>
                  <a:txBody>
                    <a:bodyPr wrap="square"/>
                    <a:lstStyle/>
                    <a:p>
                      <a:pPr algn="l"/>
                      <a:r>
                        <a:rPr sz="1300" b="0" i="0">
                          <a:solidFill>
                            <a:srgbClr val="1F2933"/>
                          </a:solidFill>
                          <a:latin typeface="Calibri"/>
                        </a:rPr>
                        <a:t>reg: ADD(reg,imm)</a:t>
                      </a:r>
                    </a:p>
                  </a:txBody>
                  <a:tcPr marL="73152" marR="73152" marT="27432" marB="27432" anchor="ctr">
                    <a:solidFill>
                      <a:srgbClr val="FCEBCF"/>
                    </a:solidFill>
                  </a:tcPr>
                </a:tc>
                <a:tc>
                  <a:txBody>
                    <a:bodyPr wrap="square"/>
                    <a:lstStyle/>
                    <a:p>
                      <a:pPr algn="ctr"/>
                      <a:r>
                        <a:rPr sz="1300" b="0" i="0">
                          <a:solidFill>
                            <a:srgbClr val="1F2933"/>
                          </a:solidFill>
                          <a:latin typeface="Calibri"/>
                        </a:rPr>
                        <a:t>3</a:t>
                      </a:r>
                    </a:p>
                  </a:txBody>
                  <a:tcPr marL="73152" marR="73152" marT="27432" marB="27432" anchor="ctr">
                    <a:solidFill>
                      <a:srgbClr val="FCEBCF"/>
                    </a:solidFill>
                  </a:tcPr>
                </a:tc>
                <a:tc>
                  <a:txBody>
                    <a:bodyPr wrap="square"/>
                    <a:lstStyle/>
                    <a:p>
                      <a:pPr algn="l"/>
                      <a:r>
                        <a:rPr sz="1300" b="0" i="0">
                          <a:solidFill>
                            <a:srgbClr val="1F2933"/>
                          </a:solidFill>
                          <a:latin typeface="Calibri"/>
                        </a:rPr>
                        <a:t>1 + 2 + 0 = 3  &lt;  ADD(reg,reg) = 4</a:t>
                      </a:r>
                    </a:p>
                  </a:txBody>
                  <a:tcPr marL="73152" marR="73152" marT="27432" marB="27432" anchor="ctr">
                    <a:solidFill>
                      <a:srgbClr val="FCEBCF"/>
                    </a:solidFill>
                  </a:tcPr>
                </a:tc>
              </a:tr>
            </a:tbl>
          </a:graphicData>
        </a:graphic>
      </p:graphicFrame>
      <p:sp>
        <p:nvSpPr>
          <p:cNvPr id="8" name="Rounded Rectangle 7"/>
          <p:cNvSpPr/>
          <p:nvPr/>
        </p:nvSpPr>
        <p:spPr>
          <a:xfrm>
            <a:off x="548640" y="4526280"/>
            <a:ext cx="6949440" cy="1691640"/>
          </a:xfrm>
          <a:prstGeom prst="roundRect">
            <a:avLst>
              <a:gd name="adj" fmla="val 5405"/>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9" name="TextBox 8"/>
          <p:cNvSpPr txBox="1"/>
          <p:nvPr/>
        </p:nvSpPr>
        <p:spPr>
          <a:xfrm>
            <a:off x="749808" y="4654296"/>
            <a:ext cx="6583679"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GENERATED CODE</a:t>
            </a:r>
          </a:p>
        </p:txBody>
      </p:sp>
      <p:sp>
        <p:nvSpPr>
          <p:cNvPr id="10" name="TextBox 9"/>
          <p:cNvSpPr txBox="1"/>
          <p:nvPr/>
        </p:nvSpPr>
        <p:spPr>
          <a:xfrm>
            <a:off x="749808" y="4983480"/>
            <a:ext cx="6583679" cy="112471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LOAD r0,[a]</a:t>
            </a:r>
          </a:p>
          <a:p>
            <a:pPr algn="l">
              <a:spcAft>
                <a:spcPts val="0"/>
              </a:spcAft>
            </a:pPr>
            <a:r>
              <a:rPr sz="1300" b="0" i="0">
                <a:solidFill>
                  <a:srgbClr val="E6EDF3"/>
                </a:solidFill>
                <a:latin typeface="Consolas"/>
              </a:rPr>
              <a:t>LOAD r1,[r0]</a:t>
            </a:r>
          </a:p>
          <a:p>
            <a:pPr algn="l">
              <a:spcAft>
                <a:spcPts val="0"/>
              </a:spcAft>
            </a:pPr>
            <a:r>
              <a:rPr sz="1300" b="0" i="0">
                <a:solidFill>
                  <a:srgbClr val="E89A2C"/>
                </a:solidFill>
                <a:latin typeface="Consolas"/>
              </a:rPr>
              <a:t>ADDI r2,r1,#4</a:t>
            </a:r>
          </a:p>
          <a:p>
            <a:pPr algn="l">
              <a:spcAft>
                <a:spcPts val="0"/>
              </a:spcAft>
            </a:pPr>
            <a:r>
              <a:rPr sz="1300" b="0" i="0">
                <a:solidFill>
                  <a:srgbClr val="8FD3D6"/>
                </a:solidFill>
                <a:latin typeface="Consolas"/>
              </a:rPr>
              <a:t>Total cover cost : 3    Simulation : 1006 = 1006  OK</a:t>
            </a:r>
          </a:p>
        </p:txBody>
      </p:sp>
      <p:sp>
        <p:nvSpPr>
          <p:cNvPr id="11" name="Rounded Rectangle 10"/>
          <p:cNvSpPr/>
          <p:nvPr/>
        </p:nvSpPr>
        <p:spPr>
          <a:xfrm>
            <a:off x="7818120" y="1554480"/>
            <a:ext cx="3822191" cy="4663440"/>
          </a:xfrm>
          <a:prstGeom prst="roundRect">
            <a:avLst>
              <a:gd name="adj" fmla="val 287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2" name="TextBox 11"/>
          <p:cNvSpPr txBox="1"/>
          <p:nvPr/>
        </p:nvSpPr>
        <p:spPr>
          <a:xfrm>
            <a:off x="8046720" y="1737360"/>
            <a:ext cx="338328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The selected cover</a:t>
            </a:r>
          </a:p>
        </p:txBody>
      </p:sp>
      <p:cxnSp>
        <p:nvCxnSpPr>
          <p:cNvPr id="13" name="Connector 12"/>
          <p:cNvCxnSpPr/>
          <p:nvPr/>
        </p:nvCxnSpPr>
        <p:spPr>
          <a:xfrm flipH="1">
            <a:off x="8915400" y="2606040"/>
            <a:ext cx="813816" cy="1097280"/>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729216" y="2606040"/>
            <a:ext cx="832104" cy="1097280"/>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915400" y="3703320"/>
            <a:ext cx="0" cy="1097280"/>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400032" y="2276856"/>
            <a:ext cx="658368" cy="658368"/>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ADD</a:t>
            </a:r>
          </a:p>
        </p:txBody>
      </p:sp>
      <p:sp>
        <p:nvSpPr>
          <p:cNvPr id="17" name="Oval 16"/>
          <p:cNvSpPr/>
          <p:nvPr/>
        </p:nvSpPr>
        <p:spPr>
          <a:xfrm>
            <a:off x="8586216" y="3374136"/>
            <a:ext cx="658368" cy="658368"/>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LOAD</a:t>
            </a:r>
          </a:p>
        </p:txBody>
      </p:sp>
      <p:sp>
        <p:nvSpPr>
          <p:cNvPr id="18" name="Oval 17"/>
          <p:cNvSpPr/>
          <p:nvPr/>
        </p:nvSpPr>
        <p:spPr>
          <a:xfrm>
            <a:off x="10287000" y="3429000"/>
            <a:ext cx="548640" cy="548640"/>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4</a:t>
            </a:r>
          </a:p>
        </p:txBody>
      </p:sp>
      <p:sp>
        <p:nvSpPr>
          <p:cNvPr id="19" name="Oval 18"/>
          <p:cNvSpPr/>
          <p:nvPr/>
        </p:nvSpPr>
        <p:spPr>
          <a:xfrm>
            <a:off x="8641080" y="4526280"/>
            <a:ext cx="548640" cy="548640"/>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a</a:t>
            </a:r>
          </a:p>
        </p:txBody>
      </p:sp>
      <p:sp>
        <p:nvSpPr>
          <p:cNvPr id="20" name="TextBox 19"/>
          <p:cNvSpPr txBox="1"/>
          <p:nvPr/>
        </p:nvSpPr>
        <p:spPr>
          <a:xfrm>
            <a:off x="8046720" y="5349240"/>
            <a:ext cx="3429000" cy="73152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Amber: ADDI covers ADD and the constant together. Teal: one LOAD each.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End-to-end: one tree, two machines, both verified</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./build/burs "a + b * c": test values a=2, b=3, c=4; reference value 14</a:t>
            </a:r>
          </a:p>
        </p:txBody>
      </p:sp>
      <p:sp>
        <p:nvSpPr>
          <p:cNvPr id="4" name="Presenter"/>
          <p:cNvSpPr/>
          <p:nvPr/>
        </p:nvSpPr>
        <p:spPr>
          <a:xfrm>
            <a:off x="8771839" y="457200"/>
            <a:ext cx="2871215"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All · Ahmad drives</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10</a:t>
            </a:r>
          </a:p>
        </p:txBody>
      </p:sp>
      <p:sp>
        <p:nvSpPr>
          <p:cNvPr id="7" name="Rounded Rectangle 6"/>
          <p:cNvSpPr/>
          <p:nvPr/>
        </p:nvSpPr>
        <p:spPr>
          <a:xfrm>
            <a:off x="548640" y="1554480"/>
            <a:ext cx="3520440" cy="3108960"/>
          </a:xfrm>
          <a:prstGeom prst="roundRect">
            <a:avLst>
              <a:gd name="adj" fmla="val 2941"/>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49808" y="1682495"/>
            <a:ext cx="3154680"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TARGET A · REGISTER MACHINE</a:t>
            </a:r>
          </a:p>
        </p:txBody>
      </p:sp>
      <p:sp>
        <p:nvSpPr>
          <p:cNvPr id="9" name="TextBox 8"/>
          <p:cNvSpPr txBox="1"/>
          <p:nvPr/>
        </p:nvSpPr>
        <p:spPr>
          <a:xfrm>
            <a:off x="749808" y="2011680"/>
            <a:ext cx="3154680" cy="2542031"/>
          </a:xfrm>
          <a:prstGeom prst="rect">
            <a:avLst/>
          </a:prstGeom>
          <a:noFill/>
        </p:spPr>
        <p:txBody>
          <a:bodyPr wrap="square" lIns="0" rIns="0" tIns="0" bIns="0" anchor="t">
            <a:spAutoFit/>
          </a:bodyPr>
          <a:lstStyle/>
          <a:p>
            <a:pPr algn="l">
              <a:spcAft>
                <a:spcPts val="0"/>
              </a:spcAft>
            </a:pPr>
            <a:r>
              <a:rPr sz="1400" b="0" i="0">
                <a:solidFill>
                  <a:srgbClr val="E6EDF3"/>
                </a:solidFill>
                <a:latin typeface="Consolas"/>
              </a:rPr>
              <a:t>LOAD r0,[a]</a:t>
            </a:r>
          </a:p>
          <a:p>
            <a:pPr algn="l">
              <a:spcAft>
                <a:spcPts val="0"/>
              </a:spcAft>
            </a:pPr>
            <a:r>
              <a:rPr sz="1400" b="0" i="0">
                <a:solidFill>
                  <a:srgbClr val="E6EDF3"/>
                </a:solidFill>
                <a:latin typeface="Consolas"/>
              </a:rPr>
              <a:t>LOAD r1,[b]</a:t>
            </a:r>
          </a:p>
          <a:p>
            <a:pPr algn="l">
              <a:spcAft>
                <a:spcPts val="0"/>
              </a:spcAft>
            </a:pPr>
            <a:r>
              <a:rPr sz="1400" b="0" i="0">
                <a:solidFill>
                  <a:srgbClr val="E6EDF3"/>
                </a:solidFill>
                <a:latin typeface="Consolas"/>
              </a:rPr>
              <a:t>LOAD r2,[c]</a:t>
            </a:r>
          </a:p>
          <a:p>
            <a:pPr algn="l">
              <a:spcAft>
                <a:spcPts val="0"/>
              </a:spcAft>
            </a:pPr>
            <a:r>
              <a:rPr sz="1400" b="0" i="0">
                <a:solidFill>
                  <a:srgbClr val="E6EDF3"/>
                </a:solidFill>
                <a:latin typeface="Consolas"/>
              </a:rPr>
              <a:t>MUL  r3,r1,r2</a:t>
            </a:r>
          </a:p>
          <a:p>
            <a:pPr algn="l">
              <a:spcAft>
                <a:spcPts val="0"/>
              </a:spcAft>
            </a:pPr>
            <a:r>
              <a:rPr sz="1400" b="0" i="0">
                <a:solidFill>
                  <a:srgbClr val="E6EDF3"/>
                </a:solidFill>
                <a:latin typeface="Consolas"/>
              </a:rPr>
              <a:t>ADD  r4,r0,r3</a:t>
            </a:r>
          </a:p>
          <a:p>
            <a:pPr algn="l">
              <a:spcAft>
                <a:spcPts val="0"/>
              </a:spcAft>
            </a:pPr>
            <a:r>
              <a:rPr sz="1400" b="0" i="0">
                <a:solidFill>
                  <a:srgbClr val="E6EDF3"/>
                </a:solidFill>
                <a:latin typeface="Consolas"/>
              </a:rPr>
              <a:t/>
            </a:r>
          </a:p>
          <a:p>
            <a:pPr algn="l">
              <a:spcAft>
                <a:spcPts val="0"/>
              </a:spcAft>
            </a:pPr>
            <a:r>
              <a:rPr sz="1400" b="0" i="0">
                <a:solidFill>
                  <a:srgbClr val="8FD3D6"/>
                </a:solidFill>
                <a:latin typeface="Consolas"/>
              </a:rPr>
              <a:t>cost 6 · 5 instr · sim 14 OK</a:t>
            </a:r>
          </a:p>
        </p:txBody>
      </p:sp>
      <p:sp>
        <p:nvSpPr>
          <p:cNvPr id="10" name="Rounded Rectangle 9"/>
          <p:cNvSpPr/>
          <p:nvPr/>
        </p:nvSpPr>
        <p:spPr>
          <a:xfrm>
            <a:off x="8119872" y="1554480"/>
            <a:ext cx="3520440" cy="3108960"/>
          </a:xfrm>
          <a:prstGeom prst="roundRect">
            <a:avLst>
              <a:gd name="adj" fmla="val 2941"/>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8321040" y="1682495"/>
            <a:ext cx="3154680"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TARGET B · STACK MACHINE</a:t>
            </a:r>
          </a:p>
        </p:txBody>
      </p:sp>
      <p:sp>
        <p:nvSpPr>
          <p:cNvPr id="12" name="TextBox 11"/>
          <p:cNvSpPr txBox="1"/>
          <p:nvPr/>
        </p:nvSpPr>
        <p:spPr>
          <a:xfrm>
            <a:off x="8321040" y="2011680"/>
            <a:ext cx="3154680" cy="2542031"/>
          </a:xfrm>
          <a:prstGeom prst="rect">
            <a:avLst/>
          </a:prstGeom>
          <a:noFill/>
        </p:spPr>
        <p:txBody>
          <a:bodyPr wrap="square" lIns="0" rIns="0" tIns="0" bIns="0" anchor="t">
            <a:spAutoFit/>
          </a:bodyPr>
          <a:lstStyle/>
          <a:p>
            <a:pPr algn="l">
              <a:spcAft>
                <a:spcPts val="0"/>
              </a:spcAft>
            </a:pPr>
            <a:r>
              <a:rPr sz="1400" b="0" i="0">
                <a:solidFill>
                  <a:srgbClr val="E6EDF3"/>
                </a:solidFill>
                <a:latin typeface="Consolas"/>
              </a:rPr>
              <a:t>PUSH [a]</a:t>
            </a:r>
          </a:p>
          <a:p>
            <a:pPr algn="l">
              <a:spcAft>
                <a:spcPts val="0"/>
              </a:spcAft>
            </a:pPr>
            <a:r>
              <a:rPr sz="1400" b="0" i="0">
                <a:solidFill>
                  <a:srgbClr val="E6EDF3"/>
                </a:solidFill>
                <a:latin typeface="Consolas"/>
              </a:rPr>
              <a:t>PUSH [b]</a:t>
            </a:r>
          </a:p>
          <a:p>
            <a:pPr algn="l">
              <a:spcAft>
                <a:spcPts val="0"/>
              </a:spcAft>
            </a:pPr>
            <a:r>
              <a:rPr sz="1400" b="0" i="0">
                <a:solidFill>
                  <a:srgbClr val="E89A2C"/>
                </a:solidFill>
                <a:latin typeface="Consolas"/>
              </a:rPr>
              <a:t>MULM [c]</a:t>
            </a:r>
          </a:p>
          <a:p>
            <a:pPr algn="l">
              <a:spcAft>
                <a:spcPts val="0"/>
              </a:spcAft>
            </a:pPr>
            <a:r>
              <a:rPr sz="1400" b="0" i="0">
                <a:solidFill>
                  <a:srgbClr val="E6EDF3"/>
                </a:solidFill>
                <a:latin typeface="Consolas"/>
              </a:rPr>
              <a:t>ADD</a:t>
            </a:r>
          </a:p>
          <a:p>
            <a:pPr algn="l">
              <a:spcAft>
                <a:spcPts val="0"/>
              </a:spcAft>
            </a:pPr>
            <a:r>
              <a:rPr sz="1400" b="0" i="0">
                <a:solidFill>
                  <a:srgbClr val="E6EDF3"/>
                </a:solidFill>
                <a:latin typeface="Consolas"/>
              </a:rPr>
              <a:t/>
            </a:r>
          </a:p>
          <a:p>
            <a:pPr algn="l">
              <a:spcAft>
                <a:spcPts val="0"/>
              </a:spcAft>
            </a:pPr>
            <a:r>
              <a:rPr sz="1400" b="0" i="0">
                <a:solidFill>
                  <a:srgbClr val="E6EDF3"/>
                </a:solidFill>
                <a:latin typeface="Consolas"/>
              </a:rPr>
              <a:t/>
            </a:r>
          </a:p>
          <a:p>
            <a:pPr algn="l">
              <a:spcAft>
                <a:spcPts val="0"/>
              </a:spcAft>
            </a:pPr>
            <a:r>
              <a:rPr sz="1400" b="0" i="0">
                <a:solidFill>
                  <a:srgbClr val="8FD3D6"/>
                </a:solidFill>
                <a:latin typeface="Consolas"/>
              </a:rPr>
              <a:t>cost 5 · 4 instr · sim 14 OK</a:t>
            </a:r>
          </a:p>
        </p:txBody>
      </p:sp>
      <p:sp>
        <p:nvSpPr>
          <p:cNvPr id="13" name="Rounded Rectangle 12"/>
          <p:cNvSpPr/>
          <p:nvPr/>
        </p:nvSpPr>
        <p:spPr>
          <a:xfrm>
            <a:off x="5977889" y="2402586"/>
            <a:ext cx="1479042" cy="1652778"/>
          </a:xfrm>
          <a:prstGeom prst="roundRect">
            <a:avLst>
              <a:gd name="adj" fmla="val 21638"/>
            </a:avLst>
          </a:prstGeom>
          <a:solidFill>
            <a:srgbClr val="FCEBCF"/>
          </a:solidFill>
          <a:ln w="15875">
            <a:solidFill>
              <a:srgbClr val="E89A2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cxnSp>
        <p:nvCxnSpPr>
          <p:cNvPr id="14" name="Connector 13"/>
          <p:cNvCxnSpPr/>
          <p:nvPr/>
        </p:nvCxnSpPr>
        <p:spPr>
          <a:xfrm flipH="1">
            <a:off x="4350258" y="1860804"/>
            <a:ext cx="998982" cy="912114"/>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349240" y="1860804"/>
            <a:ext cx="998981" cy="912114"/>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5609844" y="2772918"/>
            <a:ext cx="738377" cy="912114"/>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48221" y="2772918"/>
            <a:ext cx="738379" cy="912114"/>
          </a:xfrm>
          <a:prstGeom prst="line">
            <a:avLst/>
          </a:prstGeom>
          <a:ln w="22225">
            <a:solidFill>
              <a:srgbClr val="5B677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088636" y="1600200"/>
            <a:ext cx="521207" cy="521207"/>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ADD</a:t>
            </a:r>
          </a:p>
        </p:txBody>
      </p:sp>
      <p:sp>
        <p:nvSpPr>
          <p:cNvPr id="19" name="Oval 18"/>
          <p:cNvSpPr/>
          <p:nvPr/>
        </p:nvSpPr>
        <p:spPr>
          <a:xfrm>
            <a:off x="4089654" y="2512314"/>
            <a:ext cx="521207" cy="521207"/>
          </a:xfrm>
          <a:prstGeom prst="ellipse">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a</a:t>
            </a:r>
          </a:p>
        </p:txBody>
      </p:sp>
      <p:sp>
        <p:nvSpPr>
          <p:cNvPr id="20" name="Oval 19"/>
          <p:cNvSpPr/>
          <p:nvPr/>
        </p:nvSpPr>
        <p:spPr>
          <a:xfrm>
            <a:off x="6087617" y="2512314"/>
            <a:ext cx="521207" cy="521207"/>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MUL</a:t>
            </a:r>
          </a:p>
        </p:txBody>
      </p:sp>
      <p:sp>
        <p:nvSpPr>
          <p:cNvPr id="21" name="Oval 20"/>
          <p:cNvSpPr/>
          <p:nvPr/>
        </p:nvSpPr>
        <p:spPr>
          <a:xfrm>
            <a:off x="5349240" y="3424428"/>
            <a:ext cx="521207" cy="521207"/>
          </a:xfrm>
          <a:prstGeom prst="ellipse">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b</a:t>
            </a:r>
          </a:p>
        </p:txBody>
      </p:sp>
      <p:sp>
        <p:nvSpPr>
          <p:cNvPr id="22" name="Oval 21"/>
          <p:cNvSpPr/>
          <p:nvPr/>
        </p:nvSpPr>
        <p:spPr>
          <a:xfrm>
            <a:off x="6825996" y="3424428"/>
            <a:ext cx="521207" cy="521207"/>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c</a:t>
            </a:r>
          </a:p>
        </p:txBody>
      </p:sp>
      <p:sp>
        <p:nvSpPr>
          <p:cNvPr id="23" name="TextBox 22"/>
          <p:cNvSpPr txBox="1"/>
          <p:nvPr/>
        </p:nvSpPr>
        <p:spPr>
          <a:xfrm>
            <a:off x="4297680" y="4434840"/>
            <a:ext cx="3657600" cy="320040"/>
          </a:xfrm>
          <a:prstGeom prst="rect">
            <a:avLst/>
          </a:prstGeom>
          <a:noFill/>
        </p:spPr>
        <p:txBody>
          <a:bodyPr wrap="square" lIns="0" rIns="0" tIns="0" bIns="0" anchor="t">
            <a:spAutoFit/>
          </a:bodyPr>
          <a:lstStyle/>
          <a:p>
            <a:pPr algn="ctr">
              <a:spcAft>
                <a:spcPts val="400"/>
              </a:spcAft>
            </a:pPr>
            <a:r>
              <a:rPr sz="1200" b="0" i="0">
                <a:solidFill>
                  <a:srgbClr val="5B6770"/>
                </a:solidFill>
                <a:latin typeface="Calibri"/>
              </a:rPr>
              <a:t>amber tile = Target B's MULM</a:t>
            </a:r>
          </a:p>
        </p:txBody>
      </p:sp>
      <p:sp>
        <p:nvSpPr>
          <p:cNvPr id="24" name="TextBox 23"/>
          <p:cNvSpPr txBox="1"/>
          <p:nvPr/>
        </p:nvSpPr>
        <p:spPr>
          <a:xfrm>
            <a:off x="548640" y="4983480"/>
            <a:ext cx="110642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Demo script</a:t>
            </a:r>
            <a:r>
              <a:rPr sz="1200" b="0" i="0">
                <a:solidFill>
                  <a:srgbClr val="5B6770"/>
                </a:solidFill>
                <a:latin typeface="Calibri"/>
              </a:rPr>
              <a:t>    burs = ./build/burs, run from the repository root</a:t>
            </a:r>
          </a:p>
        </p:txBody>
      </p:sp>
      <p:sp>
        <p:nvSpPr>
          <p:cNvPr id="25" name="Oval 24"/>
          <p:cNvSpPr/>
          <p:nvPr/>
        </p:nvSpPr>
        <p:spPr>
          <a:xfrm>
            <a:off x="548640" y="5422392"/>
            <a:ext cx="365760" cy="365760"/>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1</a:t>
            </a:r>
          </a:p>
        </p:txBody>
      </p:sp>
      <p:sp>
        <p:nvSpPr>
          <p:cNvPr id="26" name="TextBox 25"/>
          <p:cNvSpPr txBox="1"/>
          <p:nvPr/>
        </p:nvSpPr>
        <p:spPr>
          <a:xfrm>
            <a:off x="1005840" y="5413248"/>
            <a:ext cx="1737360" cy="274320"/>
          </a:xfrm>
          <a:prstGeom prst="rect">
            <a:avLst/>
          </a:prstGeom>
          <a:noFill/>
        </p:spPr>
        <p:txBody>
          <a:bodyPr wrap="square" lIns="0" rIns="0" tIns="0" bIns="0" anchor="t">
            <a:spAutoFit/>
          </a:bodyPr>
          <a:lstStyle/>
          <a:p>
            <a:pPr algn="l">
              <a:spcAft>
                <a:spcPts val="400"/>
              </a:spcAft>
            </a:pPr>
            <a:r>
              <a:rPr sz="1100" b="0" i="0">
                <a:solidFill>
                  <a:srgbClr val="1F2933"/>
                </a:solidFill>
                <a:latin typeface="Consolas"/>
              </a:rPr>
              <a:t>make clean &amp;&amp; make</a:t>
            </a:r>
          </a:p>
        </p:txBody>
      </p:sp>
      <p:sp>
        <p:nvSpPr>
          <p:cNvPr id="27" name="TextBox 26"/>
          <p:cNvSpPr txBox="1"/>
          <p:nvPr/>
        </p:nvSpPr>
        <p:spPr>
          <a:xfrm>
            <a:off x="1005840" y="5669280"/>
            <a:ext cx="1737360" cy="274320"/>
          </a:xfrm>
          <a:prstGeom prst="rect">
            <a:avLst/>
          </a:prstGeom>
          <a:noFill/>
        </p:spPr>
        <p:txBody>
          <a:bodyPr wrap="square" lIns="0" rIns="0" tIns="0" bIns="0" anchor="t">
            <a:spAutoFit/>
          </a:bodyPr>
          <a:lstStyle/>
          <a:p>
            <a:pPr algn="l">
              <a:spcAft>
                <a:spcPts val="400"/>
              </a:spcAft>
            </a:pPr>
            <a:r>
              <a:rPr sz="1100" b="0" i="0">
                <a:solidFill>
                  <a:srgbClr val="5B6770"/>
                </a:solidFill>
                <a:latin typeface="Calibri"/>
              </a:rPr>
              <a:t>three build stages</a:t>
            </a:r>
          </a:p>
        </p:txBody>
      </p:sp>
      <p:sp>
        <p:nvSpPr>
          <p:cNvPr id="28" name="Oval 27"/>
          <p:cNvSpPr/>
          <p:nvPr/>
        </p:nvSpPr>
        <p:spPr>
          <a:xfrm>
            <a:off x="2788920" y="5422392"/>
            <a:ext cx="365760" cy="365760"/>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2</a:t>
            </a:r>
          </a:p>
        </p:txBody>
      </p:sp>
      <p:sp>
        <p:nvSpPr>
          <p:cNvPr id="29" name="TextBox 28"/>
          <p:cNvSpPr txBox="1"/>
          <p:nvPr/>
        </p:nvSpPr>
        <p:spPr>
          <a:xfrm>
            <a:off x="3246120" y="5413248"/>
            <a:ext cx="1737360" cy="274320"/>
          </a:xfrm>
          <a:prstGeom prst="rect">
            <a:avLst/>
          </a:prstGeom>
          <a:noFill/>
        </p:spPr>
        <p:txBody>
          <a:bodyPr wrap="square" lIns="0" rIns="0" tIns="0" bIns="0" anchor="t">
            <a:spAutoFit/>
          </a:bodyPr>
          <a:lstStyle/>
          <a:p>
            <a:pPr algn="l">
              <a:spcAft>
                <a:spcPts val="400"/>
              </a:spcAft>
            </a:pPr>
            <a:r>
              <a:rPr sz="1100" b="0" i="0">
                <a:solidFill>
                  <a:srgbClr val="1F2933"/>
                </a:solidFill>
                <a:latin typeface="Consolas"/>
              </a:rPr>
              <a:t>burs "a + b * c"</a:t>
            </a:r>
          </a:p>
        </p:txBody>
      </p:sp>
      <p:sp>
        <p:nvSpPr>
          <p:cNvPr id="30" name="TextBox 29"/>
          <p:cNvSpPr txBox="1"/>
          <p:nvPr/>
        </p:nvSpPr>
        <p:spPr>
          <a:xfrm>
            <a:off x="3246120" y="5669280"/>
            <a:ext cx="1737360" cy="274320"/>
          </a:xfrm>
          <a:prstGeom prst="rect">
            <a:avLst/>
          </a:prstGeom>
          <a:noFill/>
        </p:spPr>
        <p:txBody>
          <a:bodyPr wrap="square" lIns="0" rIns="0" tIns="0" bIns="0" anchor="t">
            <a:spAutoFit/>
          </a:bodyPr>
          <a:lstStyle/>
          <a:p>
            <a:pPr algn="l">
              <a:spcAft>
                <a:spcPts val="400"/>
              </a:spcAft>
            </a:pPr>
            <a:r>
              <a:rPr sz="1100" b="0" i="0">
                <a:solidFill>
                  <a:srgbClr val="5B6770"/>
                </a:solidFill>
                <a:latin typeface="Calibri"/>
              </a:rPr>
              <a:t>normal case</a:t>
            </a:r>
          </a:p>
        </p:txBody>
      </p:sp>
      <p:sp>
        <p:nvSpPr>
          <p:cNvPr id="31" name="Oval 30"/>
          <p:cNvSpPr/>
          <p:nvPr/>
        </p:nvSpPr>
        <p:spPr>
          <a:xfrm>
            <a:off x="5029200" y="5422392"/>
            <a:ext cx="365760" cy="365760"/>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3</a:t>
            </a:r>
          </a:p>
        </p:txBody>
      </p:sp>
      <p:sp>
        <p:nvSpPr>
          <p:cNvPr id="32" name="TextBox 31"/>
          <p:cNvSpPr txBox="1"/>
          <p:nvPr/>
        </p:nvSpPr>
        <p:spPr>
          <a:xfrm>
            <a:off x="5486400" y="5413248"/>
            <a:ext cx="1737360" cy="274320"/>
          </a:xfrm>
          <a:prstGeom prst="rect">
            <a:avLst/>
          </a:prstGeom>
          <a:noFill/>
        </p:spPr>
        <p:txBody>
          <a:bodyPr wrap="square" lIns="0" rIns="0" tIns="0" bIns="0" anchor="t">
            <a:spAutoFit/>
          </a:bodyPr>
          <a:lstStyle/>
          <a:p>
            <a:pPr algn="l">
              <a:spcAft>
                <a:spcPts val="400"/>
              </a:spcAft>
            </a:pPr>
            <a:r>
              <a:rPr sz="1100" b="0" i="0">
                <a:solidFill>
                  <a:srgbClr val="1F2933"/>
                </a:solidFill>
                <a:latin typeface="Consolas"/>
              </a:rPr>
              <a:t>burs "[[a] + 1]"</a:t>
            </a:r>
          </a:p>
        </p:txBody>
      </p:sp>
      <p:sp>
        <p:nvSpPr>
          <p:cNvPr id="33" name="TextBox 32"/>
          <p:cNvSpPr txBox="1"/>
          <p:nvPr/>
        </p:nvSpPr>
        <p:spPr>
          <a:xfrm>
            <a:off x="5486400" y="5669280"/>
            <a:ext cx="1737360" cy="274320"/>
          </a:xfrm>
          <a:prstGeom prst="rect">
            <a:avLst/>
          </a:prstGeom>
          <a:noFill/>
        </p:spPr>
        <p:txBody>
          <a:bodyPr wrap="square" lIns="0" rIns="0" tIns="0" bIns="0" anchor="t">
            <a:spAutoFit/>
          </a:bodyPr>
          <a:lstStyle/>
          <a:p>
            <a:pPr algn="l">
              <a:spcAft>
                <a:spcPts val="400"/>
              </a:spcAft>
            </a:pPr>
            <a:r>
              <a:rPr sz="1100" b="0" i="0">
                <a:solidFill>
                  <a:srgbClr val="5B6770"/>
                </a:solidFill>
                <a:latin typeface="Calibri"/>
              </a:rPr>
              <a:t>boundary</a:t>
            </a:r>
          </a:p>
        </p:txBody>
      </p:sp>
      <p:sp>
        <p:nvSpPr>
          <p:cNvPr id="34" name="Oval 33"/>
          <p:cNvSpPr/>
          <p:nvPr/>
        </p:nvSpPr>
        <p:spPr>
          <a:xfrm>
            <a:off x="7269480" y="5422392"/>
            <a:ext cx="365760" cy="365760"/>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4</a:t>
            </a:r>
          </a:p>
        </p:txBody>
      </p:sp>
      <p:sp>
        <p:nvSpPr>
          <p:cNvPr id="35" name="TextBox 34"/>
          <p:cNvSpPr txBox="1"/>
          <p:nvPr/>
        </p:nvSpPr>
        <p:spPr>
          <a:xfrm>
            <a:off x="7726679" y="5413248"/>
            <a:ext cx="1737360" cy="274320"/>
          </a:xfrm>
          <a:prstGeom prst="rect">
            <a:avLst/>
          </a:prstGeom>
          <a:noFill/>
        </p:spPr>
        <p:txBody>
          <a:bodyPr wrap="square" lIns="0" rIns="0" tIns="0" bIns="0" anchor="t">
            <a:spAutoFit/>
          </a:bodyPr>
          <a:lstStyle/>
          <a:p>
            <a:pPr algn="l">
              <a:spcAft>
                <a:spcPts val="400"/>
              </a:spcAft>
            </a:pPr>
            <a:r>
              <a:rPr sz="1100" b="0" i="0">
                <a:solidFill>
                  <a:srgbClr val="1F2933"/>
                </a:solidFill>
                <a:latin typeface="Consolas"/>
              </a:rPr>
              <a:t>burs "(a + b"</a:t>
            </a:r>
          </a:p>
        </p:txBody>
      </p:sp>
      <p:sp>
        <p:nvSpPr>
          <p:cNvPr id="36" name="TextBox 35"/>
          <p:cNvSpPr txBox="1"/>
          <p:nvPr/>
        </p:nvSpPr>
        <p:spPr>
          <a:xfrm>
            <a:off x="7726679" y="5669280"/>
            <a:ext cx="1737360" cy="274320"/>
          </a:xfrm>
          <a:prstGeom prst="rect">
            <a:avLst/>
          </a:prstGeom>
          <a:noFill/>
        </p:spPr>
        <p:txBody>
          <a:bodyPr wrap="square" lIns="0" rIns="0" tIns="0" bIns="0" anchor="t">
            <a:spAutoFit/>
          </a:bodyPr>
          <a:lstStyle/>
          <a:p>
            <a:pPr algn="l">
              <a:spcAft>
                <a:spcPts val="400"/>
              </a:spcAft>
            </a:pPr>
            <a:r>
              <a:rPr sz="1100" b="0" i="0">
                <a:solidFill>
                  <a:srgbClr val="5B6770"/>
                </a:solidFill>
                <a:latin typeface="Calibri"/>
              </a:rPr>
              <a:t>invalid input</a:t>
            </a:r>
          </a:p>
        </p:txBody>
      </p:sp>
      <p:sp>
        <p:nvSpPr>
          <p:cNvPr id="37" name="Oval 36"/>
          <p:cNvSpPr/>
          <p:nvPr/>
        </p:nvSpPr>
        <p:spPr>
          <a:xfrm>
            <a:off x="9509760" y="5422392"/>
            <a:ext cx="365760" cy="365760"/>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i="0">
                <a:solidFill>
                  <a:srgbClr val="FFFFFF"/>
                </a:solidFill>
                <a:latin typeface="Calibri"/>
              </a:rPr>
              <a:t>5</a:t>
            </a:r>
          </a:p>
        </p:txBody>
      </p:sp>
      <p:sp>
        <p:nvSpPr>
          <p:cNvPr id="38" name="TextBox 37"/>
          <p:cNvSpPr txBox="1"/>
          <p:nvPr/>
        </p:nvSpPr>
        <p:spPr>
          <a:xfrm>
            <a:off x="9966960" y="5413248"/>
            <a:ext cx="1737360" cy="274320"/>
          </a:xfrm>
          <a:prstGeom prst="rect">
            <a:avLst/>
          </a:prstGeom>
          <a:noFill/>
        </p:spPr>
        <p:txBody>
          <a:bodyPr wrap="square" lIns="0" rIns="0" tIns="0" bIns="0" anchor="t">
            <a:spAutoFit/>
          </a:bodyPr>
          <a:lstStyle/>
          <a:p>
            <a:pPr algn="l">
              <a:spcAft>
                <a:spcPts val="400"/>
              </a:spcAft>
            </a:pPr>
            <a:r>
              <a:rPr sz="1100" b="0" i="0">
                <a:solidFill>
                  <a:srgbClr val="1F2933"/>
                </a:solidFill>
                <a:latin typeface="Consolas"/>
              </a:rPr>
              <a:t>burs -i</a:t>
            </a:r>
          </a:p>
        </p:txBody>
      </p:sp>
      <p:sp>
        <p:nvSpPr>
          <p:cNvPr id="39" name="TextBox 38"/>
          <p:cNvSpPr txBox="1"/>
          <p:nvPr/>
        </p:nvSpPr>
        <p:spPr>
          <a:xfrm>
            <a:off x="9966960" y="5669280"/>
            <a:ext cx="1737360" cy="274320"/>
          </a:xfrm>
          <a:prstGeom prst="rect">
            <a:avLst/>
          </a:prstGeom>
          <a:noFill/>
        </p:spPr>
        <p:txBody>
          <a:bodyPr wrap="square" lIns="0" rIns="0" tIns="0" bIns="0" anchor="t">
            <a:spAutoFit/>
          </a:bodyPr>
          <a:lstStyle/>
          <a:p>
            <a:pPr algn="l">
              <a:spcAft>
                <a:spcPts val="400"/>
              </a:spcAft>
            </a:pPr>
            <a:r>
              <a:rPr sz="1100" b="0" i="0">
                <a:solidFill>
                  <a:srgbClr val="5B6770"/>
                </a:solidFill>
                <a:latin typeface="Calibri"/>
              </a:rPr>
              <a:t>evaluator's input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Test strategy: every output is checked twice</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Oracle 1: byte-exact expected output · Oracle 2: simulate the generated code and compare with the IR value</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11</a:t>
            </a:r>
          </a:p>
        </p:txBody>
      </p:sp>
      <p:sp>
        <p:nvSpPr>
          <p:cNvPr id="7" name="Rounded Rectangle 6"/>
          <p:cNvSpPr/>
          <p:nvPr/>
        </p:nvSpPr>
        <p:spPr>
          <a:xfrm>
            <a:off x="548640" y="1554480"/>
            <a:ext cx="2743200" cy="1463040"/>
          </a:xfrm>
          <a:prstGeom prst="roundRect">
            <a:avLst>
              <a:gd name="adj" fmla="val 75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77240" y="1682495"/>
            <a:ext cx="2286000" cy="685800"/>
          </a:xfrm>
          <a:prstGeom prst="rect">
            <a:avLst/>
          </a:prstGeom>
          <a:noFill/>
        </p:spPr>
        <p:txBody>
          <a:bodyPr wrap="square" lIns="0" rIns="0" tIns="0" bIns="0" anchor="ctr">
            <a:spAutoFit/>
          </a:bodyPr>
          <a:lstStyle/>
          <a:p>
            <a:pPr algn="l">
              <a:spcAft>
                <a:spcPts val="400"/>
              </a:spcAft>
            </a:pPr>
            <a:r>
              <a:rPr sz="4600" b="1" i="0">
                <a:solidFill>
                  <a:srgbClr val="2E8B57"/>
                </a:solidFill>
                <a:latin typeface="Calibri"/>
              </a:rPr>
              <a:t>27 / 27</a:t>
            </a:r>
          </a:p>
        </p:txBody>
      </p:sp>
      <p:sp>
        <p:nvSpPr>
          <p:cNvPr id="9" name="TextBox 8"/>
          <p:cNvSpPr txBox="1"/>
          <p:nvPr/>
        </p:nvSpPr>
        <p:spPr>
          <a:xfrm>
            <a:off x="777240" y="2587752"/>
            <a:ext cx="2286000" cy="36576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checks pass (make test)</a:t>
            </a:r>
          </a:p>
        </p:txBody>
      </p:sp>
      <p:sp>
        <p:nvSpPr>
          <p:cNvPr id="10" name="Rounded Rectangle 9"/>
          <p:cNvSpPr/>
          <p:nvPr/>
        </p:nvSpPr>
        <p:spPr>
          <a:xfrm>
            <a:off x="548640" y="3200400"/>
            <a:ext cx="2743200" cy="1463040"/>
          </a:xfrm>
          <a:prstGeom prst="roundRect">
            <a:avLst>
              <a:gd name="adj" fmla="val 75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777240" y="3328416"/>
            <a:ext cx="2286000" cy="685800"/>
          </a:xfrm>
          <a:prstGeom prst="rect">
            <a:avLst/>
          </a:prstGeom>
          <a:noFill/>
        </p:spPr>
        <p:txBody>
          <a:bodyPr wrap="square" lIns="0" rIns="0" tIns="0" bIns="0" anchor="ctr">
            <a:spAutoFit/>
          </a:bodyPr>
          <a:lstStyle/>
          <a:p>
            <a:pPr algn="l">
              <a:spcAft>
                <a:spcPts val="400"/>
              </a:spcAft>
            </a:pPr>
            <a:r>
              <a:rPr sz="4600" b="1" i="0">
                <a:solidFill>
                  <a:srgbClr val="0E767A"/>
                </a:solidFill>
                <a:latin typeface="Calibri"/>
              </a:rPr>
              <a:t>6,666</a:t>
            </a:r>
          </a:p>
        </p:txBody>
      </p:sp>
      <p:sp>
        <p:nvSpPr>
          <p:cNvPr id="12" name="TextBox 11"/>
          <p:cNvSpPr txBox="1"/>
          <p:nvPr/>
        </p:nvSpPr>
        <p:spPr>
          <a:xfrm>
            <a:off x="777240" y="4233672"/>
            <a:ext cx="2286000" cy="36576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exhaustive runs, 0 failures</a:t>
            </a:r>
          </a:p>
        </p:txBody>
      </p:sp>
      <p:sp>
        <p:nvSpPr>
          <p:cNvPr id="13" name="Rounded Rectangle 12"/>
          <p:cNvSpPr/>
          <p:nvPr/>
        </p:nvSpPr>
        <p:spPr>
          <a:xfrm>
            <a:off x="548640" y="4846320"/>
            <a:ext cx="2743200" cy="1371600"/>
          </a:xfrm>
          <a:prstGeom prst="roundRect">
            <a:avLst>
              <a:gd name="adj" fmla="val 8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4" name="TextBox 13"/>
          <p:cNvSpPr txBox="1"/>
          <p:nvPr/>
        </p:nvSpPr>
        <p:spPr>
          <a:xfrm>
            <a:off x="777240" y="4974336"/>
            <a:ext cx="2286000" cy="685800"/>
          </a:xfrm>
          <a:prstGeom prst="rect">
            <a:avLst/>
          </a:prstGeom>
          <a:noFill/>
        </p:spPr>
        <p:txBody>
          <a:bodyPr wrap="square" lIns="0" rIns="0" tIns="0" bIns="0" anchor="ctr">
            <a:spAutoFit/>
          </a:bodyPr>
          <a:lstStyle/>
          <a:p>
            <a:pPr algn="l">
              <a:spcAft>
                <a:spcPts val="400"/>
              </a:spcAft>
            </a:pPr>
            <a:r>
              <a:rPr sz="4600" b="1" i="0">
                <a:solidFill>
                  <a:srgbClr val="0E767A"/>
                </a:solidFill>
                <a:latin typeface="Calibri"/>
              </a:rPr>
              <a:t>3,333</a:t>
            </a:r>
          </a:p>
        </p:txBody>
      </p:sp>
      <p:sp>
        <p:nvSpPr>
          <p:cNvPr id="15" name="TextBox 14"/>
          <p:cNvSpPr txBox="1"/>
          <p:nvPr/>
        </p:nvSpPr>
        <p:spPr>
          <a:xfrm>
            <a:off x="777240" y="5788152"/>
            <a:ext cx="2286000" cy="36576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distinct trees of depth ≤ 2</a:t>
            </a:r>
          </a:p>
        </p:txBody>
      </p:sp>
      <p:sp>
        <p:nvSpPr>
          <p:cNvPr id="16" name="Rounded Rectangle 15"/>
          <p:cNvSpPr/>
          <p:nvPr/>
        </p:nvSpPr>
        <p:spPr>
          <a:xfrm>
            <a:off x="3566160" y="1554480"/>
            <a:ext cx="3886200" cy="1417320"/>
          </a:xfrm>
          <a:prstGeom prst="roundRect">
            <a:avLst>
              <a:gd name="adj" fmla="val 7741"/>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7" name="TextBox 16"/>
          <p:cNvSpPr txBox="1"/>
          <p:nvPr/>
        </p:nvSpPr>
        <p:spPr>
          <a:xfrm>
            <a:off x="3794760" y="1691639"/>
            <a:ext cx="23774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Positive</a:t>
            </a:r>
          </a:p>
        </p:txBody>
      </p:sp>
      <p:sp>
        <p:nvSpPr>
          <p:cNvPr id="18" name="TextBox 17"/>
          <p:cNvSpPr txBox="1"/>
          <p:nvPr/>
        </p:nvSpPr>
        <p:spPr>
          <a:xfrm>
            <a:off x="5852160" y="1645920"/>
            <a:ext cx="1371600" cy="457200"/>
          </a:xfrm>
          <a:prstGeom prst="rect">
            <a:avLst/>
          </a:prstGeom>
          <a:noFill/>
        </p:spPr>
        <p:txBody>
          <a:bodyPr wrap="square" lIns="0" rIns="0" tIns="0" bIns="0" anchor="t">
            <a:spAutoFit/>
          </a:bodyPr>
          <a:lstStyle/>
          <a:p>
            <a:pPr algn="r">
              <a:spcAft>
                <a:spcPts val="400"/>
              </a:spcAft>
            </a:pPr>
            <a:r>
              <a:rPr sz="2200" b="1" i="0">
                <a:solidFill>
                  <a:srgbClr val="E89A2C"/>
                </a:solidFill>
                <a:latin typeface="Calibri"/>
              </a:rPr>
              <a:t>6</a:t>
            </a:r>
          </a:p>
        </p:txBody>
      </p:sp>
      <p:sp>
        <p:nvSpPr>
          <p:cNvPr id="19" name="TextBox 18"/>
          <p:cNvSpPr txBox="1"/>
          <p:nvPr/>
        </p:nvSpPr>
        <p:spPr>
          <a:xfrm>
            <a:off x="3794760" y="2103120"/>
            <a:ext cx="3474720" cy="82296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the review expressions on both targets: tree, cover, cost, code, simulation</a:t>
            </a:r>
          </a:p>
        </p:txBody>
      </p:sp>
      <p:sp>
        <p:nvSpPr>
          <p:cNvPr id="20" name="Rounded Rectangle 19"/>
          <p:cNvSpPr/>
          <p:nvPr/>
        </p:nvSpPr>
        <p:spPr>
          <a:xfrm>
            <a:off x="7635240" y="1554480"/>
            <a:ext cx="3886200" cy="1417320"/>
          </a:xfrm>
          <a:prstGeom prst="roundRect">
            <a:avLst>
              <a:gd name="adj" fmla="val 7741"/>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1" name="TextBox 20"/>
          <p:cNvSpPr txBox="1"/>
          <p:nvPr/>
        </p:nvSpPr>
        <p:spPr>
          <a:xfrm>
            <a:off x="7863840" y="1691639"/>
            <a:ext cx="23774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Boundary</a:t>
            </a:r>
          </a:p>
        </p:txBody>
      </p:sp>
      <p:sp>
        <p:nvSpPr>
          <p:cNvPr id="22" name="TextBox 21"/>
          <p:cNvSpPr txBox="1"/>
          <p:nvPr/>
        </p:nvSpPr>
        <p:spPr>
          <a:xfrm>
            <a:off x="9921240" y="1645920"/>
            <a:ext cx="1371600" cy="457200"/>
          </a:xfrm>
          <a:prstGeom prst="rect">
            <a:avLst/>
          </a:prstGeom>
          <a:noFill/>
        </p:spPr>
        <p:txBody>
          <a:bodyPr wrap="square" lIns="0" rIns="0" tIns="0" bIns="0" anchor="t">
            <a:spAutoFit/>
          </a:bodyPr>
          <a:lstStyle/>
          <a:p>
            <a:pPr algn="r">
              <a:spcAft>
                <a:spcPts val="400"/>
              </a:spcAft>
            </a:pPr>
            <a:r>
              <a:rPr sz="2200" b="1" i="0">
                <a:solidFill>
                  <a:srgbClr val="E89A2C"/>
                </a:solidFill>
                <a:latin typeface="Calibri"/>
              </a:rPr>
              <a:t>6</a:t>
            </a:r>
          </a:p>
        </p:txBody>
      </p:sp>
      <p:sp>
        <p:nvSpPr>
          <p:cNvPr id="23" name="TextBox 22"/>
          <p:cNvSpPr txBox="1"/>
          <p:nvPr/>
        </p:nvSpPr>
        <p:spPr>
          <a:xfrm>
            <a:off x="7863840" y="2103120"/>
            <a:ext cx="3474720" cy="82296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single leaf, 20-variable deep nesting, nested loads, named vars, large constants</a:t>
            </a:r>
          </a:p>
        </p:txBody>
      </p:sp>
      <p:sp>
        <p:nvSpPr>
          <p:cNvPr id="24" name="Rounded Rectangle 23"/>
          <p:cNvSpPr/>
          <p:nvPr/>
        </p:nvSpPr>
        <p:spPr>
          <a:xfrm>
            <a:off x="3566160" y="3127248"/>
            <a:ext cx="3886200" cy="1417320"/>
          </a:xfrm>
          <a:prstGeom prst="roundRect">
            <a:avLst>
              <a:gd name="adj" fmla="val 7741"/>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5" name="TextBox 24"/>
          <p:cNvSpPr txBox="1"/>
          <p:nvPr/>
        </p:nvSpPr>
        <p:spPr>
          <a:xfrm>
            <a:off x="3794760" y="3264408"/>
            <a:ext cx="23774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Rule choice</a:t>
            </a:r>
          </a:p>
        </p:txBody>
      </p:sp>
      <p:sp>
        <p:nvSpPr>
          <p:cNvPr id="26" name="TextBox 25"/>
          <p:cNvSpPr txBox="1"/>
          <p:nvPr/>
        </p:nvSpPr>
        <p:spPr>
          <a:xfrm>
            <a:off x="5852160" y="3218688"/>
            <a:ext cx="1371600" cy="457200"/>
          </a:xfrm>
          <a:prstGeom prst="rect">
            <a:avLst/>
          </a:prstGeom>
          <a:noFill/>
        </p:spPr>
        <p:txBody>
          <a:bodyPr wrap="square" lIns="0" rIns="0" tIns="0" bIns="0" anchor="t">
            <a:spAutoFit/>
          </a:bodyPr>
          <a:lstStyle/>
          <a:p>
            <a:pPr algn="r">
              <a:spcAft>
                <a:spcPts val="400"/>
              </a:spcAft>
            </a:pPr>
            <a:r>
              <a:rPr sz="2200" b="1" i="0">
                <a:solidFill>
                  <a:srgbClr val="E89A2C"/>
                </a:solidFill>
                <a:latin typeface="Calibri"/>
              </a:rPr>
              <a:t>5</a:t>
            </a:r>
          </a:p>
        </p:txBody>
      </p:sp>
      <p:sp>
        <p:nvSpPr>
          <p:cNvPr id="27" name="TextBox 26"/>
          <p:cNvSpPr txBox="1"/>
          <p:nvPr/>
        </p:nvSpPr>
        <p:spPr>
          <a:xfrm>
            <a:off x="3794760" y="3675887"/>
            <a:ext cx="3474720" cy="82296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ADDI, SUBI, MULM, MULI chosen; 7 + a documents the missing commutative rule</a:t>
            </a:r>
          </a:p>
        </p:txBody>
      </p:sp>
      <p:sp>
        <p:nvSpPr>
          <p:cNvPr id="28" name="Rounded Rectangle 27"/>
          <p:cNvSpPr/>
          <p:nvPr/>
        </p:nvSpPr>
        <p:spPr>
          <a:xfrm>
            <a:off x="7635240" y="3127248"/>
            <a:ext cx="3886200" cy="1417320"/>
          </a:xfrm>
          <a:prstGeom prst="roundRect">
            <a:avLst>
              <a:gd name="adj" fmla="val 7741"/>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9" name="TextBox 28"/>
          <p:cNvSpPr txBox="1"/>
          <p:nvPr/>
        </p:nvSpPr>
        <p:spPr>
          <a:xfrm>
            <a:off x="7863840" y="3264408"/>
            <a:ext cx="23774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Negative</a:t>
            </a:r>
          </a:p>
        </p:txBody>
      </p:sp>
      <p:sp>
        <p:nvSpPr>
          <p:cNvPr id="30" name="TextBox 29"/>
          <p:cNvSpPr txBox="1"/>
          <p:nvPr/>
        </p:nvSpPr>
        <p:spPr>
          <a:xfrm>
            <a:off x="9921240" y="3218688"/>
            <a:ext cx="1371600" cy="457200"/>
          </a:xfrm>
          <a:prstGeom prst="rect">
            <a:avLst/>
          </a:prstGeom>
          <a:noFill/>
        </p:spPr>
        <p:txBody>
          <a:bodyPr wrap="square" lIns="0" rIns="0" tIns="0" bIns="0" anchor="t">
            <a:spAutoFit/>
          </a:bodyPr>
          <a:lstStyle/>
          <a:p>
            <a:pPr algn="r">
              <a:spcAft>
                <a:spcPts val="400"/>
              </a:spcAft>
            </a:pPr>
            <a:r>
              <a:rPr sz="2200" b="1" i="0">
                <a:solidFill>
                  <a:srgbClr val="E89A2C"/>
                </a:solidFill>
                <a:latin typeface="Calibri"/>
              </a:rPr>
              <a:t>8</a:t>
            </a:r>
          </a:p>
        </p:txBody>
      </p:sp>
      <p:sp>
        <p:nvSpPr>
          <p:cNvPr id="31" name="TextBox 30"/>
          <p:cNvSpPr txBox="1"/>
          <p:nvPr/>
        </p:nvSpPr>
        <p:spPr>
          <a:xfrm>
            <a:off x="7863840" y="3675887"/>
            <a:ext cx="3474720" cy="82296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 missing operand, unbalanced ( and [, trailing token, unary minus, empty, $</a:t>
            </a:r>
          </a:p>
        </p:txBody>
      </p:sp>
      <p:sp>
        <p:nvSpPr>
          <p:cNvPr id="32" name="Rounded Rectangle 31"/>
          <p:cNvSpPr/>
          <p:nvPr/>
        </p:nvSpPr>
        <p:spPr>
          <a:xfrm>
            <a:off x="3566160" y="4700016"/>
            <a:ext cx="3886200" cy="1417320"/>
          </a:xfrm>
          <a:prstGeom prst="roundRect">
            <a:avLst>
              <a:gd name="adj" fmla="val 7741"/>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3" name="TextBox 32"/>
          <p:cNvSpPr txBox="1"/>
          <p:nvPr/>
        </p:nvSpPr>
        <p:spPr>
          <a:xfrm>
            <a:off x="3794760" y="4837176"/>
            <a:ext cx="23774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Regression</a:t>
            </a:r>
          </a:p>
        </p:txBody>
      </p:sp>
      <p:sp>
        <p:nvSpPr>
          <p:cNvPr id="34" name="TextBox 33"/>
          <p:cNvSpPr txBox="1"/>
          <p:nvPr/>
        </p:nvSpPr>
        <p:spPr>
          <a:xfrm>
            <a:off x="5852160" y="4791455"/>
            <a:ext cx="1371600" cy="457200"/>
          </a:xfrm>
          <a:prstGeom prst="rect">
            <a:avLst/>
          </a:prstGeom>
          <a:noFill/>
        </p:spPr>
        <p:txBody>
          <a:bodyPr wrap="square" lIns="0" rIns="0" tIns="0" bIns="0" anchor="t">
            <a:spAutoFit/>
          </a:bodyPr>
          <a:lstStyle/>
          <a:p>
            <a:pPr algn="r">
              <a:spcAft>
                <a:spcPts val="400"/>
              </a:spcAft>
            </a:pPr>
            <a:r>
              <a:rPr sz="2200" b="1" i="0">
                <a:solidFill>
                  <a:srgbClr val="E89A2C"/>
                </a:solidFill>
                <a:latin typeface="Calibri"/>
              </a:rPr>
              <a:t>10</a:t>
            </a:r>
          </a:p>
        </p:txBody>
      </p:sp>
      <p:sp>
        <p:nvSpPr>
          <p:cNvPr id="35" name="TextBox 34"/>
          <p:cNvSpPr txBox="1"/>
          <p:nvPr/>
        </p:nvSpPr>
        <p:spPr>
          <a:xfrm>
            <a:off x="3794760" y="5248655"/>
            <a:ext cx="3474720" cy="82296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--suite: all review expressions, both targets, PASS/FAIL table</a:t>
            </a:r>
          </a:p>
        </p:txBody>
      </p:sp>
      <p:sp>
        <p:nvSpPr>
          <p:cNvPr id="36" name="Rounded Rectangle 35"/>
          <p:cNvSpPr/>
          <p:nvPr/>
        </p:nvSpPr>
        <p:spPr>
          <a:xfrm>
            <a:off x="7635240" y="4700016"/>
            <a:ext cx="3886200" cy="1417320"/>
          </a:xfrm>
          <a:prstGeom prst="roundRect">
            <a:avLst>
              <a:gd name="adj" fmla="val 7741"/>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7" name="TextBox 36"/>
          <p:cNvSpPr txBox="1"/>
          <p:nvPr/>
        </p:nvSpPr>
        <p:spPr>
          <a:xfrm>
            <a:off x="7863840" y="4837176"/>
            <a:ext cx="237744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Exhaustive</a:t>
            </a:r>
          </a:p>
        </p:txBody>
      </p:sp>
      <p:sp>
        <p:nvSpPr>
          <p:cNvPr id="38" name="TextBox 37"/>
          <p:cNvSpPr txBox="1"/>
          <p:nvPr/>
        </p:nvSpPr>
        <p:spPr>
          <a:xfrm>
            <a:off x="9921240" y="4791455"/>
            <a:ext cx="1371600" cy="457200"/>
          </a:xfrm>
          <a:prstGeom prst="rect">
            <a:avLst/>
          </a:prstGeom>
          <a:noFill/>
        </p:spPr>
        <p:txBody>
          <a:bodyPr wrap="square" lIns="0" rIns="0" tIns="0" bIns="0" anchor="t">
            <a:spAutoFit/>
          </a:bodyPr>
          <a:lstStyle/>
          <a:p>
            <a:pPr algn="r">
              <a:spcAft>
                <a:spcPts val="400"/>
              </a:spcAft>
            </a:pPr>
            <a:r>
              <a:rPr sz="2200" b="1" i="0">
                <a:solidFill>
                  <a:srgbClr val="E89A2C"/>
                </a:solidFill>
                <a:latin typeface="Calibri"/>
              </a:rPr>
              <a:t>3,333</a:t>
            </a:r>
          </a:p>
        </p:txBody>
      </p:sp>
      <p:sp>
        <p:nvSpPr>
          <p:cNvPr id="39" name="TextBox 38"/>
          <p:cNvSpPr txBox="1"/>
          <p:nvPr/>
        </p:nvSpPr>
        <p:spPr>
          <a:xfrm>
            <a:off x="7863840" y="5248655"/>
            <a:ext cx="3474720" cy="82296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--exhaustive: every small tree, both targets, plus baseline comparison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Results: correct, cheaper and linear-time</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From results/exhaustive_check.txt and results/benchmark.txt (Apple M1)</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12</a:t>
            </a:r>
          </a:p>
        </p:txBody>
      </p:sp>
      <p:graphicFrame>
        <p:nvGraphicFramePr>
          <p:cNvPr id="7" name="Chart 6"/>
          <p:cNvGraphicFramePr>
            <a:graphicFrameLocks noGrp="1"/>
          </p:cNvGraphicFramePr>
          <p:nvPr/>
        </p:nvGraphicFramePr>
        <p:xfrm>
          <a:off x="548640" y="1508760"/>
          <a:ext cx="5486400" cy="3657600"/>
        </p:xfrm>
        <a:graphic>
          <a:graphicData uri="http://schemas.openxmlformats.org/drawingml/2006/chart">
            <c:chart xmlns:c="http://schemas.openxmlformats.org/drawingml/2006/chart" r:id="rId3"/>
          </a:graphicData>
        </a:graphic>
      </p:graphicFrame>
      <p:graphicFrame>
        <p:nvGraphicFramePr>
          <p:cNvPr id="8" name="Chart 7"/>
          <p:cNvGraphicFramePr>
            <a:graphicFrameLocks noGrp="1"/>
          </p:cNvGraphicFramePr>
          <p:nvPr/>
        </p:nvGraphicFramePr>
        <p:xfrm>
          <a:off x="6263640" y="1508760"/>
          <a:ext cx="5376672" cy="3657600"/>
        </p:xfrm>
        <a:graphic>
          <a:graphicData uri="http://schemas.openxmlformats.org/drawingml/2006/chart">
            <c:chart xmlns:c="http://schemas.openxmlformats.org/drawingml/2006/chart" r:id="rId4"/>
          </a:graphicData>
        </a:graphic>
      </p:graphicFrame>
      <p:sp>
        <p:nvSpPr>
          <p:cNvPr id="9" name="TextBox 8"/>
          <p:cNvSpPr txBox="1"/>
          <p:nvPr/>
        </p:nvSpPr>
        <p:spPr>
          <a:xfrm>
            <a:off x="548640" y="5349240"/>
            <a:ext cx="2651760" cy="502920"/>
          </a:xfrm>
          <a:prstGeom prst="rect">
            <a:avLst/>
          </a:prstGeom>
          <a:noFill/>
        </p:spPr>
        <p:txBody>
          <a:bodyPr wrap="square" lIns="0" rIns="0" tIns="0" bIns="0" anchor="t">
            <a:spAutoFit/>
          </a:bodyPr>
          <a:lstStyle/>
          <a:p>
            <a:pPr algn="l">
              <a:spcAft>
                <a:spcPts val="400"/>
              </a:spcAft>
            </a:pPr>
            <a:r>
              <a:rPr sz="2600" b="1" i="0">
                <a:solidFill>
                  <a:srgbClr val="2E8B57"/>
                </a:solidFill>
                <a:latin typeface="Calibri"/>
              </a:rPr>
              <a:t>6,666 / 6,666</a:t>
            </a:r>
          </a:p>
        </p:txBody>
      </p:sp>
      <p:sp>
        <p:nvSpPr>
          <p:cNvPr id="10" name="TextBox 9"/>
          <p:cNvSpPr txBox="1"/>
          <p:nvPr/>
        </p:nvSpPr>
        <p:spPr>
          <a:xfrm>
            <a:off x="548640" y="5852160"/>
            <a:ext cx="265176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generated programs correct</a:t>
            </a:r>
          </a:p>
        </p:txBody>
      </p:sp>
      <p:sp>
        <p:nvSpPr>
          <p:cNvPr id="11" name="TextBox 10"/>
          <p:cNvSpPr txBox="1"/>
          <p:nvPr/>
        </p:nvSpPr>
        <p:spPr>
          <a:xfrm>
            <a:off x="3364992" y="5349240"/>
            <a:ext cx="2651760" cy="502920"/>
          </a:xfrm>
          <a:prstGeom prst="rect">
            <a:avLst/>
          </a:prstGeom>
          <a:noFill/>
        </p:spPr>
        <p:txBody>
          <a:bodyPr wrap="square" lIns="0" rIns="0" tIns="0" bIns="0" anchor="t">
            <a:spAutoFit/>
          </a:bodyPr>
          <a:lstStyle/>
          <a:p>
            <a:pPr algn="l">
              <a:spcAft>
                <a:spcPts val="400"/>
              </a:spcAft>
            </a:pPr>
            <a:r>
              <a:rPr sz="2600" b="1" i="0">
                <a:solidFill>
                  <a:srgbClr val="E89A2C"/>
                </a:solidFill>
                <a:latin typeface="Calibri"/>
              </a:rPr>
              <a:t>−23.6%</a:t>
            </a:r>
          </a:p>
        </p:txBody>
      </p:sp>
      <p:sp>
        <p:nvSpPr>
          <p:cNvPr id="12" name="TextBox 11"/>
          <p:cNvSpPr txBox="1"/>
          <p:nvPr/>
        </p:nvSpPr>
        <p:spPr>
          <a:xfrm>
            <a:off x="3364992" y="5852160"/>
            <a:ext cx="265176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cost on Target B vs naive</a:t>
            </a:r>
          </a:p>
        </p:txBody>
      </p:sp>
      <p:sp>
        <p:nvSpPr>
          <p:cNvPr id="13" name="TextBox 12"/>
          <p:cNvSpPr txBox="1"/>
          <p:nvPr/>
        </p:nvSpPr>
        <p:spPr>
          <a:xfrm>
            <a:off x="6181344" y="5349240"/>
            <a:ext cx="2651760" cy="502920"/>
          </a:xfrm>
          <a:prstGeom prst="rect">
            <a:avLst/>
          </a:prstGeom>
          <a:noFill/>
        </p:spPr>
        <p:txBody>
          <a:bodyPr wrap="square" lIns="0" rIns="0" tIns="0" bIns="0" anchor="t">
            <a:spAutoFit/>
          </a:bodyPr>
          <a:lstStyle/>
          <a:p>
            <a:pPr algn="l">
              <a:spcAft>
                <a:spcPts val="400"/>
              </a:spcAft>
            </a:pPr>
            <a:r>
              <a:rPr sz="2600" b="1" i="0">
                <a:solidFill>
                  <a:srgbClr val="0E767A"/>
                </a:solidFill>
                <a:latin typeface="Calibri"/>
              </a:rPr>
              <a:t>−5.2%</a:t>
            </a:r>
          </a:p>
        </p:txBody>
      </p:sp>
      <p:sp>
        <p:nvSpPr>
          <p:cNvPr id="14" name="TextBox 13"/>
          <p:cNvSpPr txBox="1"/>
          <p:nvPr/>
        </p:nvSpPr>
        <p:spPr>
          <a:xfrm>
            <a:off x="6181344" y="5852160"/>
            <a:ext cx="265176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cost on Target A vs naive</a:t>
            </a:r>
          </a:p>
        </p:txBody>
      </p:sp>
      <p:sp>
        <p:nvSpPr>
          <p:cNvPr id="15" name="TextBox 14"/>
          <p:cNvSpPr txBox="1"/>
          <p:nvPr/>
        </p:nvSpPr>
        <p:spPr>
          <a:xfrm>
            <a:off x="8997696" y="5349240"/>
            <a:ext cx="2651760" cy="502920"/>
          </a:xfrm>
          <a:prstGeom prst="rect">
            <a:avLst/>
          </a:prstGeom>
          <a:noFill/>
        </p:spPr>
        <p:txBody>
          <a:bodyPr wrap="square" lIns="0" rIns="0" tIns="0" bIns="0" anchor="t">
            <a:spAutoFit/>
          </a:bodyPr>
          <a:lstStyle/>
          <a:p>
            <a:pPr algn="l">
              <a:spcAft>
                <a:spcPts val="400"/>
              </a:spcAft>
            </a:pPr>
            <a:r>
              <a:rPr sz="2600" b="1" i="0">
                <a:solidFill>
                  <a:srgbClr val="16233A"/>
                </a:solidFill>
                <a:latin typeface="Calibri"/>
              </a:rPr>
              <a:t>O(n)</a:t>
            </a:r>
          </a:p>
        </p:txBody>
      </p:sp>
      <p:sp>
        <p:nvSpPr>
          <p:cNvPr id="16" name="TextBox 15"/>
          <p:cNvSpPr txBox="1"/>
          <p:nvPr/>
        </p:nvSpPr>
        <p:spPr>
          <a:xfrm>
            <a:off x="8997696" y="5852160"/>
            <a:ext cx="265176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≈10–17 ns per node up to 240k nodes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Limitations, failure cases and trade-offs</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What the system does not do, what that costs, and how it would be fixed</a:t>
            </a:r>
          </a:p>
        </p:txBody>
      </p:sp>
      <p:sp>
        <p:nvSpPr>
          <p:cNvPr id="4" name="Presenter"/>
          <p:cNvSpPr/>
          <p:nvPr/>
        </p:nvSpPr>
        <p:spPr>
          <a:xfrm>
            <a:off x="9251899" y="457200"/>
            <a:ext cx="2391156"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Utsav · 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13</a:t>
            </a:r>
          </a:p>
        </p:txBody>
      </p:sp>
      <p:sp>
        <p:nvSpPr>
          <p:cNvPr id="7" name="Rounded Rectangle 6"/>
          <p:cNvSpPr/>
          <p:nvPr/>
        </p:nvSpPr>
        <p:spPr>
          <a:xfrm>
            <a:off x="548640" y="1554480"/>
            <a:ext cx="356616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77240" y="1737360"/>
            <a:ext cx="310896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Trees, not DAGs</a:t>
            </a:r>
          </a:p>
        </p:txBody>
      </p:sp>
      <p:sp>
        <p:nvSpPr>
          <p:cNvPr id="9" name="TextBox 8"/>
          <p:cNvSpPr txBox="1"/>
          <p:nvPr/>
        </p:nvSpPr>
        <p:spPr>
          <a:xfrm>
            <a:off x="777240" y="2212848"/>
            <a:ext cx="3154680" cy="685800"/>
          </a:xfrm>
          <a:prstGeom prst="rect">
            <a:avLst/>
          </a:prstGeom>
          <a:noFill/>
        </p:spPr>
        <p:txBody>
          <a:bodyPr wrap="square" lIns="0" rIns="0" tIns="0" bIns="0" anchor="t">
            <a:spAutoFit/>
          </a:bodyPr>
          <a:lstStyle/>
          <a:p>
            <a:pPr algn="l">
              <a:spcAft>
                <a:spcPts val="400"/>
              </a:spcAft>
            </a:pPr>
            <a:r>
              <a:rPr sz="1200" b="1" i="0">
                <a:solidFill>
                  <a:srgbClr val="C2412D"/>
                </a:solidFill>
                <a:latin typeface="Calibri"/>
              </a:rPr>
              <a:t>Impact  </a:t>
            </a:r>
            <a:r>
              <a:rPr sz="1400" b="0" i="0">
                <a:solidFill>
                  <a:srgbClr val="1F2933"/>
                </a:solidFill>
                <a:latin typeface="Calibri"/>
              </a:rPr>
              <a:t>repeated subexpressions are recomputed</a:t>
            </a:r>
          </a:p>
        </p:txBody>
      </p:sp>
      <p:sp>
        <p:nvSpPr>
          <p:cNvPr id="10" name="TextBox 9"/>
          <p:cNvSpPr txBox="1"/>
          <p:nvPr/>
        </p:nvSpPr>
        <p:spPr>
          <a:xfrm>
            <a:off x="777240" y="2926080"/>
            <a:ext cx="3154680" cy="685800"/>
          </a:xfrm>
          <a:prstGeom prst="rect">
            <a:avLst/>
          </a:prstGeom>
          <a:noFill/>
        </p:spPr>
        <p:txBody>
          <a:bodyPr wrap="square" lIns="0" rIns="0" tIns="0" bIns="0" anchor="t">
            <a:spAutoFit/>
          </a:bodyPr>
          <a:lstStyle/>
          <a:p>
            <a:pPr algn="l">
              <a:spcAft>
                <a:spcPts val="400"/>
              </a:spcAft>
            </a:pPr>
            <a:r>
              <a:rPr sz="1200" b="1" i="0">
                <a:solidFill>
                  <a:srgbClr val="2E8B57"/>
                </a:solidFill>
                <a:latin typeface="Calibri"/>
              </a:rPr>
              <a:t>Remedy  </a:t>
            </a:r>
            <a:r>
              <a:rPr sz="1400" b="0" i="0">
                <a:solidFill>
                  <a:srgbClr val="1F2933"/>
                </a:solidFill>
                <a:latin typeface="Calibri"/>
              </a:rPr>
              <a:t>split DAGs into trees before selection</a:t>
            </a:r>
          </a:p>
        </p:txBody>
      </p:sp>
      <p:sp>
        <p:nvSpPr>
          <p:cNvPr id="11" name="Rounded Rectangle 10"/>
          <p:cNvSpPr/>
          <p:nvPr/>
        </p:nvSpPr>
        <p:spPr>
          <a:xfrm>
            <a:off x="4297679" y="1554480"/>
            <a:ext cx="356616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2" name="TextBox 11"/>
          <p:cNvSpPr txBox="1"/>
          <p:nvPr/>
        </p:nvSpPr>
        <p:spPr>
          <a:xfrm>
            <a:off x="4526279" y="1737360"/>
            <a:ext cx="310896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Static rule costs</a:t>
            </a:r>
          </a:p>
        </p:txBody>
      </p:sp>
      <p:sp>
        <p:nvSpPr>
          <p:cNvPr id="13" name="TextBox 12"/>
          <p:cNvSpPr txBox="1"/>
          <p:nvPr/>
        </p:nvSpPr>
        <p:spPr>
          <a:xfrm>
            <a:off x="4526279" y="2212848"/>
            <a:ext cx="3154680" cy="685800"/>
          </a:xfrm>
          <a:prstGeom prst="rect">
            <a:avLst/>
          </a:prstGeom>
          <a:noFill/>
        </p:spPr>
        <p:txBody>
          <a:bodyPr wrap="square" lIns="0" rIns="0" tIns="0" bIns="0" anchor="t">
            <a:spAutoFit/>
          </a:bodyPr>
          <a:lstStyle/>
          <a:p>
            <a:pPr algn="l">
              <a:spcAft>
                <a:spcPts val="400"/>
              </a:spcAft>
            </a:pPr>
            <a:r>
              <a:rPr sz="1200" b="1" i="0">
                <a:solidFill>
                  <a:srgbClr val="C2412D"/>
                </a:solidFill>
                <a:latin typeface="Calibri"/>
              </a:rPr>
              <a:t>Impact  </a:t>
            </a:r>
            <a:r>
              <a:rPr sz="1400" b="0" i="0">
                <a:solidFill>
                  <a:srgbClr val="1F2933"/>
                </a:solidFill>
                <a:latin typeface="Calibri"/>
              </a:rPr>
              <a:t>cannot say "small immediates are cheaper"</a:t>
            </a:r>
          </a:p>
        </p:txBody>
      </p:sp>
      <p:sp>
        <p:nvSpPr>
          <p:cNvPr id="14" name="TextBox 13"/>
          <p:cNvSpPr txBox="1"/>
          <p:nvPr/>
        </p:nvSpPr>
        <p:spPr>
          <a:xfrm>
            <a:off x="4526279" y="2926080"/>
            <a:ext cx="3154680" cy="685800"/>
          </a:xfrm>
          <a:prstGeom prst="rect">
            <a:avLst/>
          </a:prstGeom>
          <a:noFill/>
        </p:spPr>
        <p:txBody>
          <a:bodyPr wrap="square" lIns="0" rIns="0" tIns="0" bIns="0" anchor="t">
            <a:spAutoFit/>
          </a:bodyPr>
          <a:lstStyle/>
          <a:p>
            <a:pPr algn="l">
              <a:spcAft>
                <a:spcPts val="400"/>
              </a:spcAft>
            </a:pPr>
            <a:r>
              <a:rPr sz="1200" b="1" i="0">
                <a:solidFill>
                  <a:srgbClr val="2E8B57"/>
                </a:solidFill>
                <a:latin typeface="Calibri"/>
              </a:rPr>
              <a:t>Remedy  </a:t>
            </a:r>
            <a:r>
              <a:rPr sz="1400" b="0" i="0">
                <a:solidFill>
                  <a:srgbClr val="1F2933"/>
                </a:solidFill>
                <a:latin typeface="Calibri"/>
              </a:rPr>
              <a:t>iburg-style dynamic costs</a:t>
            </a:r>
          </a:p>
        </p:txBody>
      </p:sp>
      <p:sp>
        <p:nvSpPr>
          <p:cNvPr id="15" name="Rounded Rectangle 14"/>
          <p:cNvSpPr/>
          <p:nvPr/>
        </p:nvSpPr>
        <p:spPr>
          <a:xfrm>
            <a:off x="8046719" y="1554480"/>
            <a:ext cx="356616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6" name="TextBox 15"/>
          <p:cNvSpPr txBox="1"/>
          <p:nvPr/>
        </p:nvSpPr>
        <p:spPr>
          <a:xfrm>
            <a:off x="8275319" y="1737360"/>
            <a:ext cx="310896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No register allocation</a:t>
            </a:r>
          </a:p>
        </p:txBody>
      </p:sp>
      <p:sp>
        <p:nvSpPr>
          <p:cNvPr id="17" name="TextBox 16"/>
          <p:cNvSpPr txBox="1"/>
          <p:nvPr/>
        </p:nvSpPr>
        <p:spPr>
          <a:xfrm>
            <a:off x="8275319" y="2212848"/>
            <a:ext cx="3154680" cy="685800"/>
          </a:xfrm>
          <a:prstGeom prst="rect">
            <a:avLst/>
          </a:prstGeom>
          <a:noFill/>
        </p:spPr>
        <p:txBody>
          <a:bodyPr wrap="square" lIns="0" rIns="0" tIns="0" bIns="0" anchor="t">
            <a:spAutoFit/>
          </a:bodyPr>
          <a:lstStyle/>
          <a:p>
            <a:pPr algn="l">
              <a:spcAft>
                <a:spcPts val="400"/>
              </a:spcAft>
            </a:pPr>
            <a:r>
              <a:rPr sz="1200" b="1" i="0">
                <a:solidFill>
                  <a:srgbClr val="C2412D"/>
                </a:solidFill>
                <a:latin typeface="Calibri"/>
              </a:rPr>
              <a:t>Impact  </a:t>
            </a:r>
            <a:r>
              <a:rPr sz="1400" b="0" i="0">
                <a:solidFill>
                  <a:srgbClr val="1F2933"/>
                </a:solidFill>
                <a:latin typeface="Calibri"/>
              </a:rPr>
              <a:t>39 virtual registers for the deep test</a:t>
            </a:r>
          </a:p>
        </p:txBody>
      </p:sp>
      <p:sp>
        <p:nvSpPr>
          <p:cNvPr id="18" name="TextBox 17"/>
          <p:cNvSpPr txBox="1"/>
          <p:nvPr/>
        </p:nvSpPr>
        <p:spPr>
          <a:xfrm>
            <a:off x="8275319" y="2926080"/>
            <a:ext cx="3154680" cy="685800"/>
          </a:xfrm>
          <a:prstGeom prst="rect">
            <a:avLst/>
          </a:prstGeom>
          <a:noFill/>
        </p:spPr>
        <p:txBody>
          <a:bodyPr wrap="square" lIns="0" rIns="0" tIns="0" bIns="0" anchor="t">
            <a:spAutoFit/>
          </a:bodyPr>
          <a:lstStyle/>
          <a:p>
            <a:pPr algn="l">
              <a:spcAft>
                <a:spcPts val="400"/>
              </a:spcAft>
            </a:pPr>
            <a:r>
              <a:rPr sz="1200" b="1" i="0">
                <a:solidFill>
                  <a:srgbClr val="2E8B57"/>
                </a:solidFill>
                <a:latin typeface="Calibri"/>
              </a:rPr>
              <a:t>Remedy  </a:t>
            </a:r>
            <a:r>
              <a:rPr sz="1400" b="0" i="0">
                <a:solidFill>
                  <a:srgbClr val="1F2933"/>
                </a:solidFill>
                <a:latin typeface="Calibri"/>
              </a:rPr>
              <a:t>Sethi–Ullman or linear scan</a:t>
            </a:r>
          </a:p>
        </p:txBody>
      </p:sp>
      <p:sp>
        <p:nvSpPr>
          <p:cNvPr id="19" name="Rounded Rectangle 18"/>
          <p:cNvSpPr/>
          <p:nvPr/>
        </p:nvSpPr>
        <p:spPr>
          <a:xfrm>
            <a:off x="548640" y="3931920"/>
            <a:ext cx="356616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0" name="TextBox 19"/>
          <p:cNvSpPr txBox="1"/>
          <p:nvPr/>
        </p:nvSpPr>
        <p:spPr>
          <a:xfrm>
            <a:off x="777240" y="4114800"/>
            <a:ext cx="310896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No commutative rules</a:t>
            </a:r>
          </a:p>
        </p:txBody>
      </p:sp>
      <p:sp>
        <p:nvSpPr>
          <p:cNvPr id="21" name="TextBox 20"/>
          <p:cNvSpPr txBox="1"/>
          <p:nvPr/>
        </p:nvSpPr>
        <p:spPr>
          <a:xfrm>
            <a:off x="777240" y="4590288"/>
            <a:ext cx="3154680" cy="685800"/>
          </a:xfrm>
          <a:prstGeom prst="rect">
            <a:avLst/>
          </a:prstGeom>
          <a:noFill/>
        </p:spPr>
        <p:txBody>
          <a:bodyPr wrap="square" lIns="0" rIns="0" tIns="0" bIns="0" anchor="t">
            <a:spAutoFit/>
          </a:bodyPr>
          <a:lstStyle/>
          <a:p>
            <a:pPr algn="l">
              <a:spcAft>
                <a:spcPts val="400"/>
              </a:spcAft>
            </a:pPr>
            <a:r>
              <a:rPr sz="1200" b="1" i="0">
                <a:solidFill>
                  <a:srgbClr val="C2412D"/>
                </a:solidFill>
                <a:latin typeface="Calibri"/>
              </a:rPr>
              <a:t>Impact  </a:t>
            </a:r>
            <a:r>
              <a:rPr sz="1400" b="0" i="0">
                <a:solidFill>
                  <a:srgbClr val="1F2933"/>
                </a:solidFill>
                <a:latin typeface="Calibri"/>
              </a:rPr>
              <a:t>7 + a: cost 3 instead of 2</a:t>
            </a:r>
          </a:p>
        </p:txBody>
      </p:sp>
      <p:sp>
        <p:nvSpPr>
          <p:cNvPr id="22" name="TextBox 21"/>
          <p:cNvSpPr txBox="1"/>
          <p:nvPr/>
        </p:nvSpPr>
        <p:spPr>
          <a:xfrm>
            <a:off x="777240" y="5303520"/>
            <a:ext cx="3154680" cy="685800"/>
          </a:xfrm>
          <a:prstGeom prst="rect">
            <a:avLst/>
          </a:prstGeom>
          <a:noFill/>
        </p:spPr>
        <p:txBody>
          <a:bodyPr wrap="square" lIns="0" rIns="0" tIns="0" bIns="0" anchor="t">
            <a:spAutoFit/>
          </a:bodyPr>
          <a:lstStyle/>
          <a:p>
            <a:pPr algn="l">
              <a:spcAft>
                <a:spcPts val="400"/>
              </a:spcAft>
            </a:pPr>
            <a:r>
              <a:rPr sz="1200" b="1" i="0">
                <a:solidFill>
                  <a:srgbClr val="2E8B57"/>
                </a:solidFill>
                <a:latin typeface="Calibri"/>
              </a:rPr>
              <a:t>Remedy  </a:t>
            </a:r>
            <a:r>
              <a:rPr sz="1400" b="0" i="0">
                <a:solidFill>
                  <a:srgbClr val="1F2933"/>
                </a:solidFill>
                <a:latin typeface="Calibri"/>
              </a:rPr>
              <a:t>add reg: ADD(imm,reg), stk: ADD(mem,stk)</a:t>
            </a:r>
          </a:p>
        </p:txBody>
      </p:sp>
      <p:sp>
        <p:nvSpPr>
          <p:cNvPr id="23" name="Rounded Rectangle 22"/>
          <p:cNvSpPr/>
          <p:nvPr/>
        </p:nvSpPr>
        <p:spPr>
          <a:xfrm>
            <a:off x="4297679" y="3931920"/>
            <a:ext cx="356616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TextBox 23"/>
          <p:cNvSpPr txBox="1"/>
          <p:nvPr/>
        </p:nvSpPr>
        <p:spPr>
          <a:xfrm>
            <a:off x="4526279" y="4114800"/>
            <a:ext cx="310896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Limited operators</a:t>
            </a:r>
          </a:p>
        </p:txBody>
      </p:sp>
      <p:sp>
        <p:nvSpPr>
          <p:cNvPr id="25" name="TextBox 24"/>
          <p:cNvSpPr txBox="1"/>
          <p:nvPr/>
        </p:nvSpPr>
        <p:spPr>
          <a:xfrm>
            <a:off x="4526279" y="4590288"/>
            <a:ext cx="3154680" cy="685800"/>
          </a:xfrm>
          <a:prstGeom prst="rect">
            <a:avLst/>
          </a:prstGeom>
          <a:noFill/>
        </p:spPr>
        <p:txBody>
          <a:bodyPr wrap="square" lIns="0" rIns="0" tIns="0" bIns="0" anchor="t">
            <a:spAutoFit/>
          </a:bodyPr>
          <a:lstStyle/>
          <a:p>
            <a:pPr algn="l">
              <a:spcAft>
                <a:spcPts val="400"/>
              </a:spcAft>
            </a:pPr>
            <a:r>
              <a:rPr sz="1200" b="1" i="0">
                <a:solidFill>
                  <a:srgbClr val="C2412D"/>
                </a:solidFill>
                <a:latin typeface="Calibri"/>
              </a:rPr>
              <a:t>Impact  </a:t>
            </a:r>
            <a:r>
              <a:rPr sz="1400" b="0" i="0">
                <a:solidFill>
                  <a:srgbClr val="1F2933"/>
                </a:solidFill>
                <a:latin typeface="Calibri"/>
              </a:rPr>
              <a:t>/, unary minus rejected (exit 2)</a:t>
            </a:r>
          </a:p>
        </p:txBody>
      </p:sp>
      <p:sp>
        <p:nvSpPr>
          <p:cNvPr id="26" name="TextBox 25"/>
          <p:cNvSpPr txBox="1"/>
          <p:nvPr/>
        </p:nvSpPr>
        <p:spPr>
          <a:xfrm>
            <a:off x="4526279" y="5303520"/>
            <a:ext cx="3154680" cy="685800"/>
          </a:xfrm>
          <a:prstGeom prst="rect">
            <a:avLst/>
          </a:prstGeom>
          <a:noFill/>
        </p:spPr>
        <p:txBody>
          <a:bodyPr wrap="square" lIns="0" rIns="0" tIns="0" bIns="0" anchor="t">
            <a:spAutoFit/>
          </a:bodyPr>
          <a:lstStyle/>
          <a:p>
            <a:pPr algn="l">
              <a:spcAft>
                <a:spcPts val="400"/>
              </a:spcAft>
            </a:pPr>
            <a:r>
              <a:rPr sz="1200" b="1" i="0">
                <a:solidFill>
                  <a:srgbClr val="2E8B57"/>
                </a:solidFill>
                <a:latin typeface="Calibri"/>
              </a:rPr>
              <a:t>Remedy  </a:t>
            </a:r>
            <a:r>
              <a:rPr sz="1400" b="0" i="0">
                <a:solidFill>
                  <a:srgbClr val="1F2933"/>
                </a:solidFill>
                <a:latin typeface="Calibri"/>
              </a:rPr>
              <a:t>new IR ops + rules per target</a:t>
            </a:r>
          </a:p>
        </p:txBody>
      </p:sp>
      <p:sp>
        <p:nvSpPr>
          <p:cNvPr id="27" name="Rounded Rectangle 26"/>
          <p:cNvSpPr/>
          <p:nvPr/>
        </p:nvSpPr>
        <p:spPr>
          <a:xfrm>
            <a:off x="8046719" y="3931920"/>
            <a:ext cx="3566160" cy="2194560"/>
          </a:xfrm>
          <a:prstGeom prst="roundRect">
            <a:avLst>
              <a:gd name="adj" fmla="val 500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8" name="TextBox 27"/>
          <p:cNvSpPr txBox="1"/>
          <p:nvPr/>
        </p:nvSpPr>
        <p:spPr>
          <a:xfrm>
            <a:off x="8275319" y="4114800"/>
            <a:ext cx="3108960" cy="365760"/>
          </a:xfrm>
          <a:prstGeom prst="rect">
            <a:avLst/>
          </a:prstGeom>
          <a:noFill/>
        </p:spPr>
        <p:txBody>
          <a:bodyPr wrap="square" lIns="0" rIns="0" tIns="0" bIns="0" anchor="t">
            <a:spAutoFit/>
          </a:bodyPr>
          <a:lstStyle/>
          <a:p>
            <a:pPr algn="l">
              <a:spcAft>
                <a:spcPts val="400"/>
              </a:spcAft>
            </a:pPr>
            <a:r>
              <a:rPr sz="1700" b="1" i="0">
                <a:solidFill>
                  <a:srgbClr val="16233A"/>
                </a:solidFill>
                <a:latin typeface="Calibri"/>
              </a:rPr>
              <a:t>Recursion depth</a:t>
            </a:r>
          </a:p>
        </p:txBody>
      </p:sp>
      <p:sp>
        <p:nvSpPr>
          <p:cNvPr id="29" name="TextBox 28"/>
          <p:cNvSpPr txBox="1"/>
          <p:nvPr/>
        </p:nvSpPr>
        <p:spPr>
          <a:xfrm>
            <a:off x="8275319" y="4590288"/>
            <a:ext cx="3154680" cy="685800"/>
          </a:xfrm>
          <a:prstGeom prst="rect">
            <a:avLst/>
          </a:prstGeom>
          <a:noFill/>
        </p:spPr>
        <p:txBody>
          <a:bodyPr wrap="square" lIns="0" rIns="0" tIns="0" bIns="0" anchor="t">
            <a:spAutoFit/>
          </a:bodyPr>
          <a:lstStyle/>
          <a:p>
            <a:pPr algn="l">
              <a:spcAft>
                <a:spcPts val="400"/>
              </a:spcAft>
            </a:pPr>
            <a:r>
              <a:rPr sz="1200" b="1" i="0">
                <a:solidFill>
                  <a:srgbClr val="C2412D"/>
                </a:solidFill>
                <a:latin typeface="Calibri"/>
              </a:rPr>
              <a:t>Impact  </a:t>
            </a:r>
            <a:r>
              <a:rPr sz="1400" b="0" i="0">
                <a:solidFill>
                  <a:srgbClr val="1F2933"/>
                </a:solidFill>
                <a:latin typeface="Calibri"/>
              </a:rPr>
              <a:t>extremely deep unbalanced trees hit the C stack</a:t>
            </a:r>
          </a:p>
        </p:txBody>
      </p:sp>
      <p:sp>
        <p:nvSpPr>
          <p:cNvPr id="30" name="TextBox 29"/>
          <p:cNvSpPr txBox="1"/>
          <p:nvPr/>
        </p:nvSpPr>
        <p:spPr>
          <a:xfrm>
            <a:off x="8275319" y="5303520"/>
            <a:ext cx="3154680" cy="685800"/>
          </a:xfrm>
          <a:prstGeom prst="rect">
            <a:avLst/>
          </a:prstGeom>
          <a:noFill/>
        </p:spPr>
        <p:txBody>
          <a:bodyPr wrap="square" lIns="0" rIns="0" tIns="0" bIns="0" anchor="t">
            <a:spAutoFit/>
          </a:bodyPr>
          <a:lstStyle/>
          <a:p>
            <a:pPr algn="l">
              <a:spcAft>
                <a:spcPts val="400"/>
              </a:spcAft>
            </a:pPr>
            <a:r>
              <a:rPr sz="1200" b="1" i="0">
                <a:solidFill>
                  <a:srgbClr val="2E8B57"/>
                </a:solidFill>
                <a:latin typeface="Calibri"/>
              </a:rPr>
              <a:t>Remedy  </a:t>
            </a:r>
            <a:r>
              <a:rPr sz="1400" b="0" i="0">
                <a:solidFill>
                  <a:srgbClr val="1F2933"/>
                </a:solidFill>
                <a:latin typeface="Calibri"/>
              </a:rPr>
              <a:t>iterative traversal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Repository and reproducibility</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github.com/ahmadazim542/burs-instruction-selector · C99 + make · no other dependencies</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14</a:t>
            </a:r>
          </a:p>
        </p:txBody>
      </p:sp>
      <p:sp>
        <p:nvSpPr>
          <p:cNvPr id="7" name="Rounded Rectangle 6"/>
          <p:cNvSpPr/>
          <p:nvPr/>
        </p:nvSpPr>
        <p:spPr>
          <a:xfrm>
            <a:off x="548640" y="1554480"/>
            <a:ext cx="5120640" cy="4526280"/>
          </a:xfrm>
          <a:prstGeom prst="roundRect">
            <a:avLst>
              <a:gd name="adj" fmla="val 202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49808" y="1682495"/>
            <a:ext cx="4754879"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REPOSITORY LAYOUT</a:t>
            </a:r>
          </a:p>
        </p:txBody>
      </p:sp>
      <p:sp>
        <p:nvSpPr>
          <p:cNvPr id="9" name="TextBox 8"/>
          <p:cNvSpPr txBox="1"/>
          <p:nvPr/>
        </p:nvSpPr>
        <p:spPr>
          <a:xfrm>
            <a:off x="749808" y="2011680"/>
            <a:ext cx="4754879" cy="395935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burs-instruction-selector/</a:t>
            </a:r>
          </a:p>
          <a:p>
            <a:pPr algn="l">
              <a:spcAft>
                <a:spcPts val="0"/>
              </a:spcAft>
            </a:pPr>
            <a:r>
              <a:rPr sz="1300" b="0" i="0">
                <a:solidFill>
                  <a:srgbClr val="E6EDF3"/>
                </a:solidFill>
                <a:latin typeface="Consolas"/>
              </a:rPr>
              <a:t>├── Makefile        3-stage build</a:t>
            </a:r>
          </a:p>
          <a:p>
            <a:pPr algn="l">
              <a:spcAft>
                <a:spcPts val="0"/>
              </a:spcAft>
            </a:pPr>
            <a:r>
              <a:rPr sz="1300" b="0" i="0">
                <a:solidFill>
                  <a:srgbClr val="E6EDF3"/>
                </a:solidFill>
                <a:latin typeface="Consolas"/>
              </a:rPr>
              <a:t>├── src/</a:t>
            </a:r>
          </a:p>
          <a:p>
            <a:pPr algn="l">
              <a:spcAft>
                <a:spcPts val="0"/>
              </a:spcAft>
            </a:pPr>
            <a:r>
              <a:rPr sz="1300" b="0" i="0">
                <a:solidFill>
                  <a:srgbClr val="E6EDF3"/>
                </a:solidFill>
                <a:latin typeface="Consolas"/>
              </a:rPr>
              <a:t>│   ├── ir/         parser, IR, ir_eval</a:t>
            </a:r>
          </a:p>
          <a:p>
            <a:pPr algn="l">
              <a:spcAft>
                <a:spcPts val="0"/>
              </a:spcAft>
            </a:pPr>
            <a:r>
              <a:rPr sz="1300" b="0" i="0">
                <a:solidFill>
                  <a:srgbClr val="E6EDF3"/>
                </a:solidFill>
                <a:latin typeface="Consolas"/>
              </a:rPr>
              <a:t>│   ├── burs/       engine + Target API</a:t>
            </a:r>
          </a:p>
          <a:p>
            <a:pPr algn="l">
              <a:spcAft>
                <a:spcPts val="0"/>
              </a:spcAft>
            </a:pPr>
            <a:r>
              <a:rPr sz="1300" b="0" i="0">
                <a:solidFill>
                  <a:srgbClr val="E6EDF3"/>
                </a:solidFill>
                <a:latin typeface="Consolas"/>
              </a:rPr>
              <a:t>│   ├── targets/</a:t>
            </a:r>
          </a:p>
          <a:p>
            <a:pPr algn="l">
              <a:spcAft>
                <a:spcPts val="0"/>
              </a:spcAft>
            </a:pPr>
            <a:r>
              <a:rPr sz="1300" b="0" i="0">
                <a:solidFill>
                  <a:srgbClr val="E6EDF3"/>
                </a:solidFill>
                <a:latin typeface="Consolas"/>
              </a:rPr>
              <a:t>│   │   ├── targetA/  targetA.gr</a:t>
            </a:r>
          </a:p>
          <a:p>
            <a:pPr algn="l">
              <a:spcAft>
                <a:spcPts val="0"/>
              </a:spcAft>
            </a:pPr>
            <a:r>
              <a:rPr sz="1300" b="0" i="0">
                <a:solidFill>
                  <a:srgbClr val="E6EDF3"/>
                </a:solidFill>
                <a:latin typeface="Consolas"/>
              </a:rPr>
              <a:t>│   │   └── targetB/  targetB.gr</a:t>
            </a:r>
          </a:p>
          <a:p>
            <a:pPr algn="l">
              <a:spcAft>
                <a:spcPts val="0"/>
              </a:spcAft>
            </a:pPr>
            <a:r>
              <a:rPr sz="1300" b="0" i="0">
                <a:solidFill>
                  <a:srgbClr val="E6EDF3"/>
                </a:solidFill>
                <a:latin typeface="Consolas"/>
              </a:rPr>
              <a:t>│   └── main/       driver, modes</a:t>
            </a:r>
          </a:p>
          <a:p>
            <a:pPr algn="l">
              <a:spcAft>
                <a:spcPts val="0"/>
              </a:spcAft>
            </a:pPr>
            <a:r>
              <a:rPr sz="1300" b="0" i="0">
                <a:solidFill>
                  <a:srgbClr val="E6EDF3"/>
                </a:solidFill>
                <a:latin typeface="Consolas"/>
              </a:rPr>
              <a:t>├── tests/          25 cases + expected/</a:t>
            </a:r>
          </a:p>
          <a:p>
            <a:pPr algn="l">
              <a:spcAft>
                <a:spcPts val="0"/>
              </a:spcAft>
            </a:pPr>
            <a:r>
              <a:rPr sz="1300" b="0" i="0">
                <a:solidFill>
                  <a:srgbClr val="E6EDF3"/>
                </a:solidFill>
                <a:latin typeface="Consolas"/>
              </a:rPr>
              <a:t>├── results/        committed evidence</a:t>
            </a:r>
          </a:p>
          <a:p>
            <a:pPr algn="l">
              <a:spcAft>
                <a:spcPts val="0"/>
              </a:spcAft>
            </a:pPr>
            <a:r>
              <a:rPr sz="1300" b="0" i="0">
                <a:solidFill>
                  <a:srgbClr val="E6EDF3"/>
                </a:solidFill>
                <a:latin typeface="Consolas"/>
              </a:rPr>
              <a:t>├── docs/           Review 1–3 documents</a:t>
            </a:r>
          </a:p>
          <a:p>
            <a:pPr algn="l">
              <a:spcAft>
                <a:spcPts val="0"/>
              </a:spcAft>
            </a:pPr>
            <a:r>
              <a:rPr sz="1300" b="0" i="0">
                <a:solidFill>
                  <a:srgbClr val="E6EDF3"/>
                </a:solidFill>
                <a:latin typeface="Consolas"/>
              </a:rPr>
              <a:t>└── third_party/burg   BURG generator</a:t>
            </a:r>
          </a:p>
        </p:txBody>
      </p:sp>
      <p:sp>
        <p:nvSpPr>
          <p:cNvPr id="10" name="Oval 9"/>
          <p:cNvSpPr/>
          <p:nvPr/>
        </p:nvSpPr>
        <p:spPr>
          <a:xfrm>
            <a:off x="5925312" y="1764792"/>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1</a:t>
            </a:r>
          </a:p>
        </p:txBody>
      </p:sp>
      <p:sp>
        <p:nvSpPr>
          <p:cNvPr id="11" name="Rounded Rectangle 10"/>
          <p:cNvSpPr/>
          <p:nvPr/>
        </p:nvSpPr>
        <p:spPr>
          <a:xfrm>
            <a:off x="6629400" y="1627632"/>
            <a:ext cx="5010912" cy="786384"/>
          </a:xfrm>
          <a:prstGeom prst="roundRect">
            <a:avLst>
              <a:gd name="adj" fmla="val 1162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2" name="TextBox 11"/>
          <p:cNvSpPr txBox="1"/>
          <p:nvPr/>
        </p:nvSpPr>
        <p:spPr>
          <a:xfrm>
            <a:off x="6812280" y="1700784"/>
            <a:ext cx="4663440" cy="320040"/>
          </a:xfrm>
          <a:prstGeom prst="rect">
            <a:avLst/>
          </a:prstGeom>
          <a:noFill/>
        </p:spPr>
        <p:txBody>
          <a:bodyPr wrap="square" lIns="0" rIns="0" tIns="0" bIns="0" anchor="t">
            <a:spAutoFit/>
          </a:bodyPr>
          <a:lstStyle/>
          <a:p>
            <a:pPr algn="l">
              <a:spcAft>
                <a:spcPts val="400"/>
              </a:spcAft>
            </a:pPr>
            <a:r>
              <a:rPr sz="1500" b="1" i="0">
                <a:solidFill>
                  <a:srgbClr val="16233A"/>
                </a:solidFill>
                <a:latin typeface="Consolas"/>
              </a:rPr>
              <a:t>git clone …/burs-instruction-selector.git</a:t>
            </a:r>
          </a:p>
        </p:txBody>
      </p:sp>
      <p:sp>
        <p:nvSpPr>
          <p:cNvPr id="13" name="TextBox 12"/>
          <p:cNvSpPr txBox="1"/>
          <p:nvPr/>
        </p:nvSpPr>
        <p:spPr>
          <a:xfrm>
            <a:off x="6812280" y="2039112"/>
            <a:ext cx="466344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source, tests, results, docs</a:t>
            </a:r>
          </a:p>
        </p:txBody>
      </p:sp>
      <p:sp>
        <p:nvSpPr>
          <p:cNvPr id="14" name="Oval 13"/>
          <p:cNvSpPr/>
          <p:nvPr/>
        </p:nvSpPr>
        <p:spPr>
          <a:xfrm>
            <a:off x="5925312" y="2926079"/>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2</a:t>
            </a:r>
          </a:p>
        </p:txBody>
      </p:sp>
      <p:sp>
        <p:nvSpPr>
          <p:cNvPr id="15" name="Rounded Rectangle 14"/>
          <p:cNvSpPr/>
          <p:nvPr/>
        </p:nvSpPr>
        <p:spPr>
          <a:xfrm>
            <a:off x="6629400" y="2788920"/>
            <a:ext cx="5010912" cy="786384"/>
          </a:xfrm>
          <a:prstGeom prst="roundRect">
            <a:avLst>
              <a:gd name="adj" fmla="val 1162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6" name="TextBox 15"/>
          <p:cNvSpPr txBox="1"/>
          <p:nvPr/>
        </p:nvSpPr>
        <p:spPr>
          <a:xfrm>
            <a:off x="6812280" y="2862072"/>
            <a:ext cx="4663440" cy="320040"/>
          </a:xfrm>
          <a:prstGeom prst="rect">
            <a:avLst/>
          </a:prstGeom>
          <a:noFill/>
        </p:spPr>
        <p:txBody>
          <a:bodyPr wrap="square" lIns="0" rIns="0" tIns="0" bIns="0" anchor="t">
            <a:spAutoFit/>
          </a:bodyPr>
          <a:lstStyle/>
          <a:p>
            <a:pPr algn="l">
              <a:spcAft>
                <a:spcPts val="400"/>
              </a:spcAft>
            </a:pPr>
            <a:r>
              <a:rPr sz="1500" b="1" i="0">
                <a:solidFill>
                  <a:srgbClr val="16233A"/>
                </a:solidFill>
                <a:latin typeface="Consolas"/>
              </a:rPr>
              <a:t>make</a:t>
            </a:r>
          </a:p>
        </p:txBody>
      </p:sp>
      <p:sp>
        <p:nvSpPr>
          <p:cNvPr id="17" name="TextBox 16"/>
          <p:cNvSpPr txBox="1"/>
          <p:nvPr/>
        </p:nvSpPr>
        <p:spPr>
          <a:xfrm>
            <a:off x="6812280" y="3200400"/>
            <a:ext cx="466344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build burg → generate both matchers → build/burs</a:t>
            </a:r>
          </a:p>
        </p:txBody>
      </p:sp>
      <p:sp>
        <p:nvSpPr>
          <p:cNvPr id="18" name="Oval 17"/>
          <p:cNvSpPr/>
          <p:nvPr/>
        </p:nvSpPr>
        <p:spPr>
          <a:xfrm>
            <a:off x="5925312" y="4087368"/>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3</a:t>
            </a:r>
          </a:p>
        </p:txBody>
      </p:sp>
      <p:sp>
        <p:nvSpPr>
          <p:cNvPr id="19" name="Rounded Rectangle 18"/>
          <p:cNvSpPr/>
          <p:nvPr/>
        </p:nvSpPr>
        <p:spPr>
          <a:xfrm>
            <a:off x="6629400" y="3950208"/>
            <a:ext cx="5010912" cy="786384"/>
          </a:xfrm>
          <a:prstGeom prst="roundRect">
            <a:avLst>
              <a:gd name="adj" fmla="val 1162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0" name="TextBox 19"/>
          <p:cNvSpPr txBox="1"/>
          <p:nvPr/>
        </p:nvSpPr>
        <p:spPr>
          <a:xfrm>
            <a:off x="6812280" y="4023360"/>
            <a:ext cx="4663440" cy="320040"/>
          </a:xfrm>
          <a:prstGeom prst="rect">
            <a:avLst/>
          </a:prstGeom>
          <a:noFill/>
        </p:spPr>
        <p:txBody>
          <a:bodyPr wrap="square" lIns="0" rIns="0" tIns="0" bIns="0" anchor="t">
            <a:spAutoFit/>
          </a:bodyPr>
          <a:lstStyle/>
          <a:p>
            <a:pPr algn="l">
              <a:spcAft>
                <a:spcPts val="400"/>
              </a:spcAft>
            </a:pPr>
            <a:r>
              <a:rPr sz="1500" b="1" i="0">
                <a:solidFill>
                  <a:srgbClr val="16233A"/>
                </a:solidFill>
                <a:latin typeface="Consolas"/>
              </a:rPr>
              <a:t>make test</a:t>
            </a:r>
          </a:p>
        </p:txBody>
      </p:sp>
      <p:sp>
        <p:nvSpPr>
          <p:cNvPr id="21" name="TextBox 20"/>
          <p:cNvSpPr txBox="1"/>
          <p:nvPr/>
        </p:nvSpPr>
        <p:spPr>
          <a:xfrm>
            <a:off x="6812280" y="4361688"/>
            <a:ext cx="466344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27 passed, 0 failed</a:t>
            </a:r>
          </a:p>
        </p:txBody>
      </p:sp>
      <p:sp>
        <p:nvSpPr>
          <p:cNvPr id="22" name="Oval 21"/>
          <p:cNvSpPr/>
          <p:nvPr/>
        </p:nvSpPr>
        <p:spPr>
          <a:xfrm>
            <a:off x="5925312" y="5248656"/>
            <a:ext cx="493776" cy="493776"/>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500" b="1" i="0">
                <a:solidFill>
                  <a:srgbClr val="FFFFFF"/>
                </a:solidFill>
                <a:latin typeface="Calibri"/>
              </a:rPr>
              <a:t>4</a:t>
            </a:r>
          </a:p>
        </p:txBody>
      </p:sp>
      <p:sp>
        <p:nvSpPr>
          <p:cNvPr id="23" name="Rounded Rectangle 22"/>
          <p:cNvSpPr/>
          <p:nvPr/>
        </p:nvSpPr>
        <p:spPr>
          <a:xfrm>
            <a:off x="6629400" y="5111496"/>
            <a:ext cx="5010912" cy="786384"/>
          </a:xfrm>
          <a:prstGeom prst="roundRect">
            <a:avLst>
              <a:gd name="adj" fmla="val 1162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TextBox 23"/>
          <p:cNvSpPr txBox="1"/>
          <p:nvPr/>
        </p:nvSpPr>
        <p:spPr>
          <a:xfrm>
            <a:off x="6812280" y="5184648"/>
            <a:ext cx="4663440" cy="320040"/>
          </a:xfrm>
          <a:prstGeom prst="rect">
            <a:avLst/>
          </a:prstGeom>
          <a:noFill/>
        </p:spPr>
        <p:txBody>
          <a:bodyPr wrap="square" lIns="0" rIns="0" tIns="0" bIns="0" anchor="t">
            <a:spAutoFit/>
          </a:bodyPr>
          <a:lstStyle/>
          <a:p>
            <a:pPr algn="l">
              <a:spcAft>
                <a:spcPts val="400"/>
              </a:spcAft>
            </a:pPr>
            <a:r>
              <a:rPr sz="1500" b="1" i="0">
                <a:solidFill>
                  <a:srgbClr val="16233A"/>
                </a:solidFill>
                <a:latin typeface="Consolas"/>
              </a:rPr>
              <a:t>make results</a:t>
            </a:r>
          </a:p>
        </p:txBody>
      </p:sp>
      <p:sp>
        <p:nvSpPr>
          <p:cNvPr id="25" name="TextBox 24"/>
          <p:cNvSpPr txBox="1"/>
          <p:nvPr/>
        </p:nvSpPr>
        <p:spPr>
          <a:xfrm>
            <a:off x="6812280" y="5522976"/>
            <a:ext cx="4663440" cy="320040"/>
          </a:xfrm>
          <a:prstGeom prst="rect">
            <a:avLst/>
          </a:prstGeom>
          <a:noFill/>
        </p:spPr>
        <p:txBody>
          <a:bodyPr wrap="square" lIns="0" rIns="0" tIns="0" bIns="0" anchor="t">
            <a:spAutoFit/>
          </a:bodyPr>
          <a:lstStyle/>
          <a:p>
            <a:pPr algn="l">
              <a:spcAft>
                <a:spcPts val="400"/>
              </a:spcAft>
            </a:pPr>
            <a:r>
              <a:rPr sz="1300" b="0" i="0">
                <a:solidFill>
                  <a:srgbClr val="5B6770"/>
                </a:solidFill>
                <a:latin typeface="Calibri"/>
              </a:rPr>
              <a:t>regenerate results/*.txt and compare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Member-wise technical contribution</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Ownership approved in Review 1; each member owns files, tests and a viva topic</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All</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15</a:t>
            </a:r>
          </a:p>
        </p:txBody>
      </p:sp>
      <p:sp>
        <p:nvSpPr>
          <p:cNvPr id="7" name="Rounded Rectangle 6"/>
          <p:cNvSpPr/>
          <p:nvPr/>
        </p:nvSpPr>
        <p:spPr>
          <a:xfrm>
            <a:off x="548640" y="1554480"/>
            <a:ext cx="2651760" cy="4663440"/>
          </a:xfrm>
          <a:prstGeom prst="roundRect">
            <a:avLst>
              <a:gd name="adj" fmla="val 413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Oval 7"/>
          <p:cNvSpPr/>
          <p:nvPr/>
        </p:nvSpPr>
        <p:spPr>
          <a:xfrm>
            <a:off x="1490472" y="1764792"/>
            <a:ext cx="768096" cy="76809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700" b="1" i="0">
                <a:solidFill>
                  <a:srgbClr val="FFFFFF"/>
                </a:solidFill>
                <a:latin typeface="Calibri"/>
              </a:rPr>
              <a:t>VK</a:t>
            </a:r>
          </a:p>
        </p:txBody>
      </p:sp>
      <p:sp>
        <p:nvSpPr>
          <p:cNvPr id="9" name="TextBox 8"/>
          <p:cNvSpPr txBox="1"/>
          <p:nvPr/>
        </p:nvSpPr>
        <p:spPr>
          <a:xfrm>
            <a:off x="731520" y="2697480"/>
            <a:ext cx="2286000" cy="365760"/>
          </a:xfrm>
          <a:prstGeom prst="rect">
            <a:avLst/>
          </a:prstGeom>
          <a:noFill/>
        </p:spPr>
        <p:txBody>
          <a:bodyPr wrap="square" lIns="0" rIns="0" tIns="0" bIns="0" anchor="t">
            <a:spAutoFit/>
          </a:bodyPr>
          <a:lstStyle/>
          <a:p>
            <a:pPr algn="ctr">
              <a:spcAft>
                <a:spcPts val="400"/>
              </a:spcAft>
            </a:pPr>
            <a:r>
              <a:rPr sz="1600" b="1" i="0">
                <a:solidFill>
                  <a:srgbClr val="16233A"/>
                </a:solidFill>
                <a:latin typeface="Calibri"/>
              </a:rPr>
              <a:t>Vineet Kumar Mishra</a:t>
            </a:r>
          </a:p>
        </p:txBody>
      </p:sp>
      <p:sp>
        <p:nvSpPr>
          <p:cNvPr id="10" name="TextBox 9"/>
          <p:cNvSpPr txBox="1"/>
          <p:nvPr/>
        </p:nvSpPr>
        <p:spPr>
          <a:xfrm>
            <a:off x="731520" y="3044952"/>
            <a:ext cx="2286000" cy="320040"/>
          </a:xfrm>
          <a:prstGeom prst="rect">
            <a:avLst/>
          </a:prstGeom>
          <a:noFill/>
        </p:spPr>
        <p:txBody>
          <a:bodyPr wrap="square" lIns="0" rIns="0" tIns="0" bIns="0" anchor="t">
            <a:spAutoFit/>
          </a:bodyPr>
          <a:lstStyle/>
          <a:p>
            <a:pPr algn="ctr">
              <a:spcAft>
                <a:spcPts val="400"/>
              </a:spcAft>
            </a:pPr>
            <a:r>
              <a:rPr sz="1200" b="0" i="0">
                <a:solidFill>
                  <a:srgbClr val="5B6770"/>
                </a:solidFill>
                <a:latin typeface="Calibri"/>
              </a:rPr>
              <a:t>Project lead · IR &amp; front end</a:t>
            </a:r>
          </a:p>
        </p:txBody>
      </p:sp>
      <p:sp>
        <p:nvSpPr>
          <p:cNvPr id="11" name="TextBox 10"/>
          <p:cNvSpPr txBox="1"/>
          <p:nvPr/>
        </p:nvSpPr>
        <p:spPr>
          <a:xfrm>
            <a:off x="777240" y="352044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OWNS</a:t>
            </a:r>
          </a:p>
        </p:txBody>
      </p:sp>
      <p:sp>
        <p:nvSpPr>
          <p:cNvPr id="12" name="TextBox 11"/>
          <p:cNvSpPr txBox="1"/>
          <p:nvPr/>
        </p:nvSpPr>
        <p:spPr>
          <a:xfrm>
            <a:off x="777240" y="3794760"/>
            <a:ext cx="2286000" cy="1097280"/>
          </a:xfrm>
          <a:prstGeom prst="rect">
            <a:avLst/>
          </a:prstGeom>
          <a:noFill/>
        </p:spPr>
        <p:txBody>
          <a:bodyPr wrap="square" lIns="0" rIns="0" tIns="0" bIns="0" anchor="t">
            <a:spAutoFit/>
          </a:bodyPr>
          <a:lstStyle/>
          <a:p>
            <a:pPr algn="l">
              <a:spcAft>
                <a:spcPts val="200"/>
              </a:spcAft>
            </a:pPr>
            <a:r>
              <a:rPr sz="1300" b="0" i="0">
                <a:solidFill>
                  <a:srgbClr val="1F2933"/>
                </a:solidFill>
                <a:latin typeface="Calibri"/>
              </a:rPr>
              <a:t>src/ir/ir.h, ir.c</a:t>
            </a:r>
          </a:p>
          <a:p>
            <a:pPr algn="l">
              <a:spcAft>
                <a:spcPts val="200"/>
              </a:spcAft>
            </a:pPr>
            <a:r>
              <a:rPr sz="1300" b="0" i="0">
                <a:solidFill>
                  <a:srgbClr val="1F2933"/>
                </a:solidFill>
                <a:latin typeface="Calibri"/>
              </a:rPr>
              <a:t>parser, IR contract, ir_eval</a:t>
            </a:r>
          </a:p>
          <a:p>
            <a:pPr algn="l">
              <a:spcAft>
                <a:spcPts val="200"/>
              </a:spcAft>
            </a:pPr>
            <a:r>
              <a:rPr sz="1300" b="0" i="0">
                <a:solidFill>
                  <a:srgbClr val="1F2933"/>
                </a:solidFill>
                <a:latin typeface="Calibri"/>
              </a:rPr>
              <a:t>build pipeline</a:t>
            </a:r>
          </a:p>
        </p:txBody>
      </p:sp>
      <p:sp>
        <p:nvSpPr>
          <p:cNvPr id="13" name="TextBox 12"/>
          <p:cNvSpPr txBox="1"/>
          <p:nvPr/>
        </p:nvSpPr>
        <p:spPr>
          <a:xfrm>
            <a:off x="777240" y="484632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EVIDENCE</a:t>
            </a:r>
          </a:p>
        </p:txBody>
      </p:sp>
      <p:sp>
        <p:nvSpPr>
          <p:cNvPr id="14" name="TextBox 13"/>
          <p:cNvSpPr txBox="1"/>
          <p:nvPr/>
        </p:nvSpPr>
        <p:spPr>
          <a:xfrm>
            <a:off x="777240" y="5102352"/>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neg_* tests</a:t>
            </a:r>
          </a:p>
        </p:txBody>
      </p:sp>
      <p:sp>
        <p:nvSpPr>
          <p:cNvPr id="15" name="TextBox 14"/>
          <p:cNvSpPr txBox="1"/>
          <p:nvPr/>
        </p:nvSpPr>
        <p:spPr>
          <a:xfrm>
            <a:off x="777240" y="5468112"/>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VIVA</a:t>
            </a:r>
          </a:p>
        </p:txBody>
      </p:sp>
      <p:sp>
        <p:nvSpPr>
          <p:cNvPr id="16" name="TextBox 15"/>
          <p:cNvSpPr txBox="1"/>
          <p:nvPr/>
        </p:nvSpPr>
        <p:spPr>
          <a:xfrm>
            <a:off x="777240" y="5724144"/>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architecture, IR, parser</a:t>
            </a:r>
          </a:p>
        </p:txBody>
      </p:sp>
      <p:sp>
        <p:nvSpPr>
          <p:cNvPr id="17" name="Rounded Rectangle 16"/>
          <p:cNvSpPr/>
          <p:nvPr/>
        </p:nvSpPr>
        <p:spPr>
          <a:xfrm>
            <a:off x="3364992" y="1554480"/>
            <a:ext cx="2651760" cy="4663440"/>
          </a:xfrm>
          <a:prstGeom prst="roundRect">
            <a:avLst>
              <a:gd name="adj" fmla="val 413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8" name="Oval 17"/>
          <p:cNvSpPr/>
          <p:nvPr/>
        </p:nvSpPr>
        <p:spPr>
          <a:xfrm>
            <a:off x="4306824" y="1764792"/>
            <a:ext cx="768096" cy="76809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700" b="1" i="0">
                <a:solidFill>
                  <a:srgbClr val="FFFFFF"/>
                </a:solidFill>
                <a:latin typeface="Calibri"/>
              </a:rPr>
              <a:t>MV</a:t>
            </a:r>
          </a:p>
        </p:txBody>
      </p:sp>
      <p:sp>
        <p:nvSpPr>
          <p:cNvPr id="19" name="TextBox 18"/>
          <p:cNvSpPr txBox="1"/>
          <p:nvPr/>
        </p:nvSpPr>
        <p:spPr>
          <a:xfrm>
            <a:off x="3547872" y="2697480"/>
            <a:ext cx="2286000" cy="365760"/>
          </a:xfrm>
          <a:prstGeom prst="rect">
            <a:avLst/>
          </a:prstGeom>
          <a:noFill/>
        </p:spPr>
        <p:txBody>
          <a:bodyPr wrap="square" lIns="0" rIns="0" tIns="0" bIns="0" anchor="t">
            <a:spAutoFit/>
          </a:bodyPr>
          <a:lstStyle/>
          <a:p>
            <a:pPr algn="ctr">
              <a:spcAft>
                <a:spcPts val="400"/>
              </a:spcAft>
            </a:pPr>
            <a:r>
              <a:rPr sz="1600" b="1" i="0">
                <a:solidFill>
                  <a:srgbClr val="16233A"/>
                </a:solidFill>
                <a:latin typeface="Calibri"/>
              </a:rPr>
              <a:t>Mayank Verma</a:t>
            </a:r>
          </a:p>
        </p:txBody>
      </p:sp>
      <p:sp>
        <p:nvSpPr>
          <p:cNvPr id="20" name="TextBox 19"/>
          <p:cNvSpPr txBox="1"/>
          <p:nvPr/>
        </p:nvSpPr>
        <p:spPr>
          <a:xfrm>
            <a:off x="3547872" y="3044952"/>
            <a:ext cx="2286000" cy="320040"/>
          </a:xfrm>
          <a:prstGeom prst="rect">
            <a:avLst/>
          </a:prstGeom>
          <a:noFill/>
        </p:spPr>
        <p:txBody>
          <a:bodyPr wrap="square" lIns="0" rIns="0" tIns="0" bIns="0" anchor="t">
            <a:spAutoFit/>
          </a:bodyPr>
          <a:lstStyle/>
          <a:p>
            <a:pPr algn="ctr">
              <a:spcAft>
                <a:spcPts val="400"/>
              </a:spcAft>
            </a:pPr>
            <a:r>
              <a:rPr sz="1200" b="0" i="0">
                <a:solidFill>
                  <a:srgbClr val="5B6770"/>
                </a:solidFill>
                <a:latin typeface="Calibri"/>
              </a:rPr>
              <a:t>Target descriptions</a:t>
            </a:r>
          </a:p>
        </p:txBody>
      </p:sp>
      <p:sp>
        <p:nvSpPr>
          <p:cNvPr id="21" name="TextBox 20"/>
          <p:cNvSpPr txBox="1"/>
          <p:nvPr/>
        </p:nvSpPr>
        <p:spPr>
          <a:xfrm>
            <a:off x="3593592" y="352044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OWNS</a:t>
            </a:r>
          </a:p>
        </p:txBody>
      </p:sp>
      <p:sp>
        <p:nvSpPr>
          <p:cNvPr id="22" name="TextBox 21"/>
          <p:cNvSpPr txBox="1"/>
          <p:nvPr/>
        </p:nvSpPr>
        <p:spPr>
          <a:xfrm>
            <a:off x="3593592" y="3794760"/>
            <a:ext cx="2286000" cy="1097280"/>
          </a:xfrm>
          <a:prstGeom prst="rect">
            <a:avLst/>
          </a:prstGeom>
          <a:noFill/>
        </p:spPr>
        <p:txBody>
          <a:bodyPr wrap="square" lIns="0" rIns="0" tIns="0" bIns="0" anchor="t">
            <a:spAutoFit/>
          </a:bodyPr>
          <a:lstStyle/>
          <a:p>
            <a:pPr algn="l">
              <a:spcAft>
                <a:spcPts val="200"/>
              </a:spcAft>
            </a:pPr>
            <a:r>
              <a:rPr sz="1300" b="0" i="0">
                <a:solidFill>
                  <a:srgbClr val="1F2933"/>
                </a:solidFill>
                <a:latin typeface="Calibri"/>
              </a:rPr>
              <a:t>targetA.gr: 9 rules</a:t>
            </a:r>
          </a:p>
          <a:p>
            <a:pPr algn="l">
              <a:spcAft>
                <a:spcPts val="200"/>
              </a:spcAft>
            </a:pPr>
            <a:r>
              <a:rPr sz="1300" b="0" i="0">
                <a:solidFill>
                  <a:srgbClr val="1F2933"/>
                </a:solidFill>
                <a:latin typeface="Calibri"/>
              </a:rPr>
              <a:t>targetB.gr: 14 rules</a:t>
            </a:r>
          </a:p>
          <a:p>
            <a:pPr algn="l">
              <a:spcAft>
                <a:spcPts val="200"/>
              </a:spcAft>
            </a:pPr>
            <a:r>
              <a:rPr sz="1300" b="0" i="0">
                <a:solidFill>
                  <a:srgbClr val="1F2933"/>
                </a:solidFill>
                <a:latin typeface="Calibri"/>
              </a:rPr>
              <a:t>nonterminals, costs</a:t>
            </a:r>
          </a:p>
        </p:txBody>
      </p:sp>
      <p:sp>
        <p:nvSpPr>
          <p:cNvPr id="23" name="TextBox 22"/>
          <p:cNvSpPr txBox="1"/>
          <p:nvPr/>
        </p:nvSpPr>
        <p:spPr>
          <a:xfrm>
            <a:off x="3593592" y="484632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EVIDENCE</a:t>
            </a:r>
          </a:p>
        </p:txBody>
      </p:sp>
      <p:sp>
        <p:nvSpPr>
          <p:cNvPr id="24" name="TextBox 23"/>
          <p:cNvSpPr txBox="1"/>
          <p:nvPr/>
        </p:nvSpPr>
        <p:spPr>
          <a:xfrm>
            <a:off x="3593592" y="5102352"/>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rule_* tests</a:t>
            </a:r>
          </a:p>
        </p:txBody>
      </p:sp>
      <p:sp>
        <p:nvSpPr>
          <p:cNvPr id="25" name="TextBox 24"/>
          <p:cNvSpPr txBox="1"/>
          <p:nvPr/>
        </p:nvSpPr>
        <p:spPr>
          <a:xfrm>
            <a:off x="3593592" y="5468112"/>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VIVA</a:t>
            </a:r>
          </a:p>
        </p:txBody>
      </p:sp>
      <p:sp>
        <p:nvSpPr>
          <p:cNvPr id="26" name="TextBox 25"/>
          <p:cNvSpPr txBox="1"/>
          <p:nvPr/>
        </p:nvSpPr>
        <p:spPr>
          <a:xfrm>
            <a:off x="3593592" y="5724144"/>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grammars, chain rules</a:t>
            </a:r>
          </a:p>
        </p:txBody>
      </p:sp>
      <p:sp>
        <p:nvSpPr>
          <p:cNvPr id="27" name="Rounded Rectangle 26"/>
          <p:cNvSpPr/>
          <p:nvPr/>
        </p:nvSpPr>
        <p:spPr>
          <a:xfrm>
            <a:off x="6181344" y="1554480"/>
            <a:ext cx="2651760" cy="4663440"/>
          </a:xfrm>
          <a:prstGeom prst="roundRect">
            <a:avLst>
              <a:gd name="adj" fmla="val 4137"/>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8" name="Oval 27"/>
          <p:cNvSpPr/>
          <p:nvPr/>
        </p:nvSpPr>
        <p:spPr>
          <a:xfrm>
            <a:off x="7123175" y="1764792"/>
            <a:ext cx="768096" cy="76809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700" b="1" i="0">
                <a:solidFill>
                  <a:srgbClr val="FFFFFF"/>
                </a:solidFill>
                <a:latin typeface="Calibri"/>
              </a:rPr>
              <a:t>UK</a:t>
            </a:r>
          </a:p>
        </p:txBody>
      </p:sp>
      <p:sp>
        <p:nvSpPr>
          <p:cNvPr id="29" name="TextBox 28"/>
          <p:cNvSpPr txBox="1"/>
          <p:nvPr/>
        </p:nvSpPr>
        <p:spPr>
          <a:xfrm>
            <a:off x="6364224" y="2697480"/>
            <a:ext cx="2286000" cy="365760"/>
          </a:xfrm>
          <a:prstGeom prst="rect">
            <a:avLst/>
          </a:prstGeom>
          <a:noFill/>
        </p:spPr>
        <p:txBody>
          <a:bodyPr wrap="square" lIns="0" rIns="0" tIns="0" bIns="0" anchor="t">
            <a:spAutoFit/>
          </a:bodyPr>
          <a:lstStyle/>
          <a:p>
            <a:pPr algn="ctr">
              <a:spcAft>
                <a:spcPts val="400"/>
              </a:spcAft>
            </a:pPr>
            <a:r>
              <a:rPr sz="1600" b="1" i="0">
                <a:solidFill>
                  <a:srgbClr val="16233A"/>
                </a:solidFill>
                <a:latin typeface="Calibri"/>
              </a:rPr>
              <a:t>Utsav Keshrwani</a:t>
            </a:r>
          </a:p>
        </p:txBody>
      </p:sp>
      <p:sp>
        <p:nvSpPr>
          <p:cNvPr id="30" name="TextBox 29"/>
          <p:cNvSpPr txBox="1"/>
          <p:nvPr/>
        </p:nvSpPr>
        <p:spPr>
          <a:xfrm>
            <a:off x="6364224" y="3044952"/>
            <a:ext cx="2286000" cy="320040"/>
          </a:xfrm>
          <a:prstGeom prst="rect">
            <a:avLst/>
          </a:prstGeom>
          <a:noFill/>
        </p:spPr>
        <p:txBody>
          <a:bodyPr wrap="square" lIns="0" rIns="0" tIns="0" bIns="0" anchor="t">
            <a:spAutoFit/>
          </a:bodyPr>
          <a:lstStyle/>
          <a:p>
            <a:pPr algn="ctr">
              <a:spcAft>
                <a:spcPts val="400"/>
              </a:spcAft>
            </a:pPr>
            <a:r>
              <a:rPr sz="1200" b="0" i="0">
                <a:solidFill>
                  <a:srgbClr val="5B6770"/>
                </a:solidFill>
                <a:latin typeface="Calibri"/>
              </a:rPr>
              <a:t>BURS engine</a:t>
            </a:r>
          </a:p>
        </p:txBody>
      </p:sp>
      <p:sp>
        <p:nvSpPr>
          <p:cNvPr id="31" name="TextBox 30"/>
          <p:cNvSpPr txBox="1"/>
          <p:nvPr/>
        </p:nvSpPr>
        <p:spPr>
          <a:xfrm>
            <a:off x="6409944" y="352044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OWNS</a:t>
            </a:r>
          </a:p>
        </p:txBody>
      </p:sp>
      <p:sp>
        <p:nvSpPr>
          <p:cNvPr id="32" name="TextBox 31"/>
          <p:cNvSpPr txBox="1"/>
          <p:nvPr/>
        </p:nvSpPr>
        <p:spPr>
          <a:xfrm>
            <a:off x="6409944" y="3794760"/>
            <a:ext cx="2286000" cy="1097280"/>
          </a:xfrm>
          <a:prstGeom prst="rect">
            <a:avLst/>
          </a:prstGeom>
          <a:noFill/>
        </p:spPr>
        <p:txBody>
          <a:bodyPr wrap="square" lIns="0" rIns="0" tIns="0" bIns="0" anchor="t">
            <a:spAutoFit/>
          </a:bodyPr>
          <a:lstStyle/>
          <a:p>
            <a:pPr algn="l">
              <a:spcAft>
                <a:spcPts val="200"/>
              </a:spcAft>
            </a:pPr>
            <a:r>
              <a:rPr sz="1300" b="0" i="0">
                <a:solidFill>
                  <a:srgbClr val="1F2933"/>
                </a:solidFill>
                <a:latin typeface="Calibri"/>
              </a:rPr>
              <a:t>src/burs/engine.c</a:t>
            </a:r>
          </a:p>
          <a:p>
            <a:pPr algn="l">
              <a:spcAft>
                <a:spcPts val="200"/>
              </a:spcAft>
            </a:pPr>
            <a:r>
              <a:rPr sz="1300" b="0" i="0">
                <a:solidFill>
                  <a:srgbClr val="1F2933"/>
                </a:solidFill>
                <a:latin typeface="Calibri"/>
              </a:rPr>
              <a:t>target.h interface</a:t>
            </a:r>
          </a:p>
          <a:p>
            <a:pPr algn="l">
              <a:spcAft>
                <a:spcPts val="200"/>
              </a:spcAft>
            </a:pPr>
            <a:r>
              <a:rPr sz="1300" b="0" i="0">
                <a:solidFill>
                  <a:srgbClr val="1F2933"/>
                </a:solidFill>
                <a:latin typeface="Calibri"/>
              </a:rPr>
              <a:t>burg prefixes, cost table</a:t>
            </a:r>
          </a:p>
        </p:txBody>
      </p:sp>
      <p:sp>
        <p:nvSpPr>
          <p:cNvPr id="33" name="TextBox 32"/>
          <p:cNvSpPr txBox="1"/>
          <p:nvPr/>
        </p:nvSpPr>
        <p:spPr>
          <a:xfrm>
            <a:off x="6409944" y="484632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EVIDENCE</a:t>
            </a:r>
          </a:p>
        </p:txBody>
      </p:sp>
      <p:sp>
        <p:nvSpPr>
          <p:cNvPr id="34" name="TextBox 33"/>
          <p:cNvSpPr txBox="1"/>
          <p:nvPr/>
        </p:nvSpPr>
        <p:spPr>
          <a:xfrm>
            <a:off x="6409944" y="5102352"/>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-v tables, --bench</a:t>
            </a:r>
          </a:p>
        </p:txBody>
      </p:sp>
      <p:sp>
        <p:nvSpPr>
          <p:cNvPr id="35" name="TextBox 34"/>
          <p:cNvSpPr txBox="1"/>
          <p:nvPr/>
        </p:nvSpPr>
        <p:spPr>
          <a:xfrm>
            <a:off x="6409944" y="5468112"/>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VIVA</a:t>
            </a:r>
          </a:p>
        </p:txBody>
      </p:sp>
      <p:sp>
        <p:nvSpPr>
          <p:cNvPr id="36" name="TextBox 35"/>
          <p:cNvSpPr txBox="1"/>
          <p:nvPr/>
        </p:nvSpPr>
        <p:spPr>
          <a:xfrm>
            <a:off x="6409944" y="5724144"/>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DP, BURG tables</a:t>
            </a:r>
          </a:p>
        </p:txBody>
      </p:sp>
      <p:sp>
        <p:nvSpPr>
          <p:cNvPr id="37" name="Rounded Rectangle 36"/>
          <p:cNvSpPr/>
          <p:nvPr/>
        </p:nvSpPr>
        <p:spPr>
          <a:xfrm>
            <a:off x="8997696" y="1554480"/>
            <a:ext cx="2651760" cy="4663440"/>
          </a:xfrm>
          <a:prstGeom prst="roundRect">
            <a:avLst>
              <a:gd name="adj" fmla="val 4137"/>
            </a:avLst>
          </a:prstGeom>
          <a:solidFill>
            <a:srgbClr val="FCEBC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8" name="Oval 37"/>
          <p:cNvSpPr/>
          <p:nvPr/>
        </p:nvSpPr>
        <p:spPr>
          <a:xfrm>
            <a:off x="9939528" y="1764792"/>
            <a:ext cx="768096" cy="768096"/>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700" b="1" i="0">
                <a:solidFill>
                  <a:srgbClr val="FFFFFF"/>
                </a:solidFill>
                <a:latin typeface="Calibri"/>
              </a:rPr>
              <a:t>AA</a:t>
            </a:r>
          </a:p>
        </p:txBody>
      </p:sp>
      <p:sp>
        <p:nvSpPr>
          <p:cNvPr id="39" name="TextBox 38"/>
          <p:cNvSpPr txBox="1"/>
          <p:nvPr/>
        </p:nvSpPr>
        <p:spPr>
          <a:xfrm>
            <a:off x="9180576" y="2697480"/>
            <a:ext cx="2286000" cy="365760"/>
          </a:xfrm>
          <a:prstGeom prst="rect">
            <a:avLst/>
          </a:prstGeom>
          <a:noFill/>
        </p:spPr>
        <p:txBody>
          <a:bodyPr wrap="square" lIns="0" rIns="0" tIns="0" bIns="0" anchor="t">
            <a:spAutoFit/>
          </a:bodyPr>
          <a:lstStyle/>
          <a:p>
            <a:pPr algn="ctr">
              <a:spcAft>
                <a:spcPts val="400"/>
              </a:spcAft>
            </a:pPr>
            <a:r>
              <a:rPr sz="1600" b="1" i="0">
                <a:solidFill>
                  <a:srgbClr val="16233A"/>
                </a:solidFill>
                <a:latin typeface="Calibri"/>
              </a:rPr>
              <a:t>Ahmad Azim</a:t>
            </a:r>
          </a:p>
        </p:txBody>
      </p:sp>
      <p:sp>
        <p:nvSpPr>
          <p:cNvPr id="40" name="TextBox 39"/>
          <p:cNvSpPr txBox="1"/>
          <p:nvPr/>
        </p:nvSpPr>
        <p:spPr>
          <a:xfrm>
            <a:off x="9180576" y="3044952"/>
            <a:ext cx="2286000" cy="320040"/>
          </a:xfrm>
          <a:prstGeom prst="rect">
            <a:avLst/>
          </a:prstGeom>
          <a:noFill/>
        </p:spPr>
        <p:txBody>
          <a:bodyPr wrap="square" lIns="0" rIns="0" tIns="0" bIns="0" anchor="t">
            <a:spAutoFit/>
          </a:bodyPr>
          <a:lstStyle/>
          <a:p>
            <a:pPr algn="ctr">
              <a:spcAft>
                <a:spcPts val="400"/>
              </a:spcAft>
            </a:pPr>
            <a:r>
              <a:rPr sz="1200" b="0" i="0">
                <a:solidFill>
                  <a:srgbClr val="5B6770"/>
                </a:solidFill>
                <a:latin typeface="Calibri"/>
              </a:rPr>
              <a:t>Emission, testing, release</a:t>
            </a:r>
          </a:p>
        </p:txBody>
      </p:sp>
      <p:sp>
        <p:nvSpPr>
          <p:cNvPr id="41" name="TextBox 40"/>
          <p:cNvSpPr txBox="1"/>
          <p:nvPr/>
        </p:nvSpPr>
        <p:spPr>
          <a:xfrm>
            <a:off x="9226296" y="352044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OWNS</a:t>
            </a:r>
          </a:p>
        </p:txBody>
      </p:sp>
      <p:sp>
        <p:nvSpPr>
          <p:cNvPr id="42" name="TextBox 41"/>
          <p:cNvSpPr txBox="1"/>
          <p:nvPr/>
        </p:nvSpPr>
        <p:spPr>
          <a:xfrm>
            <a:off x="9226296" y="3794760"/>
            <a:ext cx="2286000" cy="1097280"/>
          </a:xfrm>
          <a:prstGeom prst="rect">
            <a:avLst/>
          </a:prstGeom>
          <a:noFill/>
        </p:spPr>
        <p:txBody>
          <a:bodyPr wrap="square" lIns="0" rIns="0" tIns="0" bIns="0" anchor="t">
            <a:spAutoFit/>
          </a:bodyPr>
          <a:lstStyle/>
          <a:p>
            <a:pPr algn="l">
              <a:spcAft>
                <a:spcPts val="200"/>
              </a:spcAft>
            </a:pPr>
            <a:r>
              <a:rPr sz="1300" b="0" i="0">
                <a:solidFill>
                  <a:srgbClr val="1F2933"/>
                </a:solidFill>
                <a:latin typeface="Calibri"/>
              </a:rPr>
              <a:t>reduceA/B, simulateA/B</a:t>
            </a:r>
          </a:p>
          <a:p>
            <a:pPr algn="l">
              <a:spcAft>
                <a:spcPts val="200"/>
              </a:spcAft>
            </a:pPr>
            <a:r>
              <a:rPr sz="1300" b="0" i="0">
                <a:solidFill>
                  <a:srgbClr val="1F2933"/>
                </a:solidFill>
                <a:latin typeface="Calibri"/>
              </a:rPr>
              <a:t>main.c, tests/, results/</a:t>
            </a:r>
          </a:p>
          <a:p>
            <a:pPr algn="l">
              <a:spcAft>
                <a:spcPts val="200"/>
              </a:spcAft>
            </a:pPr>
            <a:r>
              <a:rPr sz="1300" b="0" i="0">
                <a:solidFill>
                  <a:srgbClr val="1F2933"/>
                </a:solidFill>
                <a:latin typeface="Calibri"/>
              </a:rPr>
              <a:t>README, GitHub repo</a:t>
            </a:r>
          </a:p>
        </p:txBody>
      </p:sp>
      <p:sp>
        <p:nvSpPr>
          <p:cNvPr id="43" name="TextBox 42"/>
          <p:cNvSpPr txBox="1"/>
          <p:nvPr/>
        </p:nvSpPr>
        <p:spPr>
          <a:xfrm>
            <a:off x="9226296" y="4846320"/>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EVIDENCE</a:t>
            </a:r>
          </a:p>
        </p:txBody>
      </p:sp>
      <p:sp>
        <p:nvSpPr>
          <p:cNvPr id="44" name="TextBox 43"/>
          <p:cNvSpPr txBox="1"/>
          <p:nvPr/>
        </p:nvSpPr>
        <p:spPr>
          <a:xfrm>
            <a:off x="9226296" y="5102352"/>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27/27, --exhaustive</a:t>
            </a:r>
          </a:p>
        </p:txBody>
      </p:sp>
      <p:sp>
        <p:nvSpPr>
          <p:cNvPr id="45" name="TextBox 44"/>
          <p:cNvSpPr txBox="1"/>
          <p:nvPr/>
        </p:nvSpPr>
        <p:spPr>
          <a:xfrm>
            <a:off x="9226296" y="5468112"/>
            <a:ext cx="2240280" cy="274320"/>
          </a:xfrm>
          <a:prstGeom prst="rect">
            <a:avLst/>
          </a:prstGeom>
          <a:noFill/>
        </p:spPr>
        <p:txBody>
          <a:bodyPr wrap="square" lIns="0" rIns="0" tIns="0" bIns="0" anchor="t">
            <a:spAutoFit/>
          </a:bodyPr>
          <a:lstStyle/>
          <a:p>
            <a:pPr algn="l">
              <a:spcAft>
                <a:spcPts val="400"/>
              </a:spcAft>
            </a:pPr>
            <a:r>
              <a:rPr sz="1100" b="1" i="0">
                <a:solidFill>
                  <a:srgbClr val="0E767A"/>
                </a:solidFill>
                <a:latin typeface="Calibri"/>
              </a:rPr>
              <a:t>VIVA</a:t>
            </a:r>
          </a:p>
        </p:txBody>
      </p:sp>
      <p:sp>
        <p:nvSpPr>
          <p:cNvPr id="46" name="TextBox 45"/>
          <p:cNvSpPr txBox="1"/>
          <p:nvPr/>
        </p:nvSpPr>
        <p:spPr>
          <a:xfrm>
            <a:off x="9226296" y="5724144"/>
            <a:ext cx="2286000" cy="3200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emission, verification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Beyond the minimum, and what comes next</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What we added beyond the approved scope, and where it can go</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Vineet</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16</a:t>
            </a:r>
          </a:p>
        </p:txBody>
      </p:sp>
      <p:sp>
        <p:nvSpPr>
          <p:cNvPr id="7" name="TextBox 6"/>
          <p:cNvSpPr txBox="1"/>
          <p:nvPr/>
        </p:nvSpPr>
        <p:spPr>
          <a:xfrm>
            <a:off x="548640" y="1554480"/>
            <a:ext cx="5486400" cy="365760"/>
          </a:xfrm>
          <a:prstGeom prst="rect">
            <a:avLst/>
          </a:prstGeom>
          <a:noFill/>
        </p:spPr>
        <p:txBody>
          <a:bodyPr wrap="square" lIns="0" rIns="0" tIns="0" bIns="0" anchor="t">
            <a:spAutoFit/>
          </a:bodyPr>
          <a:lstStyle/>
          <a:p>
            <a:pPr algn="l">
              <a:spcAft>
                <a:spcPts val="400"/>
              </a:spcAft>
            </a:pPr>
            <a:r>
              <a:rPr sz="1800" b="1" i="0">
                <a:solidFill>
                  <a:srgbClr val="16233A"/>
                </a:solidFill>
                <a:latin typeface="Calibri"/>
              </a:rPr>
              <a:t>Beyond the brief</a:t>
            </a:r>
          </a:p>
        </p:txBody>
      </p:sp>
      <p:sp>
        <p:nvSpPr>
          <p:cNvPr id="8" name="Oval 7"/>
          <p:cNvSpPr/>
          <p:nvPr/>
        </p:nvSpPr>
        <p:spPr>
          <a:xfrm>
            <a:off x="585216" y="2176272"/>
            <a:ext cx="438912" cy="438912"/>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a:t>
            </a:r>
          </a:p>
        </p:txBody>
      </p:sp>
      <p:sp>
        <p:nvSpPr>
          <p:cNvPr id="9" name="TextBox 8"/>
          <p:cNvSpPr txBox="1"/>
          <p:nvPr/>
        </p:nvSpPr>
        <p:spPr>
          <a:xfrm>
            <a:off x="1188720" y="2057400"/>
            <a:ext cx="457200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Two targets in one binary</a:t>
            </a:r>
          </a:p>
        </p:txBody>
      </p:sp>
      <p:sp>
        <p:nvSpPr>
          <p:cNvPr id="10" name="TextBox 9"/>
          <p:cNvSpPr txBox="1"/>
          <p:nvPr/>
        </p:nvSpPr>
        <p:spPr>
          <a:xfrm>
            <a:off x="1188720" y="2423160"/>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burg -p prefixes: the same tree, compared side by side</a:t>
            </a:r>
          </a:p>
        </p:txBody>
      </p:sp>
      <p:sp>
        <p:nvSpPr>
          <p:cNvPr id="11" name="Oval 10"/>
          <p:cNvSpPr/>
          <p:nvPr/>
        </p:nvSpPr>
        <p:spPr>
          <a:xfrm>
            <a:off x="585216" y="3200400"/>
            <a:ext cx="438912" cy="438912"/>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a:t>
            </a:r>
          </a:p>
        </p:txBody>
      </p:sp>
      <p:sp>
        <p:nvSpPr>
          <p:cNvPr id="12" name="TextBox 11"/>
          <p:cNvSpPr txBox="1"/>
          <p:nvPr/>
        </p:nvSpPr>
        <p:spPr>
          <a:xfrm>
            <a:off x="1188720" y="3081528"/>
            <a:ext cx="457200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Simulation oracle</a:t>
            </a:r>
          </a:p>
        </p:txBody>
      </p:sp>
      <p:sp>
        <p:nvSpPr>
          <p:cNvPr id="13" name="TextBox 12"/>
          <p:cNvSpPr txBox="1"/>
          <p:nvPr/>
        </p:nvSpPr>
        <p:spPr>
          <a:xfrm>
            <a:off x="1188720" y="3447288"/>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every generated program is executed and checked</a:t>
            </a:r>
          </a:p>
        </p:txBody>
      </p:sp>
      <p:sp>
        <p:nvSpPr>
          <p:cNvPr id="14" name="Oval 13"/>
          <p:cNvSpPr/>
          <p:nvPr/>
        </p:nvSpPr>
        <p:spPr>
          <a:xfrm>
            <a:off x="585216" y="4224528"/>
            <a:ext cx="438912" cy="438912"/>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a:t>
            </a:r>
          </a:p>
        </p:txBody>
      </p:sp>
      <p:sp>
        <p:nvSpPr>
          <p:cNvPr id="15" name="TextBox 14"/>
          <p:cNvSpPr txBox="1"/>
          <p:nvPr/>
        </p:nvSpPr>
        <p:spPr>
          <a:xfrm>
            <a:off x="1188720" y="4105656"/>
            <a:ext cx="457200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Exhaustive check</a:t>
            </a:r>
          </a:p>
        </p:txBody>
      </p:sp>
      <p:sp>
        <p:nvSpPr>
          <p:cNvPr id="16" name="TextBox 15"/>
          <p:cNvSpPr txBox="1"/>
          <p:nvPr/>
        </p:nvSpPr>
        <p:spPr>
          <a:xfrm>
            <a:off x="1188720" y="4471416"/>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3,333 trees × 2 targets, 0 failures</a:t>
            </a:r>
          </a:p>
        </p:txBody>
      </p:sp>
      <p:sp>
        <p:nvSpPr>
          <p:cNvPr id="17" name="Oval 16"/>
          <p:cNvSpPr/>
          <p:nvPr/>
        </p:nvSpPr>
        <p:spPr>
          <a:xfrm>
            <a:off x="585216" y="5248656"/>
            <a:ext cx="438912" cy="438912"/>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300" b="1" i="0">
                <a:solidFill>
                  <a:srgbClr val="FFFFFF"/>
                </a:solidFill>
                <a:latin typeface="Calibri"/>
              </a:rPr>
              <a:t>★</a:t>
            </a:r>
          </a:p>
        </p:txBody>
      </p:sp>
      <p:sp>
        <p:nvSpPr>
          <p:cNvPr id="18" name="TextBox 17"/>
          <p:cNvSpPr txBox="1"/>
          <p:nvPr/>
        </p:nvSpPr>
        <p:spPr>
          <a:xfrm>
            <a:off x="1188720" y="5129784"/>
            <a:ext cx="457200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Baseline + benchmark</a:t>
            </a:r>
          </a:p>
        </p:txBody>
      </p:sp>
      <p:sp>
        <p:nvSpPr>
          <p:cNvPr id="19" name="TextBox 18"/>
          <p:cNvSpPr txBox="1"/>
          <p:nvPr/>
        </p:nvSpPr>
        <p:spPr>
          <a:xfrm>
            <a:off x="1188720" y="5495544"/>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quantified savings and linear scaling</a:t>
            </a:r>
          </a:p>
        </p:txBody>
      </p:sp>
      <p:sp>
        <p:nvSpPr>
          <p:cNvPr id="20" name="TextBox 19"/>
          <p:cNvSpPr txBox="1"/>
          <p:nvPr/>
        </p:nvSpPr>
        <p:spPr>
          <a:xfrm>
            <a:off x="6355080" y="1554480"/>
            <a:ext cx="5486400" cy="365760"/>
          </a:xfrm>
          <a:prstGeom prst="rect">
            <a:avLst/>
          </a:prstGeom>
          <a:noFill/>
        </p:spPr>
        <p:txBody>
          <a:bodyPr wrap="square" lIns="0" rIns="0" tIns="0" bIns="0" anchor="t">
            <a:spAutoFit/>
          </a:bodyPr>
          <a:lstStyle/>
          <a:p>
            <a:pPr algn="l">
              <a:spcAft>
                <a:spcPts val="400"/>
              </a:spcAft>
            </a:pPr>
            <a:r>
              <a:rPr sz="1800" b="1" i="0">
                <a:solidFill>
                  <a:srgbClr val="16233A"/>
                </a:solidFill>
                <a:latin typeface="Calibri"/>
              </a:rPr>
              <a:t>Next steps</a:t>
            </a:r>
          </a:p>
        </p:txBody>
      </p:sp>
      <p:sp>
        <p:nvSpPr>
          <p:cNvPr id="21" name="Rounded Rectangle 20"/>
          <p:cNvSpPr/>
          <p:nvPr/>
        </p:nvSpPr>
        <p:spPr>
          <a:xfrm>
            <a:off x="6355080" y="2011680"/>
            <a:ext cx="5285232" cy="585216"/>
          </a:xfrm>
          <a:prstGeom prst="roundRect">
            <a:avLst>
              <a:gd name="adj" fmla="val 1562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2" name="TextBox 21"/>
          <p:cNvSpPr txBox="1"/>
          <p:nvPr/>
        </p:nvSpPr>
        <p:spPr>
          <a:xfrm>
            <a:off x="6583680" y="2011680"/>
            <a:ext cx="4937760" cy="585216"/>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Register allocation for Target A (Sethi–Ullman / linear scan)</a:t>
            </a:r>
          </a:p>
        </p:txBody>
      </p:sp>
      <p:sp>
        <p:nvSpPr>
          <p:cNvPr id="23" name="Rounded Rectangle 22"/>
          <p:cNvSpPr/>
          <p:nvPr/>
        </p:nvSpPr>
        <p:spPr>
          <a:xfrm>
            <a:off x="6355080" y="2724912"/>
            <a:ext cx="5285232" cy="585216"/>
          </a:xfrm>
          <a:prstGeom prst="roundRect">
            <a:avLst>
              <a:gd name="adj" fmla="val 1562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4" name="TextBox 23"/>
          <p:cNvSpPr txBox="1"/>
          <p:nvPr/>
        </p:nvSpPr>
        <p:spPr>
          <a:xfrm>
            <a:off x="6583680" y="2724912"/>
            <a:ext cx="4937760" cy="585216"/>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Third target: an RV32I (RISC-V) subset with addressing modes</a:t>
            </a:r>
          </a:p>
        </p:txBody>
      </p:sp>
      <p:sp>
        <p:nvSpPr>
          <p:cNvPr id="25" name="Rounded Rectangle 24"/>
          <p:cNvSpPr/>
          <p:nvPr/>
        </p:nvSpPr>
        <p:spPr>
          <a:xfrm>
            <a:off x="6355080" y="3438144"/>
            <a:ext cx="5285232" cy="585216"/>
          </a:xfrm>
          <a:prstGeom prst="roundRect">
            <a:avLst>
              <a:gd name="adj" fmla="val 1562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6" name="TextBox 25"/>
          <p:cNvSpPr txBox="1"/>
          <p:nvPr/>
        </p:nvSpPr>
        <p:spPr>
          <a:xfrm>
            <a:off x="6583680" y="3438144"/>
            <a:ext cx="4937760" cy="585216"/>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DAGs and statements; commutative and dynamic-cost rules</a:t>
            </a:r>
          </a:p>
        </p:txBody>
      </p:sp>
      <p:sp>
        <p:nvSpPr>
          <p:cNvPr id="27" name="Rounded Rectangle 26"/>
          <p:cNvSpPr/>
          <p:nvPr/>
        </p:nvSpPr>
        <p:spPr>
          <a:xfrm>
            <a:off x="6355080" y="4151376"/>
            <a:ext cx="5285232" cy="585216"/>
          </a:xfrm>
          <a:prstGeom prst="roundRect">
            <a:avLst>
              <a:gd name="adj" fmla="val 15625"/>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8" name="TextBox 27"/>
          <p:cNvSpPr txBox="1"/>
          <p:nvPr/>
        </p:nvSpPr>
        <p:spPr>
          <a:xfrm>
            <a:off x="6583680" y="4151376"/>
            <a:ext cx="4937760" cy="585216"/>
          </a:xfrm>
          <a:prstGeom prst="rect">
            <a:avLst/>
          </a:prstGeom>
          <a:noFill/>
        </p:spPr>
        <p:txBody>
          <a:bodyPr wrap="square" lIns="0" rIns="0" tIns="0" bIns="0" anchor="ctr">
            <a:spAutoFit/>
          </a:bodyPr>
          <a:lstStyle/>
          <a:p>
            <a:pPr algn="l">
              <a:spcAft>
                <a:spcPts val="400"/>
              </a:spcAft>
            </a:pPr>
            <a:r>
              <a:rPr sz="1400" b="0" i="0">
                <a:solidFill>
                  <a:srgbClr val="1F2933"/>
                </a:solidFill>
                <a:latin typeface="Calibri"/>
              </a:rPr>
              <a:t>Visualiser that draws the selected cover on the tree</a:t>
            </a:r>
          </a:p>
        </p:txBody>
      </p:sp>
      <p:sp>
        <p:nvSpPr>
          <p:cNvPr id="29" name="Rounded Rectangle 28"/>
          <p:cNvSpPr/>
          <p:nvPr/>
        </p:nvSpPr>
        <p:spPr>
          <a:xfrm>
            <a:off x="6355080" y="4983480"/>
            <a:ext cx="5285232" cy="1234440"/>
          </a:xfrm>
          <a:prstGeom prst="roundRect">
            <a:avLst>
              <a:gd name="adj" fmla="val 8888"/>
            </a:avLst>
          </a:prstGeom>
          <a:solidFill>
            <a:srgbClr val="FCEBC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30" name="TextBox 29"/>
          <p:cNvSpPr txBox="1"/>
          <p:nvPr/>
        </p:nvSpPr>
        <p:spPr>
          <a:xfrm>
            <a:off x="6583680" y="5102352"/>
            <a:ext cx="4846320" cy="320040"/>
          </a:xfrm>
          <a:prstGeom prst="rect">
            <a:avLst/>
          </a:prstGeom>
          <a:noFill/>
        </p:spPr>
        <p:txBody>
          <a:bodyPr wrap="square" lIns="0" rIns="0" tIns="0" bIns="0" anchor="t">
            <a:spAutoFit/>
          </a:bodyPr>
          <a:lstStyle/>
          <a:p>
            <a:pPr algn="l">
              <a:spcAft>
                <a:spcPts val="400"/>
              </a:spcAft>
            </a:pPr>
            <a:r>
              <a:rPr sz="1500" b="1" i="0">
                <a:solidFill>
                  <a:srgbClr val="16233A"/>
                </a:solidFill>
                <a:latin typeface="Calibri"/>
              </a:rPr>
              <a:t>Publication potential</a:t>
            </a:r>
          </a:p>
        </p:txBody>
      </p:sp>
      <p:sp>
        <p:nvSpPr>
          <p:cNvPr id="31" name="TextBox 30"/>
          <p:cNvSpPr txBox="1"/>
          <p:nvPr/>
        </p:nvSpPr>
        <p:spPr>
          <a:xfrm>
            <a:off x="6583680" y="5440680"/>
            <a:ext cx="4892040" cy="73152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An educational case study or lab module: one matching engine, two ISAs, automatic verification, quantitative comparison.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6233A"/>
        </a:solidFill>
        <a:effectLst/>
      </p:bgPr>
    </p:bg>
    <p:spTree>
      <p:nvGrpSpPr>
        <p:cNvPr id="1" name=""/>
        <p:cNvGrpSpPr/>
        <p:nvPr/>
      </p:nvGrpSpPr>
      <p:grpSpPr/>
      <p:sp>
        <p:nvSpPr>
          <p:cNvPr id="2" name="TextBox 1"/>
          <p:cNvSpPr txBox="1"/>
          <p:nvPr/>
        </p:nvSpPr>
        <p:spPr>
          <a:xfrm>
            <a:off x="685800" y="640080"/>
            <a:ext cx="7315200" cy="365760"/>
          </a:xfrm>
          <a:prstGeom prst="rect">
            <a:avLst/>
          </a:prstGeom>
          <a:noFill/>
        </p:spPr>
        <p:txBody>
          <a:bodyPr wrap="square" lIns="0" rIns="0" tIns="0" bIns="0" anchor="t">
            <a:spAutoFit/>
          </a:bodyPr>
          <a:lstStyle/>
          <a:p>
            <a:pPr algn="l">
              <a:spcAft>
                <a:spcPts val="400"/>
              </a:spcAft>
            </a:pPr>
            <a:r>
              <a:rPr sz="1300" b="1" i="0">
                <a:solidFill>
                  <a:srgbClr val="E89A2C"/>
                </a:solidFill>
                <a:latin typeface="Calibri"/>
              </a:rPr>
              <a:t>CONCLUSION</a:t>
            </a:r>
          </a:p>
        </p:txBody>
      </p:sp>
      <p:sp>
        <p:nvSpPr>
          <p:cNvPr id="3" name="TextBox 2"/>
          <p:cNvSpPr txBox="1"/>
          <p:nvPr/>
        </p:nvSpPr>
        <p:spPr>
          <a:xfrm>
            <a:off x="685800" y="1051560"/>
            <a:ext cx="10789920" cy="914400"/>
          </a:xfrm>
          <a:prstGeom prst="rect">
            <a:avLst/>
          </a:prstGeom>
          <a:noFill/>
        </p:spPr>
        <p:txBody>
          <a:bodyPr wrap="square" lIns="0" rIns="0" tIns="0" bIns="0" anchor="t">
            <a:spAutoFit/>
          </a:bodyPr>
          <a:lstStyle/>
          <a:p>
            <a:pPr algn="l">
              <a:spcAft>
                <a:spcPts val="400"/>
              </a:spcAft>
            </a:pPr>
            <a:r>
              <a:rPr sz="4000" b="1" i="0">
                <a:solidFill>
                  <a:srgbClr val="FFFFFF"/>
                </a:solidFill>
                <a:latin typeface="Calibri"/>
              </a:rPr>
              <a:t>Change the grammar, not the compiler</a:t>
            </a:r>
          </a:p>
        </p:txBody>
      </p:sp>
      <p:sp>
        <p:nvSpPr>
          <p:cNvPr id="4" name="Rounded Rectangle 3"/>
          <p:cNvSpPr/>
          <p:nvPr/>
        </p:nvSpPr>
        <p:spPr>
          <a:xfrm>
            <a:off x="685800" y="2377440"/>
            <a:ext cx="3429000" cy="2331720"/>
          </a:xfrm>
          <a:prstGeom prst="roundRect">
            <a:avLst>
              <a:gd name="adj" fmla="val 5490"/>
            </a:avLst>
          </a:prstGeom>
          <a:solidFill>
            <a:srgbClr val="22335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5" name="Oval 4"/>
          <p:cNvSpPr/>
          <p:nvPr/>
        </p:nvSpPr>
        <p:spPr>
          <a:xfrm>
            <a:off x="905256" y="2596896"/>
            <a:ext cx="475488" cy="475488"/>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16233A"/>
                </a:solidFill>
                <a:latin typeface="Calibri"/>
              </a:rPr>
              <a:t>1</a:t>
            </a:r>
          </a:p>
        </p:txBody>
      </p:sp>
      <p:sp>
        <p:nvSpPr>
          <p:cNvPr id="6" name="TextBox 5"/>
          <p:cNvSpPr txBox="1"/>
          <p:nvPr/>
        </p:nvSpPr>
        <p:spPr>
          <a:xfrm>
            <a:off x="1554480" y="2651760"/>
            <a:ext cx="2377440" cy="411480"/>
          </a:xfrm>
          <a:prstGeom prst="rect">
            <a:avLst/>
          </a:prstGeom>
          <a:noFill/>
        </p:spPr>
        <p:txBody>
          <a:bodyPr wrap="square" lIns="0" rIns="0" tIns="0" bIns="0" anchor="ctr">
            <a:spAutoFit/>
          </a:bodyPr>
          <a:lstStyle/>
          <a:p>
            <a:pPr algn="l">
              <a:spcAft>
                <a:spcPts val="400"/>
              </a:spcAft>
            </a:pPr>
            <a:r>
              <a:rPr sz="1700" b="1" i="0">
                <a:solidFill>
                  <a:srgbClr val="FFFFFF"/>
                </a:solidFill>
                <a:latin typeface="Calibri"/>
              </a:rPr>
              <a:t>Optimal by construction</a:t>
            </a:r>
          </a:p>
        </p:txBody>
      </p:sp>
      <p:sp>
        <p:nvSpPr>
          <p:cNvPr id="7" name="TextBox 6"/>
          <p:cNvSpPr txBox="1"/>
          <p:nvPr/>
        </p:nvSpPr>
        <p:spPr>
          <a:xfrm>
            <a:off x="960120" y="3291840"/>
            <a:ext cx="2926080" cy="1325880"/>
          </a:xfrm>
          <a:prstGeom prst="rect">
            <a:avLst/>
          </a:prstGeom>
          <a:noFill/>
        </p:spPr>
        <p:txBody>
          <a:bodyPr wrap="square" lIns="0" rIns="0" tIns="0" bIns="0" anchor="t">
            <a:spAutoFit/>
          </a:bodyPr>
          <a:lstStyle/>
          <a:p>
            <a:pPr algn="l">
              <a:spcAft>
                <a:spcPts val="400"/>
              </a:spcAft>
            </a:pPr>
            <a:r>
              <a:rPr sz="1500" b="0" i="0">
                <a:solidFill>
                  <a:srgbClr val="C8D4E2"/>
                </a:solidFill>
                <a:latin typeface="Calibri"/>
              </a:rPr>
              <a:t>Tree covering is dynamic programming; BURG precomputes it, so selection is O(n).</a:t>
            </a:r>
          </a:p>
        </p:txBody>
      </p:sp>
      <p:sp>
        <p:nvSpPr>
          <p:cNvPr id="8" name="Rounded Rectangle 7"/>
          <p:cNvSpPr/>
          <p:nvPr/>
        </p:nvSpPr>
        <p:spPr>
          <a:xfrm>
            <a:off x="4343400" y="2377440"/>
            <a:ext cx="3429000" cy="2331720"/>
          </a:xfrm>
          <a:prstGeom prst="roundRect">
            <a:avLst>
              <a:gd name="adj" fmla="val 5490"/>
            </a:avLst>
          </a:prstGeom>
          <a:solidFill>
            <a:srgbClr val="22335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9" name="Oval 8"/>
          <p:cNvSpPr/>
          <p:nvPr/>
        </p:nvSpPr>
        <p:spPr>
          <a:xfrm>
            <a:off x="4562856" y="2596896"/>
            <a:ext cx="475488" cy="475488"/>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16233A"/>
                </a:solidFill>
                <a:latin typeface="Calibri"/>
              </a:rPr>
              <a:t>2</a:t>
            </a:r>
          </a:p>
        </p:txBody>
      </p:sp>
      <p:sp>
        <p:nvSpPr>
          <p:cNvPr id="10" name="TextBox 9"/>
          <p:cNvSpPr txBox="1"/>
          <p:nvPr/>
        </p:nvSpPr>
        <p:spPr>
          <a:xfrm>
            <a:off x="5212080" y="2651760"/>
            <a:ext cx="2377440" cy="411480"/>
          </a:xfrm>
          <a:prstGeom prst="rect">
            <a:avLst/>
          </a:prstGeom>
          <a:noFill/>
        </p:spPr>
        <p:txBody>
          <a:bodyPr wrap="square" lIns="0" rIns="0" tIns="0" bIns="0" anchor="ctr">
            <a:spAutoFit/>
          </a:bodyPr>
          <a:lstStyle/>
          <a:p>
            <a:pPr algn="l">
              <a:spcAft>
                <a:spcPts val="400"/>
              </a:spcAft>
            </a:pPr>
            <a:r>
              <a:rPr sz="1700" b="1" i="0">
                <a:solidFill>
                  <a:srgbClr val="FFFFFF"/>
                </a:solidFill>
                <a:latin typeface="Calibri"/>
              </a:rPr>
              <a:t>Nonterminals are locations</a:t>
            </a:r>
          </a:p>
        </p:txBody>
      </p:sp>
      <p:sp>
        <p:nvSpPr>
          <p:cNvPr id="11" name="TextBox 10"/>
          <p:cNvSpPr txBox="1"/>
          <p:nvPr/>
        </p:nvSpPr>
        <p:spPr>
          <a:xfrm>
            <a:off x="4617720" y="3291840"/>
            <a:ext cx="2926080" cy="1325880"/>
          </a:xfrm>
          <a:prstGeom prst="rect">
            <a:avLst/>
          </a:prstGeom>
          <a:noFill/>
        </p:spPr>
        <p:txBody>
          <a:bodyPr wrap="square" lIns="0" rIns="0" tIns="0" bIns="0" anchor="t">
            <a:spAutoFit/>
          </a:bodyPr>
          <a:lstStyle/>
          <a:p>
            <a:pPr algn="l">
              <a:spcAft>
                <a:spcPts val="400"/>
              </a:spcAft>
            </a:pPr>
            <a:r>
              <a:rPr sz="1500" b="0" i="0">
                <a:solidFill>
                  <a:srgbClr val="C8D4E2"/>
                </a:solidFill>
                <a:latin typeface="Calibri"/>
              </a:rPr>
              <a:t>reg, stk, mem, imm and chain rules give each node several shapes; that is the saving.</a:t>
            </a:r>
          </a:p>
        </p:txBody>
      </p:sp>
      <p:sp>
        <p:nvSpPr>
          <p:cNvPr id="12" name="Rounded Rectangle 11"/>
          <p:cNvSpPr/>
          <p:nvPr/>
        </p:nvSpPr>
        <p:spPr>
          <a:xfrm>
            <a:off x="8001000" y="2377440"/>
            <a:ext cx="3429000" cy="2331720"/>
          </a:xfrm>
          <a:prstGeom prst="roundRect">
            <a:avLst>
              <a:gd name="adj" fmla="val 5490"/>
            </a:avLst>
          </a:prstGeom>
          <a:solidFill>
            <a:srgbClr val="22335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3" name="Oval 12"/>
          <p:cNvSpPr/>
          <p:nvPr/>
        </p:nvSpPr>
        <p:spPr>
          <a:xfrm>
            <a:off x="8220456" y="2596896"/>
            <a:ext cx="475488" cy="475488"/>
          </a:xfrm>
          <a:prstGeom prst="ellipse">
            <a:avLst/>
          </a:prstGeom>
          <a:solidFill>
            <a:srgbClr val="E89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16233A"/>
                </a:solidFill>
                <a:latin typeface="Calibri"/>
              </a:rPr>
              <a:t>3</a:t>
            </a:r>
          </a:p>
        </p:txBody>
      </p:sp>
      <p:sp>
        <p:nvSpPr>
          <p:cNvPr id="14" name="TextBox 13"/>
          <p:cNvSpPr txBox="1"/>
          <p:nvPr/>
        </p:nvSpPr>
        <p:spPr>
          <a:xfrm>
            <a:off x="8869680" y="2651760"/>
            <a:ext cx="2377440" cy="411480"/>
          </a:xfrm>
          <a:prstGeom prst="rect">
            <a:avLst/>
          </a:prstGeom>
          <a:noFill/>
        </p:spPr>
        <p:txBody>
          <a:bodyPr wrap="square" lIns="0" rIns="0" tIns="0" bIns="0" anchor="ctr">
            <a:spAutoFit/>
          </a:bodyPr>
          <a:lstStyle/>
          <a:p>
            <a:pPr algn="l">
              <a:spcAft>
                <a:spcPts val="400"/>
              </a:spcAft>
            </a:pPr>
            <a:r>
              <a:rPr sz="1700" b="1" i="0">
                <a:solidFill>
                  <a:srgbClr val="FFFFFF"/>
                </a:solidFill>
                <a:latin typeface="Calibri"/>
              </a:rPr>
              <a:t>Interface + oracle</a:t>
            </a:r>
          </a:p>
        </p:txBody>
      </p:sp>
      <p:sp>
        <p:nvSpPr>
          <p:cNvPr id="15" name="TextBox 14"/>
          <p:cNvSpPr txBox="1"/>
          <p:nvPr/>
        </p:nvSpPr>
        <p:spPr>
          <a:xfrm>
            <a:off x="8275320" y="3291840"/>
            <a:ext cx="2926080" cy="1325880"/>
          </a:xfrm>
          <a:prstGeom prst="rect">
            <a:avLst/>
          </a:prstGeom>
          <a:noFill/>
        </p:spPr>
        <p:txBody>
          <a:bodyPr wrap="square" lIns="0" rIns="0" tIns="0" bIns="0" anchor="t">
            <a:spAutoFit/>
          </a:bodyPr>
          <a:lstStyle/>
          <a:p>
            <a:pPr algn="l">
              <a:spcAft>
                <a:spcPts val="400"/>
              </a:spcAft>
            </a:pPr>
            <a:r>
              <a:rPr sz="1500" b="0" i="0">
                <a:solidFill>
                  <a:srgbClr val="C8D4E2"/>
                </a:solidFill>
                <a:latin typeface="Calibri"/>
              </a:rPr>
              <a:t>One Target API and a simulator per ISA make a new target cheap and trustworthy.</a:t>
            </a:r>
          </a:p>
        </p:txBody>
      </p:sp>
      <p:sp>
        <p:nvSpPr>
          <p:cNvPr id="16" name="TextBox 15"/>
          <p:cNvSpPr txBox="1"/>
          <p:nvPr/>
        </p:nvSpPr>
        <p:spPr>
          <a:xfrm>
            <a:off x="685800" y="5074920"/>
            <a:ext cx="2560320" cy="548640"/>
          </a:xfrm>
          <a:prstGeom prst="rect">
            <a:avLst/>
          </a:prstGeom>
          <a:noFill/>
        </p:spPr>
        <p:txBody>
          <a:bodyPr wrap="square" lIns="0" rIns="0" tIns="0" bIns="0" anchor="t">
            <a:spAutoFit/>
          </a:bodyPr>
          <a:lstStyle/>
          <a:p>
            <a:pPr algn="l">
              <a:spcAft>
                <a:spcPts val="400"/>
              </a:spcAft>
            </a:pPr>
            <a:r>
              <a:rPr sz="3000" b="1" i="0">
                <a:solidFill>
                  <a:srgbClr val="E89A2C"/>
                </a:solidFill>
                <a:latin typeface="Calibri"/>
              </a:rPr>
              <a:t>7 / 7</a:t>
            </a:r>
          </a:p>
        </p:txBody>
      </p:sp>
      <p:sp>
        <p:nvSpPr>
          <p:cNvPr id="17" name="TextBox 16"/>
          <p:cNvSpPr txBox="1"/>
          <p:nvPr/>
        </p:nvSpPr>
        <p:spPr>
          <a:xfrm>
            <a:off x="685800" y="5623560"/>
            <a:ext cx="2560320" cy="365760"/>
          </a:xfrm>
          <a:prstGeom prst="rect">
            <a:avLst/>
          </a:prstGeom>
          <a:noFill/>
        </p:spPr>
        <p:txBody>
          <a:bodyPr wrap="square" lIns="0" rIns="0" tIns="0" bIns="0" anchor="t">
            <a:spAutoFit/>
          </a:bodyPr>
          <a:lstStyle/>
          <a:p>
            <a:pPr algn="l">
              <a:spcAft>
                <a:spcPts val="400"/>
              </a:spcAft>
            </a:pPr>
            <a:r>
              <a:rPr sz="1400" b="0" i="0">
                <a:solidFill>
                  <a:srgbClr val="9FB3C8"/>
                </a:solidFill>
                <a:latin typeface="Calibri"/>
              </a:rPr>
              <a:t>objectives achieved</a:t>
            </a:r>
          </a:p>
        </p:txBody>
      </p:sp>
      <p:sp>
        <p:nvSpPr>
          <p:cNvPr id="18" name="TextBox 17"/>
          <p:cNvSpPr txBox="1"/>
          <p:nvPr/>
        </p:nvSpPr>
        <p:spPr>
          <a:xfrm>
            <a:off x="3429000" y="5074920"/>
            <a:ext cx="2560320" cy="548640"/>
          </a:xfrm>
          <a:prstGeom prst="rect">
            <a:avLst/>
          </a:prstGeom>
          <a:noFill/>
        </p:spPr>
        <p:txBody>
          <a:bodyPr wrap="square" lIns="0" rIns="0" tIns="0" bIns="0" anchor="t">
            <a:spAutoFit/>
          </a:bodyPr>
          <a:lstStyle/>
          <a:p>
            <a:pPr algn="l">
              <a:spcAft>
                <a:spcPts val="400"/>
              </a:spcAft>
            </a:pPr>
            <a:r>
              <a:rPr sz="3000" b="1" i="0">
                <a:solidFill>
                  <a:srgbClr val="E89A2C"/>
                </a:solidFill>
                <a:latin typeface="Calibri"/>
              </a:rPr>
              <a:t>27 / 27</a:t>
            </a:r>
          </a:p>
        </p:txBody>
      </p:sp>
      <p:sp>
        <p:nvSpPr>
          <p:cNvPr id="19" name="TextBox 18"/>
          <p:cNvSpPr txBox="1"/>
          <p:nvPr/>
        </p:nvSpPr>
        <p:spPr>
          <a:xfrm>
            <a:off x="3429000" y="5623560"/>
            <a:ext cx="2560320" cy="365760"/>
          </a:xfrm>
          <a:prstGeom prst="rect">
            <a:avLst/>
          </a:prstGeom>
          <a:noFill/>
        </p:spPr>
        <p:txBody>
          <a:bodyPr wrap="square" lIns="0" rIns="0" tIns="0" bIns="0" anchor="t">
            <a:spAutoFit/>
          </a:bodyPr>
          <a:lstStyle/>
          <a:p>
            <a:pPr algn="l">
              <a:spcAft>
                <a:spcPts val="400"/>
              </a:spcAft>
            </a:pPr>
            <a:r>
              <a:rPr sz="1400" b="0" i="0">
                <a:solidFill>
                  <a:srgbClr val="9FB3C8"/>
                </a:solidFill>
                <a:latin typeface="Calibri"/>
              </a:rPr>
              <a:t>checks pass</a:t>
            </a:r>
          </a:p>
        </p:txBody>
      </p:sp>
      <p:sp>
        <p:nvSpPr>
          <p:cNvPr id="20" name="TextBox 19"/>
          <p:cNvSpPr txBox="1"/>
          <p:nvPr/>
        </p:nvSpPr>
        <p:spPr>
          <a:xfrm>
            <a:off x="6172200" y="5074920"/>
            <a:ext cx="2560320" cy="548640"/>
          </a:xfrm>
          <a:prstGeom prst="rect">
            <a:avLst/>
          </a:prstGeom>
          <a:noFill/>
        </p:spPr>
        <p:txBody>
          <a:bodyPr wrap="square" lIns="0" rIns="0" tIns="0" bIns="0" anchor="t">
            <a:spAutoFit/>
          </a:bodyPr>
          <a:lstStyle/>
          <a:p>
            <a:pPr algn="l">
              <a:spcAft>
                <a:spcPts val="400"/>
              </a:spcAft>
            </a:pPr>
            <a:r>
              <a:rPr sz="3000" b="1" i="0">
                <a:solidFill>
                  <a:srgbClr val="E89A2C"/>
                </a:solidFill>
                <a:latin typeface="Calibri"/>
              </a:rPr>
              <a:t>−23.6%</a:t>
            </a:r>
          </a:p>
        </p:txBody>
      </p:sp>
      <p:sp>
        <p:nvSpPr>
          <p:cNvPr id="21" name="TextBox 20"/>
          <p:cNvSpPr txBox="1"/>
          <p:nvPr/>
        </p:nvSpPr>
        <p:spPr>
          <a:xfrm>
            <a:off x="6172200" y="5623560"/>
            <a:ext cx="2560320" cy="365760"/>
          </a:xfrm>
          <a:prstGeom prst="rect">
            <a:avLst/>
          </a:prstGeom>
          <a:noFill/>
        </p:spPr>
        <p:txBody>
          <a:bodyPr wrap="square" lIns="0" rIns="0" tIns="0" bIns="0" anchor="t">
            <a:spAutoFit/>
          </a:bodyPr>
          <a:lstStyle/>
          <a:p>
            <a:pPr algn="l">
              <a:spcAft>
                <a:spcPts val="400"/>
              </a:spcAft>
            </a:pPr>
            <a:r>
              <a:rPr sz="1400" b="0" i="0">
                <a:solidFill>
                  <a:srgbClr val="9FB3C8"/>
                </a:solidFill>
                <a:latin typeface="Calibri"/>
              </a:rPr>
              <a:t>cost on Target B</a:t>
            </a:r>
          </a:p>
        </p:txBody>
      </p:sp>
      <p:sp>
        <p:nvSpPr>
          <p:cNvPr id="22" name="TextBox 21"/>
          <p:cNvSpPr txBox="1"/>
          <p:nvPr/>
        </p:nvSpPr>
        <p:spPr>
          <a:xfrm>
            <a:off x="8915400" y="5074920"/>
            <a:ext cx="2560320" cy="548640"/>
          </a:xfrm>
          <a:prstGeom prst="rect">
            <a:avLst/>
          </a:prstGeom>
          <a:noFill/>
        </p:spPr>
        <p:txBody>
          <a:bodyPr wrap="square" lIns="0" rIns="0" tIns="0" bIns="0" anchor="t">
            <a:spAutoFit/>
          </a:bodyPr>
          <a:lstStyle/>
          <a:p>
            <a:pPr algn="l">
              <a:spcAft>
                <a:spcPts val="400"/>
              </a:spcAft>
            </a:pPr>
            <a:r>
              <a:rPr sz="3000" b="1" i="0">
                <a:solidFill>
                  <a:srgbClr val="E89A2C"/>
                </a:solidFill>
                <a:latin typeface="Calibri"/>
              </a:rPr>
              <a:t>2 ISAs</a:t>
            </a:r>
          </a:p>
        </p:txBody>
      </p:sp>
      <p:sp>
        <p:nvSpPr>
          <p:cNvPr id="23" name="TextBox 22"/>
          <p:cNvSpPr txBox="1"/>
          <p:nvPr/>
        </p:nvSpPr>
        <p:spPr>
          <a:xfrm>
            <a:off x="8915400" y="5623560"/>
            <a:ext cx="2560320" cy="365760"/>
          </a:xfrm>
          <a:prstGeom prst="rect">
            <a:avLst/>
          </a:prstGeom>
          <a:noFill/>
        </p:spPr>
        <p:txBody>
          <a:bodyPr wrap="square" lIns="0" rIns="0" tIns="0" bIns="0" anchor="t">
            <a:spAutoFit/>
          </a:bodyPr>
          <a:lstStyle/>
          <a:p>
            <a:pPr algn="l">
              <a:spcAft>
                <a:spcPts val="400"/>
              </a:spcAft>
            </a:pPr>
            <a:r>
              <a:rPr sz="1400" b="0" i="0">
                <a:solidFill>
                  <a:srgbClr val="9FB3C8"/>
                </a:solidFill>
                <a:latin typeface="Calibri"/>
              </a:rPr>
              <a:t>one engine</a:t>
            </a:r>
          </a:p>
        </p:txBody>
      </p:sp>
      <p:sp>
        <p:nvSpPr>
          <p:cNvPr id="24" name="TextBox 23"/>
          <p:cNvSpPr txBox="1"/>
          <p:nvPr/>
        </p:nvSpPr>
        <p:spPr>
          <a:xfrm>
            <a:off x="685800" y="6217920"/>
            <a:ext cx="10789920" cy="320040"/>
          </a:xfrm>
          <a:prstGeom prst="rect">
            <a:avLst/>
          </a:prstGeom>
          <a:noFill/>
        </p:spPr>
        <p:txBody>
          <a:bodyPr wrap="square" lIns="0" rIns="0" tIns="0" bIns="0" anchor="t">
            <a:spAutoFit/>
          </a:bodyPr>
          <a:lstStyle/>
          <a:p>
            <a:pPr algn="l">
              <a:spcAft>
                <a:spcPts val="400"/>
              </a:spcAft>
            </a:pPr>
            <a:r>
              <a:rPr sz="1400" b="0" i="0">
                <a:solidFill>
                  <a:srgbClr val="FFFFFF"/>
                </a:solidFill>
                <a:latin typeface="Calibri"/>
              </a:rPr>
              <a:t>Thank you. Questions, or an expression of your choice: ./build/burs -i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References and acknowledgements</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Sources consulted, reused tools, and how they were used</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18</a:t>
            </a:r>
          </a:p>
        </p:txBody>
      </p:sp>
      <p:sp>
        <p:nvSpPr>
          <p:cNvPr id="7" name="TextBox 6"/>
          <p:cNvSpPr txBox="1"/>
          <p:nvPr/>
        </p:nvSpPr>
        <p:spPr>
          <a:xfrm>
            <a:off x="548640" y="1554480"/>
            <a:ext cx="457200" cy="457200"/>
          </a:xfrm>
          <a:prstGeom prst="rect">
            <a:avLst/>
          </a:prstGeom>
          <a:noFill/>
        </p:spPr>
        <p:txBody>
          <a:bodyPr wrap="square" lIns="0" rIns="0" tIns="0" bIns="0" anchor="t">
            <a:spAutoFit/>
          </a:bodyPr>
          <a:lstStyle/>
          <a:p>
            <a:pPr algn="l">
              <a:spcAft>
                <a:spcPts val="400"/>
              </a:spcAft>
            </a:pPr>
            <a:r>
              <a:rPr sz="1400" b="1" i="0">
                <a:solidFill>
                  <a:srgbClr val="0E767A"/>
                </a:solidFill>
                <a:latin typeface="Calibri"/>
              </a:rPr>
              <a:t>[1]</a:t>
            </a:r>
          </a:p>
        </p:txBody>
      </p:sp>
      <p:sp>
        <p:nvSpPr>
          <p:cNvPr id="8" name="TextBox 7"/>
          <p:cNvSpPr txBox="1"/>
          <p:nvPr/>
        </p:nvSpPr>
        <p:spPr>
          <a:xfrm>
            <a:off x="1051560" y="1554480"/>
            <a:ext cx="6400800" cy="5486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A. V. Aho, M. S. Lam, R. Sethi, J. D. Ullman, Compilers: Principles, Techniques, and Tools, 2nd ed., 2006, Ch. 8.</a:t>
            </a:r>
          </a:p>
        </p:txBody>
      </p:sp>
      <p:sp>
        <p:nvSpPr>
          <p:cNvPr id="9" name="TextBox 8"/>
          <p:cNvSpPr txBox="1"/>
          <p:nvPr/>
        </p:nvSpPr>
        <p:spPr>
          <a:xfrm>
            <a:off x="548640" y="2121408"/>
            <a:ext cx="457200" cy="457200"/>
          </a:xfrm>
          <a:prstGeom prst="rect">
            <a:avLst/>
          </a:prstGeom>
          <a:noFill/>
        </p:spPr>
        <p:txBody>
          <a:bodyPr wrap="square" lIns="0" rIns="0" tIns="0" bIns="0" anchor="t">
            <a:spAutoFit/>
          </a:bodyPr>
          <a:lstStyle/>
          <a:p>
            <a:pPr algn="l">
              <a:spcAft>
                <a:spcPts val="400"/>
              </a:spcAft>
            </a:pPr>
            <a:r>
              <a:rPr sz="1400" b="1" i="0">
                <a:solidFill>
                  <a:srgbClr val="0E767A"/>
                </a:solidFill>
                <a:latin typeface="Calibri"/>
              </a:rPr>
              <a:t>[2]</a:t>
            </a:r>
          </a:p>
        </p:txBody>
      </p:sp>
      <p:sp>
        <p:nvSpPr>
          <p:cNvPr id="10" name="TextBox 9"/>
          <p:cNvSpPr txBox="1"/>
          <p:nvPr/>
        </p:nvSpPr>
        <p:spPr>
          <a:xfrm>
            <a:off x="1051560" y="2121408"/>
            <a:ext cx="6400800" cy="5486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A. V. Aho, M. Ganapathi, S. W. K. Tjiang, "Code Generation Using Tree Matching and Dynamic Programming," ACM TOPLAS 11(4), 1989.</a:t>
            </a:r>
          </a:p>
        </p:txBody>
      </p:sp>
      <p:sp>
        <p:nvSpPr>
          <p:cNvPr id="11" name="TextBox 10"/>
          <p:cNvSpPr txBox="1"/>
          <p:nvPr/>
        </p:nvSpPr>
        <p:spPr>
          <a:xfrm>
            <a:off x="548640" y="2688336"/>
            <a:ext cx="457200" cy="457200"/>
          </a:xfrm>
          <a:prstGeom prst="rect">
            <a:avLst/>
          </a:prstGeom>
          <a:noFill/>
        </p:spPr>
        <p:txBody>
          <a:bodyPr wrap="square" lIns="0" rIns="0" tIns="0" bIns="0" anchor="t">
            <a:spAutoFit/>
          </a:bodyPr>
          <a:lstStyle/>
          <a:p>
            <a:pPr algn="l">
              <a:spcAft>
                <a:spcPts val="400"/>
              </a:spcAft>
            </a:pPr>
            <a:r>
              <a:rPr sz="1400" b="1" i="0">
                <a:solidFill>
                  <a:srgbClr val="0E767A"/>
                </a:solidFill>
                <a:latin typeface="Calibri"/>
              </a:rPr>
              <a:t>[3]</a:t>
            </a:r>
          </a:p>
        </p:txBody>
      </p:sp>
      <p:sp>
        <p:nvSpPr>
          <p:cNvPr id="12" name="TextBox 11"/>
          <p:cNvSpPr txBox="1"/>
          <p:nvPr/>
        </p:nvSpPr>
        <p:spPr>
          <a:xfrm>
            <a:off x="1051560" y="2688336"/>
            <a:ext cx="6400800" cy="5486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C. W. Fraser, D. R. Hanson, T. A. Proebsting, "Engineering a Simple, Efficient Code-Generator Generator," ACM LOPLAS 1(3), 1992.</a:t>
            </a:r>
          </a:p>
        </p:txBody>
      </p:sp>
      <p:sp>
        <p:nvSpPr>
          <p:cNvPr id="13" name="TextBox 12"/>
          <p:cNvSpPr txBox="1"/>
          <p:nvPr/>
        </p:nvSpPr>
        <p:spPr>
          <a:xfrm>
            <a:off x="548640" y="3255263"/>
            <a:ext cx="457200" cy="457200"/>
          </a:xfrm>
          <a:prstGeom prst="rect">
            <a:avLst/>
          </a:prstGeom>
          <a:noFill/>
        </p:spPr>
        <p:txBody>
          <a:bodyPr wrap="square" lIns="0" rIns="0" tIns="0" bIns="0" anchor="t">
            <a:spAutoFit/>
          </a:bodyPr>
          <a:lstStyle/>
          <a:p>
            <a:pPr algn="l">
              <a:spcAft>
                <a:spcPts val="400"/>
              </a:spcAft>
            </a:pPr>
            <a:r>
              <a:rPr sz="1400" b="1" i="0">
                <a:solidFill>
                  <a:srgbClr val="0E767A"/>
                </a:solidFill>
                <a:latin typeface="Calibri"/>
              </a:rPr>
              <a:t>[4]</a:t>
            </a:r>
          </a:p>
        </p:txBody>
      </p:sp>
      <p:sp>
        <p:nvSpPr>
          <p:cNvPr id="14" name="TextBox 13"/>
          <p:cNvSpPr txBox="1"/>
          <p:nvPr/>
        </p:nvSpPr>
        <p:spPr>
          <a:xfrm>
            <a:off x="1051560" y="3255263"/>
            <a:ext cx="6400800" cy="5486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C. W. Fraser, R. R. Henry, T. A. Proebsting, "BURG: Fast Optimal Instruction Selection and Tree Parsing," SIGPLAN Notices 27(4), 1992.</a:t>
            </a:r>
          </a:p>
        </p:txBody>
      </p:sp>
      <p:sp>
        <p:nvSpPr>
          <p:cNvPr id="15" name="TextBox 14"/>
          <p:cNvSpPr txBox="1"/>
          <p:nvPr/>
        </p:nvSpPr>
        <p:spPr>
          <a:xfrm>
            <a:off x="548640" y="3822191"/>
            <a:ext cx="457200" cy="457200"/>
          </a:xfrm>
          <a:prstGeom prst="rect">
            <a:avLst/>
          </a:prstGeom>
          <a:noFill/>
        </p:spPr>
        <p:txBody>
          <a:bodyPr wrap="square" lIns="0" rIns="0" tIns="0" bIns="0" anchor="t">
            <a:spAutoFit/>
          </a:bodyPr>
          <a:lstStyle/>
          <a:p>
            <a:pPr algn="l">
              <a:spcAft>
                <a:spcPts val="400"/>
              </a:spcAft>
            </a:pPr>
            <a:r>
              <a:rPr sz="1400" b="1" i="0">
                <a:solidFill>
                  <a:srgbClr val="0E767A"/>
                </a:solidFill>
                <a:latin typeface="Calibri"/>
              </a:rPr>
              <a:t>[5]</a:t>
            </a:r>
          </a:p>
        </p:txBody>
      </p:sp>
      <p:sp>
        <p:nvSpPr>
          <p:cNvPr id="16" name="TextBox 15"/>
          <p:cNvSpPr txBox="1"/>
          <p:nvPr/>
        </p:nvSpPr>
        <p:spPr>
          <a:xfrm>
            <a:off x="1051560" y="3822191"/>
            <a:ext cx="6400800" cy="5486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T. A. Proebsting, "Simple and Efficient BURS Table Generation," PLDI 1992.</a:t>
            </a:r>
          </a:p>
        </p:txBody>
      </p:sp>
      <p:sp>
        <p:nvSpPr>
          <p:cNvPr id="17" name="TextBox 16"/>
          <p:cNvSpPr txBox="1"/>
          <p:nvPr/>
        </p:nvSpPr>
        <p:spPr>
          <a:xfrm>
            <a:off x="548640" y="4389120"/>
            <a:ext cx="457200" cy="457200"/>
          </a:xfrm>
          <a:prstGeom prst="rect">
            <a:avLst/>
          </a:prstGeom>
          <a:noFill/>
        </p:spPr>
        <p:txBody>
          <a:bodyPr wrap="square" lIns="0" rIns="0" tIns="0" bIns="0" anchor="t">
            <a:spAutoFit/>
          </a:bodyPr>
          <a:lstStyle/>
          <a:p>
            <a:pPr algn="l">
              <a:spcAft>
                <a:spcPts val="400"/>
              </a:spcAft>
            </a:pPr>
            <a:r>
              <a:rPr sz="1400" b="1" i="0">
                <a:solidFill>
                  <a:srgbClr val="0E767A"/>
                </a:solidFill>
                <a:latin typeface="Calibri"/>
              </a:rPr>
              <a:t>[6]</a:t>
            </a:r>
          </a:p>
        </p:txBody>
      </p:sp>
      <p:sp>
        <p:nvSpPr>
          <p:cNvPr id="18" name="TextBox 17"/>
          <p:cNvSpPr txBox="1"/>
          <p:nvPr/>
        </p:nvSpPr>
        <p:spPr>
          <a:xfrm>
            <a:off x="1051560" y="4389120"/>
            <a:ext cx="6400800" cy="548640"/>
          </a:xfrm>
          <a:prstGeom prst="rect">
            <a:avLst/>
          </a:prstGeom>
          <a:noFill/>
        </p:spPr>
        <p:txBody>
          <a:bodyPr wrap="square" lIns="0" rIns="0" tIns="0" bIns="0" anchor="t">
            <a:spAutoFit/>
          </a:bodyPr>
          <a:lstStyle/>
          <a:p>
            <a:pPr algn="l">
              <a:spcAft>
                <a:spcPts val="400"/>
              </a:spcAft>
            </a:pPr>
            <a:r>
              <a:rPr sz="1300" b="0" i="0">
                <a:solidFill>
                  <a:srgbClr val="1F2933"/>
                </a:solidFill>
                <a:latin typeface="Calibri"/>
              </a:rPr>
              <a:t>Chen Zhexuan, burg (modernised BURG), github.com/CloseToZero/burg.</a:t>
            </a:r>
          </a:p>
        </p:txBody>
      </p:sp>
      <p:sp>
        <p:nvSpPr>
          <p:cNvPr id="19" name="Rounded Rectangle 18"/>
          <p:cNvSpPr/>
          <p:nvPr/>
        </p:nvSpPr>
        <p:spPr>
          <a:xfrm>
            <a:off x="7818120" y="1554480"/>
            <a:ext cx="3822191" cy="4663440"/>
          </a:xfrm>
          <a:prstGeom prst="roundRect">
            <a:avLst>
              <a:gd name="adj" fmla="val 2870"/>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20" name="TextBox 19"/>
          <p:cNvSpPr txBox="1"/>
          <p:nvPr/>
        </p:nvSpPr>
        <p:spPr>
          <a:xfrm>
            <a:off x="8046720" y="1737360"/>
            <a:ext cx="3383280" cy="36576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Acknowledgements</a:t>
            </a:r>
          </a:p>
        </p:txBody>
      </p:sp>
      <p:sp>
        <p:nvSpPr>
          <p:cNvPr id="21" name="TextBox 20"/>
          <p:cNvSpPr txBox="1"/>
          <p:nvPr/>
        </p:nvSpPr>
        <p:spPr>
          <a:xfrm>
            <a:off x="8046720" y="2194560"/>
            <a:ext cx="3429000" cy="3931920"/>
          </a:xfrm>
          <a:prstGeom prst="rect">
            <a:avLst/>
          </a:prstGeom>
          <a:noFill/>
        </p:spPr>
        <p:txBody>
          <a:bodyPr wrap="square" lIns="0" rIns="0" tIns="0" bIns="0" anchor="t">
            <a:spAutoFit/>
          </a:bodyPr>
          <a:lstStyle/>
          <a:p>
            <a:pPr algn="l">
              <a:spcAft>
                <a:spcPts val="1000"/>
              </a:spcAft>
            </a:pPr>
            <a:r>
              <a:rPr sz="1300" b="1" i="0">
                <a:solidFill>
                  <a:srgbClr val="1F2933"/>
                </a:solidFill>
                <a:latin typeface="Calibri"/>
              </a:rPr>
              <a:t>BURG generator. </a:t>
            </a:r>
            <a:r>
              <a:rPr sz="1300" b="0" i="0">
                <a:solidFill>
                  <a:srgbClr val="1F2933"/>
                </a:solidFill>
                <a:latin typeface="Calibri"/>
              </a:rPr>
              <a:t>third_party/burg, unmodified, used as a build tool under its own licence (COPYRIGHT, LICENSE.TXT). Not counted as team code.</a:t>
            </a:r>
          </a:p>
          <a:p>
            <a:pPr algn="l">
              <a:spcAft>
                <a:spcPts val="1000"/>
              </a:spcAft>
            </a:pPr>
            <a:r>
              <a:rPr sz="1300" b="1" i="0">
                <a:solidFill>
                  <a:srgbClr val="1F2933"/>
                </a:solidFill>
                <a:latin typeface="Calibri"/>
              </a:rPr>
              <a:t>AI assistance. </a:t>
            </a:r>
            <a:r>
              <a:rPr sz="1300" b="0" i="0">
                <a:solidFill>
                  <a:srgbClr val="1F2933"/>
                </a:solidFill>
                <a:latin typeface="Calibri"/>
              </a:rPr>
              <a:t>Implementation and documentation were assisted by an AI coding assistant (Claude, Anthropic), as recorded in the commits and the report. The team reviewed and tested all submitted work.</a:t>
            </a:r>
          </a:p>
          <a:p>
            <a:pPr algn="l">
              <a:spcAft>
                <a:spcPts val="1000"/>
              </a:spcAft>
            </a:pPr>
            <a:r>
              <a:rPr sz="1300" b="1" i="0">
                <a:solidFill>
                  <a:srgbClr val="1F2933"/>
                </a:solidFill>
                <a:latin typeface="Calibri"/>
              </a:rPr>
              <a:t>Course. </a:t>
            </a:r>
            <a:r>
              <a:rPr sz="1300" b="0" i="0">
                <a:solidFill>
                  <a:srgbClr val="1F2933"/>
                </a:solidFill>
                <a:latin typeface="Calibri"/>
              </a:rPr>
              <a:t>BCSE307L lecture material on back ends and instruction selection; Dr. Shalini L for guidance.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Backup: emitter and simulator code</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targetA.gr reduceA()  ·  targetB.gr simulateB()  (excerpts)</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19</a:t>
            </a:r>
          </a:p>
        </p:txBody>
      </p:sp>
      <p:sp>
        <p:nvSpPr>
          <p:cNvPr id="7" name="Rounded Rectangle 6"/>
          <p:cNvSpPr/>
          <p:nvPr/>
        </p:nvSpPr>
        <p:spPr>
          <a:xfrm>
            <a:off x="548640" y="1508760"/>
            <a:ext cx="5532120" cy="4709160"/>
          </a:xfrm>
          <a:prstGeom prst="roundRect">
            <a:avLst>
              <a:gd name="adj" fmla="val 1941"/>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49808" y="1636776"/>
            <a:ext cx="5166359"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src/targets/targetA/targetA.gr · reduceA()</a:t>
            </a:r>
          </a:p>
        </p:txBody>
      </p:sp>
      <p:sp>
        <p:nvSpPr>
          <p:cNvPr id="9" name="TextBox 8"/>
          <p:cNvSpPr txBox="1"/>
          <p:nvPr/>
        </p:nvSpPr>
        <p:spPr>
          <a:xfrm>
            <a:off x="749808" y="1965960"/>
            <a:ext cx="5166359" cy="4142232"/>
          </a:xfrm>
          <a:prstGeom prst="rect">
            <a:avLst/>
          </a:prstGeom>
          <a:noFill/>
        </p:spPr>
        <p:txBody>
          <a:bodyPr wrap="square" lIns="0" rIns="0" tIns="0" bIns="0" anchor="t">
            <a:spAutoFit/>
          </a:bodyPr>
          <a:lstStyle/>
          <a:p>
            <a:pPr algn="l">
              <a:spcAft>
                <a:spcPts val="0"/>
              </a:spcAft>
            </a:pPr>
            <a:r>
              <a:rPr sz="1200" b="0" i="0">
                <a:solidFill>
                  <a:srgbClr val="E6EDF3"/>
                </a:solidFill>
                <a:latin typeface="Consolas"/>
              </a:rPr>
              <a:t>switch (rule) {</a:t>
            </a:r>
          </a:p>
          <a:p>
            <a:pPr algn="l">
              <a:spcAft>
                <a:spcPts val="0"/>
              </a:spcAft>
            </a:pPr>
            <a:r>
              <a:rPr sz="1200" b="0" i="0">
                <a:solidFill>
                  <a:srgbClr val="8FA3B8"/>
                </a:solidFill>
                <a:latin typeface="Consolas"/>
              </a:rPr>
              <a:t>case 3:   /* imm: CONST -&gt; operand only */</a:t>
            </a:r>
          </a:p>
          <a:p>
            <a:pPr algn="l">
              <a:spcAft>
                <a:spcPts val="0"/>
              </a:spcAft>
            </a:pPr>
            <a:r>
              <a:rPr sz="1200" b="0" i="0">
                <a:solidFill>
                  <a:srgbClr val="E89A2C"/>
                </a:solidFill>
                <a:latin typeface="Consolas"/>
              </a:rPr>
              <a:t>  return burs_operand("#%lld", p-&gt;ival);</a:t>
            </a:r>
          </a:p>
          <a:p>
            <a:pPr algn="l">
              <a:spcAft>
                <a:spcPts val="0"/>
              </a:spcAft>
            </a:pPr>
            <a:r>
              <a:rPr sz="1200" b="0" i="0">
                <a:solidFill>
                  <a:srgbClr val="E6EDF3"/>
                </a:solidFill>
                <a:latin typeface="Consolas"/>
              </a:rPr>
              <a:t>case 1:   /* reg: VAR */</a:t>
            </a:r>
          </a:p>
          <a:p>
            <a:pPr algn="l">
              <a:spcAft>
                <a:spcPts val="0"/>
              </a:spcAft>
            </a:pPr>
            <a:r>
              <a:rPr sz="1200" b="0" i="0">
                <a:solidFill>
                  <a:srgbClr val="E6EDF3"/>
                </a:solidFill>
                <a:latin typeface="Consolas"/>
              </a:rPr>
              <a:t>  d = burs_new_reg(ctx);</a:t>
            </a:r>
          </a:p>
          <a:p>
            <a:pPr algn="l">
              <a:spcAft>
                <a:spcPts val="0"/>
              </a:spcAft>
            </a:pPr>
            <a:r>
              <a:rPr sz="1200" b="0" i="0">
                <a:solidFill>
                  <a:srgbClr val="E6EDF3"/>
                </a:solidFill>
                <a:latin typeface="Consolas"/>
              </a:rPr>
              <a:t>  burs_emit(ctx, "LOAD %s,[%s]", d.s, p-&gt;name);</a:t>
            </a:r>
          </a:p>
          <a:p>
            <a:pPr algn="l">
              <a:spcAft>
                <a:spcPts val="0"/>
              </a:spcAft>
            </a:pPr>
            <a:r>
              <a:rPr sz="1200" b="0" i="0">
                <a:solidFill>
                  <a:srgbClr val="E6EDF3"/>
                </a:solidFill>
                <a:latin typeface="Consolas"/>
              </a:rPr>
              <a:t>  return d;</a:t>
            </a:r>
          </a:p>
          <a:p>
            <a:pPr algn="l">
              <a:spcAft>
                <a:spcPts val="0"/>
              </a:spcAft>
            </a:pPr>
            <a:r>
              <a:rPr sz="1200" b="0" i="0">
                <a:solidFill>
                  <a:srgbClr val="E6EDF3"/>
                </a:solidFill>
                <a:latin typeface="Consolas"/>
              </a:rPr>
              <a:t>case 5: case 6: case 7: case 8: case 9:</a:t>
            </a:r>
          </a:p>
          <a:p>
            <a:pPr algn="l">
              <a:spcAft>
                <a:spcPts val="0"/>
              </a:spcAft>
            </a:pPr>
            <a:r>
              <a:rPr sz="1200" b="0" i="0">
                <a:solidFill>
                  <a:srgbClr val="E6EDF3"/>
                </a:solidFill>
                <a:latin typeface="Consolas"/>
              </a:rPr>
              <a:t>  d = burs_new_reg(ctx);</a:t>
            </a:r>
          </a:p>
          <a:p>
            <a:pPr algn="l">
              <a:spcAft>
                <a:spcPts val="0"/>
              </a:spcAft>
            </a:pPr>
            <a:r>
              <a:rPr sz="1200" b="0" i="0">
                <a:solidFill>
                  <a:srgbClr val="E6EDF3"/>
                </a:solidFill>
                <a:latin typeface="Consolas"/>
              </a:rPr>
              <a:t>  burs_emit(ctx, "%s %s,%s,%s",</a:t>
            </a:r>
          </a:p>
          <a:p>
            <a:pPr algn="l">
              <a:spcAft>
                <a:spcPts val="0"/>
              </a:spcAft>
            </a:pPr>
            <a:r>
              <a:rPr sz="1200" b="0" i="0">
                <a:solidFill>
                  <a:srgbClr val="E6EDF3"/>
                </a:solidFill>
                <a:latin typeface="Consolas"/>
              </a:rPr>
              <a:t>            mnem[rule], d.s, k[0].s, k[1].s);</a:t>
            </a:r>
          </a:p>
          <a:p>
            <a:pPr algn="l">
              <a:spcAft>
                <a:spcPts val="0"/>
              </a:spcAft>
            </a:pPr>
            <a:r>
              <a:rPr sz="1200" b="0" i="0">
                <a:solidFill>
                  <a:srgbClr val="E6EDF3"/>
                </a:solidFill>
                <a:latin typeface="Consolas"/>
              </a:rPr>
              <a:t>  return d;</a:t>
            </a:r>
          </a:p>
          <a:p>
            <a:pPr algn="l">
              <a:spcAft>
                <a:spcPts val="0"/>
              </a:spcAft>
            </a:pPr>
            <a:r>
              <a:rPr sz="1200" b="0" i="0">
                <a:solidFill>
                  <a:srgbClr val="E6EDF3"/>
                </a:solidFill>
                <a:latin typeface="Consolas"/>
              </a:rPr>
              <a:t>}</a:t>
            </a:r>
          </a:p>
        </p:txBody>
      </p:sp>
      <p:sp>
        <p:nvSpPr>
          <p:cNvPr id="10" name="Rounded Rectangle 9"/>
          <p:cNvSpPr/>
          <p:nvPr/>
        </p:nvSpPr>
        <p:spPr>
          <a:xfrm>
            <a:off x="6263640" y="1508760"/>
            <a:ext cx="5376672" cy="4709160"/>
          </a:xfrm>
          <a:prstGeom prst="roundRect">
            <a:avLst>
              <a:gd name="adj" fmla="val 1941"/>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6464807" y="1636776"/>
            <a:ext cx="5010912"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src/targets/targetB/targetB.gr · simulateB()</a:t>
            </a:r>
          </a:p>
        </p:txBody>
      </p:sp>
      <p:sp>
        <p:nvSpPr>
          <p:cNvPr id="12" name="TextBox 11"/>
          <p:cNvSpPr txBox="1"/>
          <p:nvPr/>
        </p:nvSpPr>
        <p:spPr>
          <a:xfrm>
            <a:off x="6464807" y="1965960"/>
            <a:ext cx="5010912" cy="4142232"/>
          </a:xfrm>
          <a:prstGeom prst="rect">
            <a:avLst/>
          </a:prstGeom>
          <a:noFill/>
        </p:spPr>
        <p:txBody>
          <a:bodyPr wrap="square" lIns="0" rIns="0" tIns="0" bIns="0" anchor="t">
            <a:spAutoFit/>
          </a:bodyPr>
          <a:lstStyle/>
          <a:p>
            <a:pPr algn="l">
              <a:spcAft>
                <a:spcPts val="0"/>
              </a:spcAft>
            </a:pPr>
            <a:r>
              <a:rPr sz="1200" b="0" i="0">
                <a:solidFill>
                  <a:srgbClr val="8FA3B8"/>
                </a:solidFill>
                <a:latin typeface="Consolas"/>
              </a:rPr>
              <a:t>/* ADD, SUB, MUL: pop b, pop a, push a op b */</a:t>
            </a:r>
          </a:p>
          <a:p>
            <a:pPr algn="l">
              <a:spcAft>
                <a:spcPts val="0"/>
              </a:spcAft>
            </a:pPr>
            <a:r>
              <a:rPr sz="1200" b="0" i="0">
                <a:solidFill>
                  <a:srgbClr val="E6EDF3"/>
                </a:solidFill>
                <a:latin typeface="Consolas"/>
              </a:rPr>
              <a:t>if (sp &lt; 2) return simfail(..., "stack underflow");</a:t>
            </a:r>
          </a:p>
          <a:p>
            <a:pPr algn="l">
              <a:spcAft>
                <a:spcPts val="0"/>
              </a:spcAft>
            </a:pPr>
            <a:r>
              <a:rPr sz="1200" b="0" i="0">
                <a:solidFill>
                  <a:srgbClr val="E6EDF3"/>
                </a:solidFill>
                <a:latin typeface="Consolas"/>
              </a:rPr>
              <a:t>S[sp-2] = arith(op[0], S[sp-2], S[sp-1]);</a:t>
            </a:r>
          </a:p>
          <a:p>
            <a:pPr algn="l">
              <a:spcAft>
                <a:spcPts val="0"/>
              </a:spcAft>
            </a:pPr>
            <a:r>
              <a:rPr sz="1200" b="0" i="0">
                <a:solidFill>
                  <a:srgbClr val="E6EDF3"/>
                </a:solidFill>
                <a:latin typeface="Consolas"/>
              </a:rPr>
              <a:t>sp--;</a:t>
            </a:r>
          </a:p>
          <a:p>
            <a:pPr algn="l">
              <a:spcAft>
                <a:spcPts val="0"/>
              </a:spcAft>
            </a:pPr>
            <a:r>
              <a:rPr sz="1200" b="0" i="0">
                <a:solidFill>
                  <a:srgbClr val="E6EDF3"/>
                </a:solidFill>
                <a:latin typeface="Consolas"/>
              </a:rPr>
              <a:t/>
            </a:r>
          </a:p>
          <a:p>
            <a:pPr algn="l">
              <a:spcAft>
                <a:spcPts val="0"/>
              </a:spcAft>
            </a:pPr>
            <a:r>
              <a:rPr sz="1200" b="0" i="0">
                <a:solidFill>
                  <a:srgbClr val="8FA3B8"/>
                </a:solidFill>
                <a:latin typeface="Consolas"/>
              </a:rPr>
              <a:t>/* ADDM/ADDI etc.: top op operand */</a:t>
            </a:r>
          </a:p>
          <a:p>
            <a:pPr algn="l">
              <a:spcAft>
                <a:spcPts val="0"/>
              </a:spcAft>
            </a:pPr>
            <a:r>
              <a:rPr sz="1200" b="0" i="0">
                <a:solidFill>
                  <a:srgbClr val="E6EDF3"/>
                </a:solidFill>
                <a:latin typeface="Consolas"/>
              </a:rPr>
              <a:t>if (!operand_value(a[0], &amp;v) ||</a:t>
            </a:r>
          </a:p>
          <a:p>
            <a:pPr algn="l">
              <a:spcAft>
                <a:spcPts val="0"/>
              </a:spcAft>
            </a:pPr>
            <a:r>
              <a:rPr sz="1200" b="0" i="0">
                <a:solidFill>
                  <a:srgbClr val="E6EDF3"/>
                </a:solidFill>
                <a:latin typeface="Consolas"/>
              </a:rPr>
              <a:t>    (op[3] == 'M') != (a[0][0] == '['))</a:t>
            </a:r>
          </a:p>
          <a:p>
            <a:pPr algn="l">
              <a:spcAft>
                <a:spcPts val="0"/>
              </a:spcAft>
            </a:pPr>
            <a:r>
              <a:rPr sz="1200" b="0" i="0">
                <a:solidFill>
                  <a:srgbClr val="E6EDF3"/>
                </a:solidFill>
                <a:latin typeface="Consolas"/>
              </a:rPr>
              <a:t>  return simfail(..., "bad operand");</a:t>
            </a:r>
          </a:p>
          <a:p>
            <a:pPr algn="l">
              <a:spcAft>
                <a:spcPts val="0"/>
              </a:spcAft>
            </a:pPr>
            <a:r>
              <a:rPr sz="1200" b="0" i="0">
                <a:solidFill>
                  <a:srgbClr val="E6EDF3"/>
                </a:solidFill>
                <a:latin typeface="Consolas"/>
              </a:rPr>
              <a:t>S[sp-1] = arith(op[0], S[sp-1], v);</a:t>
            </a:r>
          </a:p>
          <a:p>
            <a:pPr algn="l">
              <a:spcAft>
                <a:spcPts val="0"/>
              </a:spcAft>
            </a:pPr>
            <a:r>
              <a:rPr sz="1200" b="0" i="0">
                <a:solidFill>
                  <a:srgbClr val="E6EDF3"/>
                </a:solidFill>
                <a:latin typeface="Consolas"/>
              </a:rPr>
              <a:t/>
            </a:r>
          </a:p>
          <a:p>
            <a:pPr algn="l">
              <a:spcAft>
                <a:spcPts val="0"/>
              </a:spcAft>
            </a:pPr>
            <a:r>
              <a:rPr sz="1200" b="0" i="0">
                <a:solidFill>
                  <a:srgbClr val="8FA3B8"/>
                </a:solidFill>
                <a:latin typeface="Consolas"/>
              </a:rPr>
              <a:t>/* end: depth must be exactly 1 */</a:t>
            </a:r>
          </a:p>
          <a:p>
            <a:pPr algn="l">
              <a:spcAft>
                <a:spcPts val="0"/>
              </a:spcAft>
            </a:pPr>
            <a:r>
              <a:rPr sz="1200" b="0" i="0">
                <a:solidFill>
                  <a:srgbClr val="E89A2C"/>
                </a:solidFill>
                <a:latin typeface="Consolas"/>
              </a:rPr>
              <a:t>*value = S[0];   /* compared with ir_eval()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47472"/>
            <a:ext cx="8412480" cy="640080"/>
          </a:xfrm>
          <a:prstGeom prst="rect">
            <a:avLst/>
          </a:prstGeom>
          <a:noFill/>
        </p:spPr>
        <p:txBody>
          <a:bodyPr wrap="square" lIns="0" rIns="0" tIns="0" bIns="0" anchor="ctr">
            <a:spAutoFit/>
          </a:bodyPr>
          <a:lstStyle/>
          <a:p>
            <a:pPr algn="l">
              <a:spcAft>
                <a:spcPts val="400"/>
              </a:spcAft>
            </a:pPr>
            <a:r>
              <a:rPr sz="3000" b="1" i="0">
                <a:solidFill>
                  <a:srgbClr val="16233A"/>
                </a:solidFill>
                <a:latin typeface="Calibri"/>
              </a:rPr>
              <a:t>Backup: how a regression test runs</a:t>
            </a:r>
          </a:p>
        </p:txBody>
      </p:sp>
      <p:sp>
        <p:nvSpPr>
          <p:cNvPr id="3" name="TextBox 2"/>
          <p:cNvSpPr txBox="1"/>
          <p:nvPr/>
        </p:nvSpPr>
        <p:spPr>
          <a:xfrm>
            <a:off x="548640" y="932688"/>
            <a:ext cx="9601200" cy="365760"/>
          </a:xfrm>
          <a:prstGeom prst="rect">
            <a:avLst/>
          </a:prstGeom>
          <a:noFill/>
        </p:spPr>
        <p:txBody>
          <a:bodyPr wrap="square" lIns="0" rIns="0" tIns="0" bIns="0" anchor="t">
            <a:spAutoFit/>
          </a:bodyPr>
          <a:lstStyle/>
          <a:p>
            <a:pPr algn="l">
              <a:spcAft>
                <a:spcPts val="400"/>
              </a:spcAft>
            </a:pPr>
            <a:r>
              <a:rPr sz="1500" b="0" i="0">
                <a:solidFill>
                  <a:srgbClr val="5B6770"/>
                </a:solidFill>
                <a:latin typeface="Calibri"/>
              </a:rPr>
              <a:t>tests/cases.txt → tests/run_tests.sh → tests/expected/&lt;id&gt;.out</a:t>
            </a:r>
          </a:p>
        </p:txBody>
      </p:sp>
      <p:sp>
        <p:nvSpPr>
          <p:cNvPr id="4" name="Presenter"/>
          <p:cNvSpPr/>
          <p:nvPr/>
        </p:nvSpPr>
        <p:spPr>
          <a:xfrm>
            <a:off x="9402775" y="457200"/>
            <a:ext cx="2240280" cy="384048"/>
          </a:xfrm>
          <a:prstGeom prst="roundRect">
            <a:avLst>
              <a:gd name="adj" fmla="val 50000"/>
            </a:avLst>
          </a:prstGeom>
          <a:solidFill>
            <a:srgbClr val="DDF0F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100" b="0" i="0">
                <a:solidFill>
                  <a:srgbClr val="5B6770"/>
                </a:solidFill>
                <a:latin typeface="Calibri"/>
              </a:rPr>
              <a:t>Presenter  </a:t>
            </a:r>
            <a:r>
              <a:rPr sz="1200" b="1" i="0">
                <a:solidFill>
                  <a:srgbClr val="0E767A"/>
                </a:solidFill>
                <a:latin typeface="Calibri"/>
              </a:rPr>
              <a:t>Ahmad</a:t>
            </a:r>
          </a:p>
        </p:txBody>
      </p:sp>
      <p:sp>
        <p:nvSpPr>
          <p:cNvPr id="5" name="TextBox 4"/>
          <p:cNvSpPr txBox="1"/>
          <p:nvPr/>
        </p:nvSpPr>
        <p:spPr>
          <a:xfrm>
            <a:off x="548640" y="6473952"/>
            <a:ext cx="7315200" cy="228600"/>
          </a:xfrm>
          <a:prstGeom prst="rect">
            <a:avLst/>
          </a:prstGeom>
          <a:noFill/>
        </p:spPr>
        <p:txBody>
          <a:bodyPr wrap="square" lIns="0" rIns="0" tIns="0" bIns="0" anchor="t">
            <a:spAutoFit/>
          </a:bodyPr>
          <a:lstStyle/>
          <a:p>
            <a:pPr algn="l">
              <a:spcAft>
                <a:spcPts val="400"/>
              </a:spcAft>
            </a:pPr>
            <a:r>
              <a:rPr sz="1000" b="0" i="0">
                <a:solidFill>
                  <a:srgbClr val="5B6770"/>
                </a:solidFill>
                <a:latin typeface="Calibri"/>
              </a:rPr>
              <a:t>A24 · BURS-Based Retargetable Instruction Selection · Team 8 · Review 3</a:t>
            </a:r>
          </a:p>
        </p:txBody>
      </p:sp>
      <p:sp>
        <p:nvSpPr>
          <p:cNvPr id="6" name="TextBox 5"/>
          <p:cNvSpPr txBox="1"/>
          <p:nvPr/>
        </p:nvSpPr>
        <p:spPr>
          <a:xfrm>
            <a:off x="10728655" y="6473952"/>
            <a:ext cx="914400" cy="228600"/>
          </a:xfrm>
          <a:prstGeom prst="rect">
            <a:avLst/>
          </a:prstGeom>
          <a:noFill/>
        </p:spPr>
        <p:txBody>
          <a:bodyPr wrap="square" lIns="0" rIns="0" tIns="0" bIns="0" anchor="t">
            <a:spAutoFit/>
          </a:bodyPr>
          <a:lstStyle/>
          <a:p>
            <a:pPr algn="r">
              <a:spcAft>
                <a:spcPts val="400"/>
              </a:spcAft>
            </a:pPr>
            <a:r>
              <a:rPr sz="1000" b="0" i="0">
                <a:solidFill>
                  <a:srgbClr val="5B6770"/>
                </a:solidFill>
                <a:latin typeface="Calibri"/>
              </a:rPr>
              <a:t>20</a:t>
            </a:r>
          </a:p>
        </p:txBody>
      </p:sp>
      <p:sp>
        <p:nvSpPr>
          <p:cNvPr id="7" name="Rounded Rectangle 6"/>
          <p:cNvSpPr/>
          <p:nvPr/>
        </p:nvSpPr>
        <p:spPr>
          <a:xfrm>
            <a:off x="548640" y="1508760"/>
            <a:ext cx="5532120" cy="2057400"/>
          </a:xfrm>
          <a:prstGeom prst="roundRect">
            <a:avLst>
              <a:gd name="adj" fmla="val 444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8" name="TextBox 7"/>
          <p:cNvSpPr txBox="1"/>
          <p:nvPr/>
        </p:nvSpPr>
        <p:spPr>
          <a:xfrm>
            <a:off x="749808" y="1636776"/>
            <a:ext cx="5166359"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tests/cases.txt (excerpt)</a:t>
            </a:r>
          </a:p>
        </p:txBody>
      </p:sp>
      <p:sp>
        <p:nvSpPr>
          <p:cNvPr id="9" name="TextBox 8"/>
          <p:cNvSpPr txBox="1"/>
          <p:nvPr/>
        </p:nvSpPr>
        <p:spPr>
          <a:xfrm>
            <a:off x="749808" y="1965960"/>
            <a:ext cx="5166359" cy="149047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 id                 | options | expression</a:t>
            </a:r>
          </a:p>
          <a:p>
            <a:pPr algn="l">
              <a:spcAft>
                <a:spcPts val="0"/>
              </a:spcAft>
            </a:pPr>
            <a:r>
              <a:rPr sz="1300" b="0" i="0">
                <a:solidFill>
                  <a:srgbClr val="E6EDF3"/>
                </a:solidFill>
                <a:latin typeface="Consolas"/>
              </a:rPr>
              <a:t>pos_a_plus_b_mul_c   | -v      | a + b * c</a:t>
            </a:r>
          </a:p>
          <a:p>
            <a:pPr algn="l">
              <a:spcAft>
                <a:spcPts val="0"/>
              </a:spcAft>
            </a:pPr>
            <a:r>
              <a:rPr sz="1300" b="0" i="0">
                <a:solidFill>
                  <a:srgbClr val="E6EDF3"/>
                </a:solidFill>
                <a:latin typeface="Consolas"/>
              </a:rPr>
              <a:t>rule_mem_operand     | -t B    | a * b</a:t>
            </a:r>
          </a:p>
          <a:p>
            <a:pPr algn="l">
              <a:spcAft>
                <a:spcPts val="0"/>
              </a:spcAft>
            </a:pPr>
            <a:r>
              <a:rPr sz="1300" b="0" i="0">
                <a:solidFill>
                  <a:srgbClr val="E6EDF3"/>
                </a:solidFill>
                <a:latin typeface="Consolas"/>
              </a:rPr>
              <a:t>neg_division         |         | a / b</a:t>
            </a:r>
          </a:p>
        </p:txBody>
      </p:sp>
      <p:sp>
        <p:nvSpPr>
          <p:cNvPr id="10" name="Rounded Rectangle 9"/>
          <p:cNvSpPr/>
          <p:nvPr/>
        </p:nvSpPr>
        <p:spPr>
          <a:xfrm>
            <a:off x="548640" y="3749039"/>
            <a:ext cx="5532120" cy="2468880"/>
          </a:xfrm>
          <a:prstGeom prst="roundRect">
            <a:avLst>
              <a:gd name="adj" fmla="val 3703"/>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a:lstStyle/>
          <a:p>
            <a:pPr algn="ctr"/>
          </a:p>
        </p:txBody>
      </p:sp>
      <p:sp>
        <p:nvSpPr>
          <p:cNvPr id="11" name="TextBox 10"/>
          <p:cNvSpPr txBox="1"/>
          <p:nvPr/>
        </p:nvSpPr>
        <p:spPr>
          <a:xfrm>
            <a:off x="749808" y="3877055"/>
            <a:ext cx="5166359" cy="274320"/>
          </a:xfrm>
          <a:prstGeom prst="rect">
            <a:avLst/>
          </a:prstGeom>
          <a:noFill/>
        </p:spPr>
        <p:txBody>
          <a:bodyPr wrap="square" lIns="0" rIns="0" tIns="0" bIns="0" anchor="t">
            <a:spAutoFit/>
          </a:bodyPr>
          <a:lstStyle/>
          <a:p>
            <a:pPr algn="l">
              <a:spcAft>
                <a:spcPts val="400"/>
              </a:spcAft>
            </a:pPr>
            <a:r>
              <a:rPr sz="1100" b="1" i="0">
                <a:solidFill>
                  <a:srgbClr val="9FB3C8"/>
                </a:solidFill>
                <a:latin typeface="Calibri"/>
              </a:rPr>
              <a:t>tests/run_tests.sh (core loop)</a:t>
            </a:r>
          </a:p>
        </p:txBody>
      </p:sp>
      <p:sp>
        <p:nvSpPr>
          <p:cNvPr id="12" name="TextBox 11"/>
          <p:cNvSpPr txBox="1"/>
          <p:nvPr/>
        </p:nvSpPr>
        <p:spPr>
          <a:xfrm>
            <a:off x="749808" y="4206240"/>
            <a:ext cx="5166359" cy="1901952"/>
          </a:xfrm>
          <a:prstGeom prst="rect">
            <a:avLst/>
          </a:prstGeom>
          <a:noFill/>
        </p:spPr>
        <p:txBody>
          <a:bodyPr wrap="square" lIns="0" rIns="0" tIns="0" bIns="0" anchor="t">
            <a:spAutoFit/>
          </a:bodyPr>
          <a:lstStyle/>
          <a:p>
            <a:pPr algn="l">
              <a:spcAft>
                <a:spcPts val="0"/>
              </a:spcAft>
            </a:pPr>
            <a:r>
              <a:rPr sz="1300" b="0" i="0">
                <a:solidFill>
                  <a:srgbClr val="E6EDF3"/>
                </a:solidFill>
                <a:latin typeface="Consolas"/>
              </a:rPr>
              <a:t>$BURS $opts "$expr" &gt;"$TMP" 2&gt;&amp;1</a:t>
            </a:r>
          </a:p>
          <a:p>
            <a:pPr algn="l">
              <a:spcAft>
                <a:spcPts val="0"/>
              </a:spcAft>
            </a:pPr>
            <a:r>
              <a:rPr sz="1300" b="0" i="0">
                <a:solidFill>
                  <a:srgbClr val="E6EDF3"/>
                </a:solidFill>
                <a:latin typeface="Consolas"/>
              </a:rPr>
              <a:t>echo "exit=$?" &gt;&gt;"$TMP"</a:t>
            </a:r>
          </a:p>
          <a:p>
            <a:pPr algn="l">
              <a:spcAft>
                <a:spcPts val="0"/>
              </a:spcAft>
            </a:pPr>
            <a:r>
              <a:rPr sz="1300" b="0" i="0">
                <a:solidFill>
                  <a:srgbClr val="E6EDF3"/>
                </a:solidFill>
                <a:latin typeface="Consolas"/>
              </a:rPr>
              <a:t/>
            </a:r>
          </a:p>
          <a:p>
            <a:pPr algn="l">
              <a:spcAft>
                <a:spcPts val="0"/>
              </a:spcAft>
            </a:pPr>
            <a:r>
              <a:rPr sz="1300" b="0" i="0">
                <a:solidFill>
                  <a:srgbClr val="E6EDF3"/>
                </a:solidFill>
                <a:latin typeface="Consolas"/>
              </a:rPr>
              <a:t>if cmp -s "$TMP" "$EXPECTED/$id.out"; then</a:t>
            </a:r>
          </a:p>
          <a:p>
            <a:pPr algn="l">
              <a:spcAft>
                <a:spcPts val="0"/>
              </a:spcAft>
            </a:pPr>
            <a:r>
              <a:rPr sz="1300" b="0" i="0">
                <a:solidFill>
                  <a:srgbClr val="E6EDF3"/>
                </a:solidFill>
                <a:latin typeface="Consolas"/>
              </a:rPr>
              <a:t>  pass=$((pass + 1))</a:t>
            </a:r>
          </a:p>
          <a:p>
            <a:pPr algn="l">
              <a:spcAft>
                <a:spcPts val="0"/>
              </a:spcAft>
            </a:pPr>
            <a:r>
              <a:rPr sz="1300" b="0" i="0">
                <a:solidFill>
                  <a:srgbClr val="E6EDF3"/>
                </a:solidFill>
                <a:latin typeface="Consolas"/>
              </a:rPr>
              <a:t>else</a:t>
            </a:r>
          </a:p>
          <a:p>
            <a:pPr algn="l">
              <a:spcAft>
                <a:spcPts val="0"/>
              </a:spcAft>
            </a:pPr>
            <a:r>
              <a:rPr sz="1300" b="0" i="0">
                <a:solidFill>
                  <a:srgbClr val="E6EDF3"/>
                </a:solidFill>
                <a:latin typeface="Consolas"/>
              </a:rPr>
              <a:t>  fail=$((fail + 1)); diff ... | head -20</a:t>
            </a:r>
          </a:p>
          <a:p>
            <a:pPr algn="l">
              <a:spcAft>
                <a:spcPts val="0"/>
              </a:spcAft>
            </a:pPr>
            <a:r>
              <a:rPr sz="1300" b="0" i="0">
                <a:solidFill>
                  <a:srgbClr val="E6EDF3"/>
                </a:solidFill>
                <a:latin typeface="Consolas"/>
              </a:rPr>
              <a:t>fi</a:t>
            </a:r>
          </a:p>
        </p:txBody>
      </p:sp>
      <p:sp>
        <p:nvSpPr>
          <p:cNvPr id="13" name="Oval 12"/>
          <p:cNvSpPr/>
          <p:nvPr/>
        </p:nvSpPr>
        <p:spPr>
          <a:xfrm>
            <a:off x="6336792" y="1655064"/>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1</a:t>
            </a:r>
          </a:p>
        </p:txBody>
      </p:sp>
      <p:cxnSp>
        <p:nvCxnSpPr>
          <p:cNvPr id="14" name="Connector 13"/>
          <p:cNvCxnSpPr/>
          <p:nvPr/>
        </p:nvCxnSpPr>
        <p:spPr>
          <a:xfrm>
            <a:off x="6583680" y="2148840"/>
            <a:ext cx="0" cy="448056"/>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0" y="1600200"/>
            <a:ext cx="4572000" cy="32004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Run</a:t>
            </a:r>
          </a:p>
        </p:txBody>
      </p:sp>
      <p:sp>
        <p:nvSpPr>
          <p:cNvPr id="16" name="TextBox 15"/>
          <p:cNvSpPr txBox="1"/>
          <p:nvPr/>
        </p:nvSpPr>
        <p:spPr>
          <a:xfrm>
            <a:off x="7040880" y="1938528"/>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build/burs with the case's options and expression</a:t>
            </a:r>
          </a:p>
        </p:txBody>
      </p:sp>
      <p:sp>
        <p:nvSpPr>
          <p:cNvPr id="17" name="Oval 16"/>
          <p:cNvSpPr/>
          <p:nvPr/>
        </p:nvSpPr>
        <p:spPr>
          <a:xfrm>
            <a:off x="6336792" y="2596896"/>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2</a:t>
            </a:r>
          </a:p>
        </p:txBody>
      </p:sp>
      <p:cxnSp>
        <p:nvCxnSpPr>
          <p:cNvPr id="18" name="Connector 17"/>
          <p:cNvCxnSpPr/>
          <p:nvPr/>
        </p:nvCxnSpPr>
        <p:spPr>
          <a:xfrm>
            <a:off x="6583680" y="3090672"/>
            <a:ext cx="0" cy="448055"/>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0" y="2542032"/>
            <a:ext cx="4572000" cy="32004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Capture</a:t>
            </a:r>
          </a:p>
        </p:txBody>
      </p:sp>
      <p:sp>
        <p:nvSpPr>
          <p:cNvPr id="20" name="TextBox 19"/>
          <p:cNvSpPr txBox="1"/>
          <p:nvPr/>
        </p:nvSpPr>
        <p:spPr>
          <a:xfrm>
            <a:off x="7040880" y="2880360"/>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stdout + stderr + exit status into one file</a:t>
            </a:r>
          </a:p>
        </p:txBody>
      </p:sp>
      <p:sp>
        <p:nvSpPr>
          <p:cNvPr id="21" name="Oval 20"/>
          <p:cNvSpPr/>
          <p:nvPr/>
        </p:nvSpPr>
        <p:spPr>
          <a:xfrm>
            <a:off x="6336792" y="3538727"/>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3</a:t>
            </a:r>
          </a:p>
        </p:txBody>
      </p:sp>
      <p:cxnSp>
        <p:nvCxnSpPr>
          <p:cNvPr id="22" name="Connector 21"/>
          <p:cNvCxnSpPr/>
          <p:nvPr/>
        </p:nvCxnSpPr>
        <p:spPr>
          <a:xfrm>
            <a:off x="6583680" y="4032504"/>
            <a:ext cx="0" cy="448056"/>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040880" y="3483863"/>
            <a:ext cx="4572000" cy="32004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Compare</a:t>
            </a:r>
          </a:p>
        </p:txBody>
      </p:sp>
      <p:sp>
        <p:nvSpPr>
          <p:cNvPr id="24" name="TextBox 23"/>
          <p:cNvSpPr txBox="1"/>
          <p:nvPr/>
        </p:nvSpPr>
        <p:spPr>
          <a:xfrm>
            <a:off x="7040880" y="3822191"/>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cmp byte-for-byte with tests/expected/&lt;id&gt;.out</a:t>
            </a:r>
          </a:p>
        </p:txBody>
      </p:sp>
      <p:sp>
        <p:nvSpPr>
          <p:cNvPr id="25" name="Oval 24"/>
          <p:cNvSpPr/>
          <p:nvPr/>
        </p:nvSpPr>
        <p:spPr>
          <a:xfrm>
            <a:off x="6336792" y="4480560"/>
            <a:ext cx="493776" cy="493776"/>
          </a:xfrm>
          <a:prstGeom prst="ellipse">
            <a:avLst/>
          </a:prstGeom>
          <a:solidFill>
            <a:srgbClr val="0E76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4</a:t>
            </a:r>
          </a:p>
        </p:txBody>
      </p:sp>
      <p:cxnSp>
        <p:nvCxnSpPr>
          <p:cNvPr id="26" name="Connector 25"/>
          <p:cNvCxnSpPr/>
          <p:nvPr/>
        </p:nvCxnSpPr>
        <p:spPr>
          <a:xfrm>
            <a:off x="6583680" y="4974336"/>
            <a:ext cx="0" cy="448056"/>
          </a:xfrm>
          <a:prstGeom prst="line">
            <a:avLst/>
          </a:prstGeom>
          <a:ln w="25400">
            <a:solidFill>
              <a:srgbClr val="C9D2D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040880" y="4425696"/>
            <a:ext cx="4572000" cy="32004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Then</a:t>
            </a:r>
          </a:p>
        </p:txBody>
      </p:sp>
      <p:sp>
        <p:nvSpPr>
          <p:cNvPr id="28" name="TextBox 27"/>
          <p:cNvSpPr txBox="1"/>
          <p:nvPr/>
        </p:nvSpPr>
        <p:spPr>
          <a:xfrm>
            <a:off x="7040880" y="4764024"/>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--suite (10/10) and --exhaustive (0 failures)</a:t>
            </a:r>
          </a:p>
        </p:txBody>
      </p:sp>
      <p:sp>
        <p:nvSpPr>
          <p:cNvPr id="29" name="Oval 28"/>
          <p:cNvSpPr/>
          <p:nvPr/>
        </p:nvSpPr>
        <p:spPr>
          <a:xfrm>
            <a:off x="6336792" y="5422392"/>
            <a:ext cx="493776" cy="493776"/>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400" b="1" i="0">
                <a:solidFill>
                  <a:srgbClr val="FFFFFF"/>
                </a:solidFill>
                <a:latin typeface="Calibri"/>
              </a:rPr>
              <a:t>5</a:t>
            </a:r>
          </a:p>
        </p:txBody>
      </p:sp>
      <p:sp>
        <p:nvSpPr>
          <p:cNvPr id="30" name="TextBox 29"/>
          <p:cNvSpPr txBox="1"/>
          <p:nvPr/>
        </p:nvSpPr>
        <p:spPr>
          <a:xfrm>
            <a:off x="7040880" y="5367528"/>
            <a:ext cx="4572000" cy="320040"/>
          </a:xfrm>
          <a:prstGeom prst="rect">
            <a:avLst/>
          </a:prstGeom>
          <a:noFill/>
        </p:spPr>
        <p:txBody>
          <a:bodyPr wrap="square" lIns="0" rIns="0" tIns="0" bIns="0" anchor="t">
            <a:spAutoFit/>
          </a:bodyPr>
          <a:lstStyle/>
          <a:p>
            <a:pPr algn="l">
              <a:spcAft>
                <a:spcPts val="400"/>
              </a:spcAft>
            </a:pPr>
            <a:r>
              <a:rPr sz="1600" b="1" i="0">
                <a:solidFill>
                  <a:srgbClr val="16233A"/>
                </a:solidFill>
                <a:latin typeface="Calibri"/>
              </a:rPr>
              <a:t>Result</a:t>
            </a:r>
          </a:p>
        </p:txBody>
      </p:sp>
      <p:sp>
        <p:nvSpPr>
          <p:cNvPr id="31" name="TextBox 30"/>
          <p:cNvSpPr txBox="1"/>
          <p:nvPr/>
        </p:nvSpPr>
        <p:spPr>
          <a:xfrm>
            <a:off x="7040880" y="5705856"/>
            <a:ext cx="4572000" cy="365760"/>
          </a:xfrm>
          <a:prstGeom prst="rect">
            <a:avLst/>
          </a:prstGeom>
          <a:noFill/>
        </p:spPr>
        <p:txBody>
          <a:bodyPr wrap="square" lIns="0" rIns="0" tIns="0" bIns="0" anchor="t">
            <a:spAutoFit/>
          </a:bodyPr>
          <a:lstStyle/>
          <a:p>
            <a:pPr algn="l">
              <a:spcAft>
                <a:spcPts val="400"/>
              </a:spcAft>
            </a:pPr>
            <a:r>
              <a:rPr sz="1400" b="0" i="0">
                <a:solidFill>
                  <a:srgbClr val="1F2933"/>
                </a:solidFill>
                <a:latin typeface="Calibri"/>
              </a:rPr>
              <a:t>27 passed, 0 failed; non-zero exit on any failure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